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libri (MS)" charset="1" panose="020F0502020204030204"/>
      <p:regular r:id="rId19"/>
    </p:embeddedFont>
    <p:embeddedFont>
      <p:font typeface="Calibri (MS) Bold" charset="1" panose="020F0702030404030204"/>
      <p:regular r:id="rId20"/>
    </p:embeddedFont>
    <p:embeddedFont>
      <p:font typeface="Arial Bold" charset="1" panose="020B0704020202020204"/>
      <p:regular r:id="rId21"/>
    </p:embeddedFont>
    <p:embeddedFont>
      <p:font typeface="Calibri (MS) Italics" charset="1" panose="020F05020202040A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fonts/font25.fntdata" Type="http://schemas.openxmlformats.org/officeDocument/2006/relationships/font"/><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 Our project is Football Player Performance Analysis Using Machine Learning. We use football statistics as real data to practise three ML ideas: regression, classification and clustering.</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Football produces a huge amount of data, and comparing players by hand is hard. ML can find patterns in that data. Football is only our practice domain: the statistics are just numbers.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Three objectives. One: predict a performance score with regression. Two: classify players as High or Low. Three: find player groups with clustering. The main goal is learning ML concepts, not building a scouting product.</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start from public football data. Raw events are counted per player, which gives one row per player. Shots, passes, pass accuracy, tackles and interceptions are the features. Goals and assists are used to build the target, so we keep them out of the inputs to avoid leakage.</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our workflow. Data, cleaning, features, train-test split, models, evaluation, insights. The same steps apply to regression, classification and clustering. Scaling is applied only where an algorithm needs it.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regression we compare two models. Linear Regression fits a straight-line relationship and is easy to explain. Random Forest averages many trees and can capture non-linear patterns. We judge them with MAE, RMSE and R-squared on the test set. Which one wins is still to be evaluated.</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classification we turn the score into two classes: High is 1 and Low is 0. Logistic Regression gives a probability. A Decision Tree uses simple if-then rules. We compare them with the confusion matrix, precision, recall and F1. Results are to be evaluated.</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K-Means is unsupervised. It places K centroids, assigns each player to the nearest one, moves the centroids, and repeats. We pick K with the elbow method and silhouette score. The picture is illustrative. We interpret the clusters after the algorithm finds them.</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what the finished project will show for a player: a predicted score, a High or Low label, a cluster, and the features that mattered. The card is illustrative only. All numbers are to be evaluated after we train the models.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we use one football dataset to show regression, classification and clustering, compare simple algorithms with the right metrics, and understand the whole ML workflow. Future work could add XGBoost, SVM, PCA and larger datasets. Thank you.</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16088868" y="9710928"/>
            <a:ext cx="1371600" cy="342900"/>
            <a:chOff x="0" y="0"/>
            <a:chExt cx="1828800" cy="457200"/>
          </a:xfrm>
        </p:grpSpPr>
        <p:sp>
          <p:nvSpPr>
            <p:cNvPr name="Freeform 3" id="3"/>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4" id="4"/>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1</a:t>
              </a:r>
            </a:p>
          </p:txBody>
        </p:sp>
      </p:grpSp>
      <p:grpSp>
        <p:nvGrpSpPr>
          <p:cNvPr name="Group 5" id="5"/>
          <p:cNvGrpSpPr/>
          <p:nvPr/>
        </p:nvGrpSpPr>
        <p:grpSpPr>
          <a:xfrm rot="0">
            <a:off x="1097280" y="1645920"/>
            <a:ext cx="10149840" cy="411480"/>
            <a:chOff x="0" y="0"/>
            <a:chExt cx="13533120" cy="548640"/>
          </a:xfrm>
        </p:grpSpPr>
        <p:sp>
          <p:nvSpPr>
            <p:cNvPr name="Freeform 6" id="6"/>
            <p:cNvSpPr/>
            <p:nvPr/>
          </p:nvSpPr>
          <p:spPr>
            <a:xfrm flipH="false" flipV="false" rot="0">
              <a:off x="0" y="0"/>
              <a:ext cx="13533120" cy="548640"/>
            </a:xfrm>
            <a:custGeom>
              <a:avLst/>
              <a:gdLst/>
              <a:ahLst/>
              <a:cxnLst/>
              <a:rect r="r" b="b" t="t" l="l"/>
              <a:pathLst>
                <a:path h="548640" w="13533120">
                  <a:moveTo>
                    <a:pt x="0" y="0"/>
                  </a:moveTo>
                  <a:lnTo>
                    <a:pt x="13533120" y="0"/>
                  </a:lnTo>
                  <a:lnTo>
                    <a:pt x="13533120" y="548640"/>
                  </a:lnTo>
                  <a:lnTo>
                    <a:pt x="0" y="548640"/>
                  </a:lnTo>
                  <a:close/>
                </a:path>
              </a:pathLst>
            </a:custGeom>
            <a:blipFill>
              <a:blip r:embed="rId3">
                <a:alphaModFix amt="0"/>
              </a:blip>
              <a:stretch>
                <a:fillRect l="0" t="-430630" r="0" b="-430630"/>
              </a:stretch>
            </a:blipFill>
          </p:spPr>
        </p:sp>
        <p:sp>
          <p:nvSpPr>
            <p:cNvPr name="TextBox 7" id="7"/>
            <p:cNvSpPr txBox="true"/>
            <p:nvPr/>
          </p:nvSpPr>
          <p:spPr>
            <a:xfrm>
              <a:off x="0" y="-38100"/>
              <a:ext cx="13533120" cy="586740"/>
            </a:xfrm>
            <a:prstGeom prst="rect">
              <a:avLst/>
            </a:prstGeom>
          </p:spPr>
          <p:txBody>
            <a:bodyPr anchor="ctr" rtlCol="false" tIns="0" lIns="0" bIns="0" rIns="0"/>
            <a:lstStyle/>
            <a:p>
              <a:pPr algn="l">
                <a:lnSpc>
                  <a:spcPts val="2160"/>
                </a:lnSpc>
              </a:pPr>
              <a:r>
                <a:rPr lang="en-US" b="true" sz="1800" spc="450">
                  <a:solidFill>
                    <a:srgbClr val="22D3EE"/>
                  </a:solidFill>
                  <a:latin typeface="Calibri (MS) Bold"/>
                  <a:ea typeface="Calibri (MS) Bold"/>
                  <a:cs typeface="Calibri (MS) Bold"/>
                  <a:sym typeface="Calibri (MS) Bold"/>
                </a:rPr>
                <a:t>MACHINE LEARNING MINI PROJECT</a:t>
              </a:r>
            </a:p>
          </p:txBody>
        </p:sp>
      </p:grpSp>
      <p:grpSp>
        <p:nvGrpSpPr>
          <p:cNvPr name="Group 8" id="8"/>
          <p:cNvGrpSpPr/>
          <p:nvPr/>
        </p:nvGrpSpPr>
        <p:grpSpPr>
          <a:xfrm rot="0">
            <a:off x="11994356" y="1227296"/>
            <a:ext cx="5473256" cy="2414588"/>
            <a:chOff x="0" y="0"/>
            <a:chExt cx="7297674" cy="3219450"/>
          </a:xfrm>
        </p:grpSpPr>
        <p:sp>
          <p:nvSpPr>
            <p:cNvPr name="Freeform 9" id="9"/>
            <p:cNvSpPr/>
            <p:nvPr/>
          </p:nvSpPr>
          <p:spPr>
            <a:xfrm flipH="false" flipV="false" rot="0">
              <a:off x="0" y="0"/>
              <a:ext cx="7297675" cy="3219450"/>
            </a:xfrm>
            <a:custGeom>
              <a:avLst/>
              <a:gdLst/>
              <a:ahLst/>
              <a:cxnLst/>
              <a:rect r="r" b="b" t="t" l="l"/>
              <a:pathLst>
                <a:path h="3219450" w="7297675">
                  <a:moveTo>
                    <a:pt x="0" y="147193"/>
                  </a:moveTo>
                  <a:cubicBezTo>
                    <a:pt x="0" y="65913"/>
                    <a:pt x="65913" y="0"/>
                    <a:pt x="147193" y="0"/>
                  </a:cubicBezTo>
                  <a:lnTo>
                    <a:pt x="7150481" y="0"/>
                  </a:lnTo>
                  <a:cubicBezTo>
                    <a:pt x="7231762" y="0"/>
                    <a:pt x="7297675" y="65913"/>
                    <a:pt x="7297675" y="147193"/>
                  </a:cubicBezTo>
                  <a:lnTo>
                    <a:pt x="7297675" y="3072257"/>
                  </a:lnTo>
                  <a:cubicBezTo>
                    <a:pt x="7297675" y="3153537"/>
                    <a:pt x="7231762" y="3219450"/>
                    <a:pt x="7150481" y="3219450"/>
                  </a:cubicBezTo>
                  <a:lnTo>
                    <a:pt x="147193" y="3219450"/>
                  </a:lnTo>
                  <a:cubicBezTo>
                    <a:pt x="65913" y="3219450"/>
                    <a:pt x="0" y="3153537"/>
                    <a:pt x="0" y="3072257"/>
                  </a:cubicBezTo>
                  <a:close/>
                </a:path>
              </a:pathLst>
            </a:custGeom>
            <a:solidFill>
              <a:srgbClr val="161B22"/>
            </a:solidFill>
            <a:ln w="14288" cap="sq">
              <a:solidFill>
                <a:srgbClr val="2A323D"/>
              </a:solidFill>
              <a:prstDash val="solid"/>
              <a:miter/>
            </a:ln>
          </p:spPr>
        </p:sp>
      </p:grpSp>
      <p:grpSp>
        <p:nvGrpSpPr>
          <p:cNvPr name="Group 10" id="10"/>
          <p:cNvGrpSpPr/>
          <p:nvPr/>
        </p:nvGrpSpPr>
        <p:grpSpPr>
          <a:xfrm rot="0">
            <a:off x="12268676" y="1501616"/>
            <a:ext cx="2071688" cy="1865948"/>
            <a:chOff x="0" y="0"/>
            <a:chExt cx="2762250" cy="2487930"/>
          </a:xfrm>
        </p:grpSpPr>
        <p:sp>
          <p:nvSpPr>
            <p:cNvPr name="Freeform 11" id="11"/>
            <p:cNvSpPr/>
            <p:nvPr/>
          </p:nvSpPr>
          <p:spPr>
            <a:xfrm flipH="false" flipV="false" rot="0">
              <a:off x="0" y="0"/>
              <a:ext cx="2762250" cy="2487930"/>
            </a:xfrm>
            <a:custGeom>
              <a:avLst/>
              <a:gdLst/>
              <a:ahLst/>
              <a:cxnLst/>
              <a:rect r="r" b="b" t="t" l="l"/>
              <a:pathLst>
                <a:path h="2487930" w="2762250">
                  <a:moveTo>
                    <a:pt x="0" y="0"/>
                  </a:moveTo>
                  <a:lnTo>
                    <a:pt x="2762250" y="0"/>
                  </a:lnTo>
                  <a:lnTo>
                    <a:pt x="2762250" y="2487930"/>
                  </a:lnTo>
                  <a:lnTo>
                    <a:pt x="0" y="2487930"/>
                  </a:lnTo>
                  <a:close/>
                </a:path>
              </a:pathLst>
            </a:custGeom>
            <a:solidFill>
              <a:srgbClr val="0A0D12"/>
            </a:solidFill>
            <a:ln w="14288" cap="sq">
              <a:solidFill>
                <a:srgbClr val="2A323D"/>
              </a:solidFill>
              <a:prstDash val="solid"/>
              <a:miter/>
            </a:ln>
          </p:spPr>
        </p:sp>
      </p:grpSp>
      <p:grpSp>
        <p:nvGrpSpPr>
          <p:cNvPr name="Group 12" id="12"/>
          <p:cNvGrpSpPr/>
          <p:nvPr/>
        </p:nvGrpSpPr>
        <p:grpSpPr>
          <a:xfrm rot="0">
            <a:off x="12472035" y="2880303"/>
            <a:ext cx="156210" cy="156210"/>
            <a:chOff x="0" y="0"/>
            <a:chExt cx="208280" cy="208280"/>
          </a:xfrm>
        </p:grpSpPr>
        <p:sp>
          <p:nvSpPr>
            <p:cNvPr name="Freeform 13" id="1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4" id="14"/>
          <p:cNvGrpSpPr/>
          <p:nvPr/>
        </p:nvGrpSpPr>
        <p:grpSpPr>
          <a:xfrm rot="0">
            <a:off x="12560789" y="2975343"/>
            <a:ext cx="156210" cy="156210"/>
            <a:chOff x="0" y="0"/>
            <a:chExt cx="208280" cy="208280"/>
          </a:xfrm>
        </p:grpSpPr>
        <p:sp>
          <p:nvSpPr>
            <p:cNvPr name="Freeform 15" id="1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6" id="16"/>
          <p:cNvGrpSpPr/>
          <p:nvPr/>
        </p:nvGrpSpPr>
        <p:grpSpPr>
          <a:xfrm rot="0">
            <a:off x="12649533" y="2742028"/>
            <a:ext cx="156210" cy="156210"/>
            <a:chOff x="0" y="0"/>
            <a:chExt cx="208280" cy="208280"/>
          </a:xfrm>
        </p:grpSpPr>
        <p:sp>
          <p:nvSpPr>
            <p:cNvPr name="Freeform 17" id="1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8" id="18"/>
          <p:cNvGrpSpPr/>
          <p:nvPr/>
        </p:nvGrpSpPr>
        <p:grpSpPr>
          <a:xfrm rot="0">
            <a:off x="12738287" y="2797978"/>
            <a:ext cx="156210" cy="156210"/>
            <a:chOff x="0" y="0"/>
            <a:chExt cx="208280" cy="208280"/>
          </a:xfrm>
        </p:grpSpPr>
        <p:sp>
          <p:nvSpPr>
            <p:cNvPr name="Freeform 19" id="1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20" id="20"/>
          <p:cNvGrpSpPr/>
          <p:nvPr/>
        </p:nvGrpSpPr>
        <p:grpSpPr>
          <a:xfrm rot="0">
            <a:off x="12827041" y="2588114"/>
            <a:ext cx="156210" cy="156210"/>
            <a:chOff x="0" y="0"/>
            <a:chExt cx="208280" cy="208280"/>
          </a:xfrm>
        </p:grpSpPr>
        <p:sp>
          <p:nvSpPr>
            <p:cNvPr name="Freeform 21" id="2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22" id="22"/>
          <p:cNvGrpSpPr/>
          <p:nvPr/>
        </p:nvGrpSpPr>
        <p:grpSpPr>
          <a:xfrm rot="0">
            <a:off x="12915786" y="2714434"/>
            <a:ext cx="156210" cy="156210"/>
            <a:chOff x="0" y="0"/>
            <a:chExt cx="208280" cy="208280"/>
          </a:xfrm>
        </p:grpSpPr>
        <p:sp>
          <p:nvSpPr>
            <p:cNvPr name="Freeform 23" id="2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24" id="24"/>
          <p:cNvGrpSpPr/>
          <p:nvPr/>
        </p:nvGrpSpPr>
        <p:grpSpPr>
          <a:xfrm rot="0">
            <a:off x="13004540" y="2528021"/>
            <a:ext cx="156210" cy="156210"/>
            <a:chOff x="0" y="0"/>
            <a:chExt cx="208280" cy="208280"/>
          </a:xfrm>
        </p:grpSpPr>
        <p:sp>
          <p:nvSpPr>
            <p:cNvPr name="Freeform 25" id="2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26" id="26"/>
          <p:cNvGrpSpPr/>
          <p:nvPr/>
        </p:nvGrpSpPr>
        <p:grpSpPr>
          <a:xfrm rot="0">
            <a:off x="13093284" y="2623071"/>
            <a:ext cx="156210" cy="156210"/>
            <a:chOff x="0" y="0"/>
            <a:chExt cx="208280" cy="208280"/>
          </a:xfrm>
        </p:grpSpPr>
        <p:sp>
          <p:nvSpPr>
            <p:cNvPr name="Freeform 27" id="2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28" id="28"/>
          <p:cNvGrpSpPr/>
          <p:nvPr/>
        </p:nvGrpSpPr>
        <p:grpSpPr>
          <a:xfrm rot="0">
            <a:off x="13182038" y="2358476"/>
            <a:ext cx="156210" cy="156210"/>
            <a:chOff x="0" y="0"/>
            <a:chExt cx="208280" cy="208280"/>
          </a:xfrm>
        </p:grpSpPr>
        <p:sp>
          <p:nvSpPr>
            <p:cNvPr name="Freeform 29" id="2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30" id="30"/>
          <p:cNvGrpSpPr/>
          <p:nvPr/>
        </p:nvGrpSpPr>
        <p:grpSpPr>
          <a:xfrm rot="0">
            <a:off x="13270792" y="2437886"/>
            <a:ext cx="156210" cy="156210"/>
            <a:chOff x="0" y="0"/>
            <a:chExt cx="208280" cy="208280"/>
          </a:xfrm>
        </p:grpSpPr>
        <p:sp>
          <p:nvSpPr>
            <p:cNvPr name="Freeform 31" id="3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32" id="32"/>
          <p:cNvGrpSpPr/>
          <p:nvPr/>
        </p:nvGrpSpPr>
        <p:grpSpPr>
          <a:xfrm rot="0">
            <a:off x="13359546" y="2259292"/>
            <a:ext cx="156210" cy="156210"/>
            <a:chOff x="0" y="0"/>
            <a:chExt cx="208280" cy="208280"/>
          </a:xfrm>
        </p:grpSpPr>
        <p:sp>
          <p:nvSpPr>
            <p:cNvPr name="Freeform 33" id="3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34" id="34"/>
          <p:cNvGrpSpPr/>
          <p:nvPr/>
        </p:nvGrpSpPr>
        <p:grpSpPr>
          <a:xfrm rot="0">
            <a:off x="13448290" y="2354342"/>
            <a:ext cx="156210" cy="156210"/>
            <a:chOff x="0" y="0"/>
            <a:chExt cx="208280" cy="208280"/>
          </a:xfrm>
        </p:grpSpPr>
        <p:sp>
          <p:nvSpPr>
            <p:cNvPr name="Freeform 35" id="3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36" id="36"/>
          <p:cNvGrpSpPr/>
          <p:nvPr/>
        </p:nvGrpSpPr>
        <p:grpSpPr>
          <a:xfrm rot="0">
            <a:off x="13537044" y="2152298"/>
            <a:ext cx="156210" cy="156210"/>
            <a:chOff x="0" y="0"/>
            <a:chExt cx="208280" cy="208280"/>
          </a:xfrm>
        </p:grpSpPr>
        <p:sp>
          <p:nvSpPr>
            <p:cNvPr name="Freeform 37" id="3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38" id="38"/>
          <p:cNvGrpSpPr/>
          <p:nvPr/>
        </p:nvGrpSpPr>
        <p:grpSpPr>
          <a:xfrm rot="0">
            <a:off x="13625789" y="2208247"/>
            <a:ext cx="156210" cy="156210"/>
            <a:chOff x="0" y="0"/>
            <a:chExt cx="208280" cy="208280"/>
          </a:xfrm>
        </p:grpSpPr>
        <p:sp>
          <p:nvSpPr>
            <p:cNvPr name="Freeform 39" id="3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0" id="40"/>
          <p:cNvGrpSpPr/>
          <p:nvPr/>
        </p:nvGrpSpPr>
        <p:grpSpPr>
          <a:xfrm rot="0">
            <a:off x="13714543" y="1982753"/>
            <a:ext cx="156210" cy="156210"/>
            <a:chOff x="0" y="0"/>
            <a:chExt cx="208280" cy="208280"/>
          </a:xfrm>
        </p:grpSpPr>
        <p:sp>
          <p:nvSpPr>
            <p:cNvPr name="Freeform 41" id="4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2" id="42"/>
          <p:cNvGrpSpPr/>
          <p:nvPr/>
        </p:nvGrpSpPr>
        <p:grpSpPr>
          <a:xfrm rot="0">
            <a:off x="13803297" y="2101244"/>
            <a:ext cx="156210" cy="156210"/>
            <a:chOff x="0" y="0"/>
            <a:chExt cx="208280" cy="208280"/>
          </a:xfrm>
        </p:grpSpPr>
        <p:sp>
          <p:nvSpPr>
            <p:cNvPr name="Freeform 43" id="4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4" id="44"/>
          <p:cNvGrpSpPr/>
          <p:nvPr/>
        </p:nvGrpSpPr>
        <p:grpSpPr>
          <a:xfrm rot="0">
            <a:off x="13892041" y="1922659"/>
            <a:ext cx="156210" cy="156210"/>
            <a:chOff x="0" y="0"/>
            <a:chExt cx="208280" cy="208280"/>
          </a:xfrm>
        </p:grpSpPr>
        <p:sp>
          <p:nvSpPr>
            <p:cNvPr name="Freeform 45" id="4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6" id="46"/>
          <p:cNvGrpSpPr/>
          <p:nvPr/>
        </p:nvGrpSpPr>
        <p:grpSpPr>
          <a:xfrm rot="0">
            <a:off x="13980795" y="1955159"/>
            <a:ext cx="156210" cy="156210"/>
            <a:chOff x="0" y="0"/>
            <a:chExt cx="208280" cy="208280"/>
          </a:xfrm>
        </p:grpSpPr>
        <p:sp>
          <p:nvSpPr>
            <p:cNvPr name="Freeform 47" id="4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sp>
        <p:nvSpPr>
          <p:cNvPr name="AutoShape 48" id="48"/>
          <p:cNvSpPr/>
          <p:nvPr/>
        </p:nvSpPr>
        <p:spPr>
          <a:xfrm rot="-2080980">
            <a:off x="12358173" y="2465908"/>
            <a:ext cx="1892694" cy="0"/>
          </a:xfrm>
          <a:prstGeom prst="line">
            <a:avLst/>
          </a:prstGeom>
          <a:ln cap="rnd" w="28575">
            <a:solidFill>
              <a:srgbClr val="22D3EE"/>
            </a:solidFill>
            <a:prstDash val="solid"/>
            <a:headEnd type="none" len="sm" w="sm"/>
            <a:tailEnd type="none" len="sm" w="sm"/>
          </a:ln>
        </p:spPr>
      </p:sp>
      <p:grpSp>
        <p:nvGrpSpPr>
          <p:cNvPr name="Group 49" id="49"/>
          <p:cNvGrpSpPr/>
          <p:nvPr/>
        </p:nvGrpSpPr>
        <p:grpSpPr>
          <a:xfrm rot="0">
            <a:off x="14607540" y="1851660"/>
            <a:ext cx="2674620" cy="548640"/>
            <a:chOff x="0" y="0"/>
            <a:chExt cx="3566160" cy="731520"/>
          </a:xfrm>
        </p:grpSpPr>
        <p:sp>
          <p:nvSpPr>
            <p:cNvPr name="Freeform 50" id="50"/>
            <p:cNvSpPr/>
            <p:nvPr/>
          </p:nvSpPr>
          <p:spPr>
            <a:xfrm flipH="false" flipV="false" rot="0">
              <a:off x="0" y="0"/>
              <a:ext cx="3566160" cy="731520"/>
            </a:xfrm>
            <a:custGeom>
              <a:avLst/>
              <a:gdLst/>
              <a:ahLst/>
              <a:cxnLst/>
              <a:rect r="r" b="b" t="t" l="l"/>
              <a:pathLst>
                <a:path h="731520" w="3566160">
                  <a:moveTo>
                    <a:pt x="0" y="0"/>
                  </a:moveTo>
                  <a:lnTo>
                    <a:pt x="3566160" y="0"/>
                  </a:lnTo>
                  <a:lnTo>
                    <a:pt x="3566160" y="731520"/>
                  </a:lnTo>
                  <a:lnTo>
                    <a:pt x="0" y="731520"/>
                  </a:lnTo>
                  <a:close/>
                </a:path>
              </a:pathLst>
            </a:custGeom>
            <a:blipFill>
              <a:blip r:embed="rId3">
                <a:alphaModFix amt="0"/>
              </a:blip>
              <a:stretch>
                <a:fillRect l="0" t="-44989" r="0" b="-44989"/>
              </a:stretch>
            </a:blipFill>
          </p:spPr>
        </p:sp>
        <p:sp>
          <p:nvSpPr>
            <p:cNvPr name="TextBox 51" id="51"/>
            <p:cNvSpPr txBox="true"/>
            <p:nvPr/>
          </p:nvSpPr>
          <p:spPr>
            <a:xfrm>
              <a:off x="0" y="-47625"/>
              <a:ext cx="3566160" cy="779145"/>
            </a:xfrm>
            <a:prstGeom prst="rect">
              <a:avLst/>
            </a:prstGeom>
          </p:spPr>
          <p:txBody>
            <a:bodyPr anchor="ctr" rtlCol="false" tIns="0" lIns="0" bIns="0" rIns="0"/>
            <a:lstStyle/>
            <a:p>
              <a:pPr algn="l">
                <a:lnSpc>
                  <a:spcPts val="3060"/>
                </a:lnSpc>
              </a:pPr>
              <a:r>
                <a:rPr lang="en-US" sz="2550" b="true">
                  <a:solidFill>
                    <a:srgbClr val="E8ECF1"/>
                  </a:solidFill>
                  <a:latin typeface="Calibri (MS) Bold"/>
                  <a:ea typeface="Calibri (MS) Bold"/>
                  <a:cs typeface="Calibri (MS) Bold"/>
                  <a:sym typeface="Calibri (MS) Bold"/>
                </a:rPr>
                <a:t>Regression</a:t>
              </a:r>
            </a:p>
          </p:txBody>
        </p:sp>
      </p:grpSp>
      <p:grpSp>
        <p:nvGrpSpPr>
          <p:cNvPr name="Group 52" id="52"/>
          <p:cNvGrpSpPr/>
          <p:nvPr/>
        </p:nvGrpSpPr>
        <p:grpSpPr>
          <a:xfrm rot="0">
            <a:off x="11994356" y="3901916"/>
            <a:ext cx="5473256" cy="2414588"/>
            <a:chOff x="0" y="0"/>
            <a:chExt cx="7297674" cy="3219450"/>
          </a:xfrm>
        </p:grpSpPr>
        <p:sp>
          <p:nvSpPr>
            <p:cNvPr name="Freeform 53" id="53"/>
            <p:cNvSpPr/>
            <p:nvPr/>
          </p:nvSpPr>
          <p:spPr>
            <a:xfrm flipH="false" flipV="false" rot="0">
              <a:off x="0" y="0"/>
              <a:ext cx="7297675" cy="3219450"/>
            </a:xfrm>
            <a:custGeom>
              <a:avLst/>
              <a:gdLst/>
              <a:ahLst/>
              <a:cxnLst/>
              <a:rect r="r" b="b" t="t" l="l"/>
              <a:pathLst>
                <a:path h="3219450" w="7297675">
                  <a:moveTo>
                    <a:pt x="0" y="147193"/>
                  </a:moveTo>
                  <a:cubicBezTo>
                    <a:pt x="0" y="65913"/>
                    <a:pt x="65913" y="0"/>
                    <a:pt x="147193" y="0"/>
                  </a:cubicBezTo>
                  <a:lnTo>
                    <a:pt x="7150481" y="0"/>
                  </a:lnTo>
                  <a:cubicBezTo>
                    <a:pt x="7231762" y="0"/>
                    <a:pt x="7297675" y="65913"/>
                    <a:pt x="7297675" y="147193"/>
                  </a:cubicBezTo>
                  <a:lnTo>
                    <a:pt x="7297675" y="3072257"/>
                  </a:lnTo>
                  <a:cubicBezTo>
                    <a:pt x="7297675" y="3153537"/>
                    <a:pt x="7231762" y="3219450"/>
                    <a:pt x="7150481" y="3219450"/>
                  </a:cubicBezTo>
                  <a:lnTo>
                    <a:pt x="147193" y="3219450"/>
                  </a:lnTo>
                  <a:cubicBezTo>
                    <a:pt x="65913" y="3219450"/>
                    <a:pt x="0" y="3153537"/>
                    <a:pt x="0" y="3072257"/>
                  </a:cubicBezTo>
                  <a:close/>
                </a:path>
              </a:pathLst>
            </a:custGeom>
            <a:solidFill>
              <a:srgbClr val="161B22"/>
            </a:solidFill>
            <a:ln w="14288" cap="sq">
              <a:solidFill>
                <a:srgbClr val="2A323D"/>
              </a:solidFill>
              <a:prstDash val="solid"/>
              <a:miter/>
            </a:ln>
          </p:spPr>
        </p:sp>
      </p:grpSp>
      <p:grpSp>
        <p:nvGrpSpPr>
          <p:cNvPr name="Group 54" id="54"/>
          <p:cNvGrpSpPr/>
          <p:nvPr/>
        </p:nvGrpSpPr>
        <p:grpSpPr>
          <a:xfrm rot="0">
            <a:off x="12268676" y="4176236"/>
            <a:ext cx="2071688" cy="1865948"/>
            <a:chOff x="0" y="0"/>
            <a:chExt cx="2762250" cy="2487930"/>
          </a:xfrm>
        </p:grpSpPr>
        <p:sp>
          <p:nvSpPr>
            <p:cNvPr name="Freeform 55" id="55"/>
            <p:cNvSpPr/>
            <p:nvPr/>
          </p:nvSpPr>
          <p:spPr>
            <a:xfrm flipH="false" flipV="false" rot="0">
              <a:off x="0" y="0"/>
              <a:ext cx="2762250" cy="2487930"/>
            </a:xfrm>
            <a:custGeom>
              <a:avLst/>
              <a:gdLst/>
              <a:ahLst/>
              <a:cxnLst/>
              <a:rect r="r" b="b" t="t" l="l"/>
              <a:pathLst>
                <a:path h="2487930" w="2762250">
                  <a:moveTo>
                    <a:pt x="0" y="0"/>
                  </a:moveTo>
                  <a:lnTo>
                    <a:pt x="2762250" y="0"/>
                  </a:lnTo>
                  <a:lnTo>
                    <a:pt x="2762250" y="2487930"/>
                  </a:lnTo>
                  <a:lnTo>
                    <a:pt x="0" y="2487930"/>
                  </a:lnTo>
                  <a:close/>
                </a:path>
              </a:pathLst>
            </a:custGeom>
            <a:solidFill>
              <a:srgbClr val="0A0D12"/>
            </a:solidFill>
            <a:ln w="14288" cap="sq">
              <a:solidFill>
                <a:srgbClr val="2A323D"/>
              </a:solidFill>
              <a:prstDash val="solid"/>
              <a:miter/>
            </a:ln>
          </p:spPr>
        </p:sp>
      </p:grpSp>
      <p:grpSp>
        <p:nvGrpSpPr>
          <p:cNvPr name="Group 56" id="56"/>
          <p:cNvGrpSpPr/>
          <p:nvPr/>
        </p:nvGrpSpPr>
        <p:grpSpPr>
          <a:xfrm rot="0">
            <a:off x="12808077" y="4653915"/>
            <a:ext cx="169926" cy="169926"/>
            <a:chOff x="0" y="0"/>
            <a:chExt cx="226568" cy="226568"/>
          </a:xfrm>
        </p:grpSpPr>
        <p:sp>
          <p:nvSpPr>
            <p:cNvPr name="Freeform 57" id="57"/>
            <p:cNvSpPr/>
            <p:nvPr/>
          </p:nvSpPr>
          <p:spPr>
            <a:xfrm flipH="false" flipV="false" rot="0">
              <a:off x="0" y="0"/>
              <a:ext cx="226568" cy="226568"/>
            </a:xfrm>
            <a:custGeom>
              <a:avLst/>
              <a:gdLst/>
              <a:ahLst/>
              <a:cxnLst/>
              <a:rect r="r" b="b" t="t" l="l"/>
              <a:pathLst>
                <a:path h="226568" w="226568">
                  <a:moveTo>
                    <a:pt x="0" y="113284"/>
                  </a:moveTo>
                  <a:cubicBezTo>
                    <a:pt x="0" y="50673"/>
                    <a:pt x="50673" y="0"/>
                    <a:pt x="113284" y="0"/>
                  </a:cubicBezTo>
                  <a:cubicBezTo>
                    <a:pt x="175895" y="0"/>
                    <a:pt x="226568" y="50673"/>
                    <a:pt x="226568" y="113284"/>
                  </a:cubicBezTo>
                  <a:cubicBezTo>
                    <a:pt x="226568" y="175895"/>
                    <a:pt x="175895" y="226568"/>
                    <a:pt x="113284" y="226568"/>
                  </a:cubicBezTo>
                  <a:cubicBezTo>
                    <a:pt x="50673" y="226568"/>
                    <a:pt x="0" y="175895"/>
                    <a:pt x="0" y="113284"/>
                  </a:cubicBezTo>
                  <a:close/>
                </a:path>
              </a:pathLst>
            </a:custGeom>
            <a:solidFill>
              <a:srgbClr val="9AA4B2"/>
            </a:solidFill>
            <a:ln w="19050" cap="sq">
              <a:solidFill>
                <a:srgbClr val="9AA4B2"/>
              </a:solidFill>
              <a:prstDash val="solid"/>
              <a:miter/>
            </a:ln>
          </p:spPr>
        </p:sp>
      </p:grpSp>
      <p:grpSp>
        <p:nvGrpSpPr>
          <p:cNvPr name="Group 58" id="58"/>
          <p:cNvGrpSpPr/>
          <p:nvPr/>
        </p:nvGrpSpPr>
        <p:grpSpPr>
          <a:xfrm rot="0">
            <a:off x="13116687" y="5209413"/>
            <a:ext cx="169926" cy="169926"/>
            <a:chOff x="0" y="0"/>
            <a:chExt cx="226568" cy="226568"/>
          </a:xfrm>
        </p:grpSpPr>
        <p:sp>
          <p:nvSpPr>
            <p:cNvPr name="Freeform 59" id="59"/>
            <p:cNvSpPr/>
            <p:nvPr/>
          </p:nvSpPr>
          <p:spPr>
            <a:xfrm flipH="false" flipV="false" rot="0">
              <a:off x="0" y="0"/>
              <a:ext cx="226568" cy="226568"/>
            </a:xfrm>
            <a:custGeom>
              <a:avLst/>
              <a:gdLst/>
              <a:ahLst/>
              <a:cxnLst/>
              <a:rect r="r" b="b" t="t" l="l"/>
              <a:pathLst>
                <a:path h="226568" w="226568">
                  <a:moveTo>
                    <a:pt x="0" y="113284"/>
                  </a:moveTo>
                  <a:cubicBezTo>
                    <a:pt x="0" y="50673"/>
                    <a:pt x="50673" y="0"/>
                    <a:pt x="113284" y="0"/>
                  </a:cubicBezTo>
                  <a:cubicBezTo>
                    <a:pt x="175895" y="0"/>
                    <a:pt x="226568" y="50673"/>
                    <a:pt x="226568" y="113284"/>
                  </a:cubicBezTo>
                  <a:cubicBezTo>
                    <a:pt x="226568" y="175895"/>
                    <a:pt x="175895" y="226568"/>
                    <a:pt x="113284" y="226568"/>
                  </a:cubicBezTo>
                  <a:cubicBezTo>
                    <a:pt x="50673" y="226568"/>
                    <a:pt x="0" y="175895"/>
                    <a:pt x="0" y="113284"/>
                  </a:cubicBezTo>
                  <a:close/>
                </a:path>
              </a:pathLst>
            </a:custGeom>
            <a:solidFill>
              <a:srgbClr val="9AA4B2"/>
            </a:solidFill>
            <a:ln w="19050" cap="sq">
              <a:solidFill>
                <a:srgbClr val="9AA4B2"/>
              </a:solidFill>
              <a:prstDash val="solid"/>
              <a:miter/>
            </a:ln>
          </p:spPr>
        </p:sp>
      </p:grpSp>
      <p:grpSp>
        <p:nvGrpSpPr>
          <p:cNvPr name="Group 60" id="60"/>
          <p:cNvGrpSpPr/>
          <p:nvPr/>
        </p:nvGrpSpPr>
        <p:grpSpPr>
          <a:xfrm rot="0">
            <a:off x="12705207" y="5579745"/>
            <a:ext cx="169926" cy="169926"/>
            <a:chOff x="0" y="0"/>
            <a:chExt cx="226568" cy="226568"/>
          </a:xfrm>
        </p:grpSpPr>
        <p:sp>
          <p:nvSpPr>
            <p:cNvPr name="Freeform 61" id="61"/>
            <p:cNvSpPr/>
            <p:nvPr/>
          </p:nvSpPr>
          <p:spPr>
            <a:xfrm flipH="false" flipV="false" rot="0">
              <a:off x="0" y="0"/>
              <a:ext cx="226568" cy="226568"/>
            </a:xfrm>
            <a:custGeom>
              <a:avLst/>
              <a:gdLst/>
              <a:ahLst/>
              <a:cxnLst/>
              <a:rect r="r" b="b" t="t" l="l"/>
              <a:pathLst>
                <a:path h="226568" w="226568">
                  <a:moveTo>
                    <a:pt x="0" y="113284"/>
                  </a:moveTo>
                  <a:cubicBezTo>
                    <a:pt x="0" y="50673"/>
                    <a:pt x="50673" y="0"/>
                    <a:pt x="113284" y="0"/>
                  </a:cubicBezTo>
                  <a:cubicBezTo>
                    <a:pt x="175895" y="0"/>
                    <a:pt x="226568" y="50673"/>
                    <a:pt x="226568" y="113284"/>
                  </a:cubicBezTo>
                  <a:cubicBezTo>
                    <a:pt x="226568" y="175895"/>
                    <a:pt x="175895" y="226568"/>
                    <a:pt x="113284" y="226568"/>
                  </a:cubicBezTo>
                  <a:cubicBezTo>
                    <a:pt x="50673" y="226568"/>
                    <a:pt x="0" y="175895"/>
                    <a:pt x="0" y="113284"/>
                  </a:cubicBezTo>
                  <a:close/>
                </a:path>
              </a:pathLst>
            </a:custGeom>
            <a:solidFill>
              <a:srgbClr val="9AA4B2"/>
            </a:solidFill>
            <a:ln w="19050" cap="sq">
              <a:solidFill>
                <a:srgbClr val="9AA4B2"/>
              </a:solidFill>
              <a:prstDash val="solid"/>
              <a:miter/>
            </a:ln>
          </p:spPr>
        </p:sp>
      </p:grpSp>
      <p:grpSp>
        <p:nvGrpSpPr>
          <p:cNvPr name="Group 62" id="62"/>
          <p:cNvGrpSpPr/>
          <p:nvPr/>
        </p:nvGrpSpPr>
        <p:grpSpPr>
          <a:xfrm rot="0">
            <a:off x="13219557" y="4561332"/>
            <a:ext cx="169926" cy="169926"/>
            <a:chOff x="0" y="0"/>
            <a:chExt cx="226568" cy="226568"/>
          </a:xfrm>
        </p:grpSpPr>
        <p:sp>
          <p:nvSpPr>
            <p:cNvPr name="Freeform 63" id="63"/>
            <p:cNvSpPr/>
            <p:nvPr/>
          </p:nvSpPr>
          <p:spPr>
            <a:xfrm flipH="false" flipV="false" rot="0">
              <a:off x="0" y="0"/>
              <a:ext cx="226568" cy="226568"/>
            </a:xfrm>
            <a:custGeom>
              <a:avLst/>
              <a:gdLst/>
              <a:ahLst/>
              <a:cxnLst/>
              <a:rect r="r" b="b" t="t" l="l"/>
              <a:pathLst>
                <a:path h="226568" w="226568">
                  <a:moveTo>
                    <a:pt x="0" y="113284"/>
                  </a:moveTo>
                  <a:cubicBezTo>
                    <a:pt x="0" y="50673"/>
                    <a:pt x="50673" y="0"/>
                    <a:pt x="113284" y="0"/>
                  </a:cubicBezTo>
                  <a:cubicBezTo>
                    <a:pt x="175895" y="0"/>
                    <a:pt x="226568" y="50673"/>
                    <a:pt x="226568" y="113284"/>
                  </a:cubicBezTo>
                  <a:cubicBezTo>
                    <a:pt x="226568" y="175895"/>
                    <a:pt x="175895" y="226568"/>
                    <a:pt x="113284" y="226568"/>
                  </a:cubicBezTo>
                  <a:cubicBezTo>
                    <a:pt x="50673" y="226568"/>
                    <a:pt x="0" y="175895"/>
                    <a:pt x="0" y="113284"/>
                  </a:cubicBezTo>
                  <a:close/>
                </a:path>
              </a:pathLst>
            </a:custGeom>
            <a:solidFill>
              <a:srgbClr val="9AA4B2"/>
            </a:solidFill>
            <a:ln w="19050" cap="sq">
              <a:solidFill>
                <a:srgbClr val="9AA4B2"/>
              </a:solidFill>
              <a:prstDash val="solid"/>
              <a:miter/>
            </a:ln>
          </p:spPr>
        </p:sp>
      </p:grpSp>
      <p:grpSp>
        <p:nvGrpSpPr>
          <p:cNvPr name="Group 64" id="64"/>
          <p:cNvGrpSpPr/>
          <p:nvPr/>
        </p:nvGrpSpPr>
        <p:grpSpPr>
          <a:xfrm rot="0">
            <a:off x="13795629" y="4653915"/>
            <a:ext cx="169926" cy="169926"/>
            <a:chOff x="0" y="0"/>
            <a:chExt cx="226568" cy="226568"/>
          </a:xfrm>
        </p:grpSpPr>
        <p:sp>
          <p:nvSpPr>
            <p:cNvPr name="Freeform 65" id="65"/>
            <p:cNvSpPr/>
            <p:nvPr/>
          </p:nvSpPr>
          <p:spPr>
            <a:xfrm flipH="false" flipV="false" rot="0">
              <a:off x="0" y="0"/>
              <a:ext cx="226568" cy="226568"/>
            </a:xfrm>
            <a:custGeom>
              <a:avLst/>
              <a:gdLst/>
              <a:ahLst/>
              <a:cxnLst/>
              <a:rect r="r" b="b" t="t" l="l"/>
              <a:pathLst>
                <a:path h="226568" w="226568">
                  <a:moveTo>
                    <a:pt x="0" y="113284"/>
                  </a:moveTo>
                  <a:cubicBezTo>
                    <a:pt x="0" y="50673"/>
                    <a:pt x="50673" y="0"/>
                    <a:pt x="113284" y="0"/>
                  </a:cubicBezTo>
                  <a:cubicBezTo>
                    <a:pt x="175895" y="0"/>
                    <a:pt x="226568" y="50673"/>
                    <a:pt x="226568" y="113284"/>
                  </a:cubicBezTo>
                  <a:cubicBezTo>
                    <a:pt x="226568" y="175895"/>
                    <a:pt x="175895" y="226568"/>
                    <a:pt x="113284" y="226568"/>
                  </a:cubicBezTo>
                  <a:cubicBezTo>
                    <a:pt x="50673" y="226568"/>
                    <a:pt x="0" y="175895"/>
                    <a:pt x="0" y="113284"/>
                  </a:cubicBezTo>
                  <a:close/>
                </a:path>
              </a:pathLst>
            </a:custGeom>
            <a:solidFill>
              <a:srgbClr val="4ADE80"/>
            </a:solidFill>
            <a:ln w="19050" cap="sq">
              <a:solidFill>
                <a:srgbClr val="4ADE80"/>
              </a:solidFill>
              <a:prstDash val="solid"/>
              <a:miter/>
            </a:ln>
          </p:spPr>
        </p:sp>
      </p:grpSp>
      <p:grpSp>
        <p:nvGrpSpPr>
          <p:cNvPr name="Group 66" id="66"/>
          <p:cNvGrpSpPr/>
          <p:nvPr/>
        </p:nvGrpSpPr>
        <p:grpSpPr>
          <a:xfrm rot="0">
            <a:off x="14042517" y="5246446"/>
            <a:ext cx="169926" cy="169926"/>
            <a:chOff x="0" y="0"/>
            <a:chExt cx="226568" cy="226568"/>
          </a:xfrm>
        </p:grpSpPr>
        <p:sp>
          <p:nvSpPr>
            <p:cNvPr name="Freeform 67" id="67"/>
            <p:cNvSpPr/>
            <p:nvPr/>
          </p:nvSpPr>
          <p:spPr>
            <a:xfrm flipH="false" flipV="false" rot="0">
              <a:off x="0" y="0"/>
              <a:ext cx="226568" cy="226568"/>
            </a:xfrm>
            <a:custGeom>
              <a:avLst/>
              <a:gdLst/>
              <a:ahLst/>
              <a:cxnLst/>
              <a:rect r="r" b="b" t="t" l="l"/>
              <a:pathLst>
                <a:path h="226568" w="226568">
                  <a:moveTo>
                    <a:pt x="0" y="113284"/>
                  </a:moveTo>
                  <a:cubicBezTo>
                    <a:pt x="0" y="50673"/>
                    <a:pt x="50673" y="0"/>
                    <a:pt x="113284" y="0"/>
                  </a:cubicBezTo>
                  <a:cubicBezTo>
                    <a:pt x="175895" y="0"/>
                    <a:pt x="226568" y="50673"/>
                    <a:pt x="226568" y="113284"/>
                  </a:cubicBezTo>
                  <a:cubicBezTo>
                    <a:pt x="226568" y="175895"/>
                    <a:pt x="175895" y="226568"/>
                    <a:pt x="113284" y="226568"/>
                  </a:cubicBezTo>
                  <a:cubicBezTo>
                    <a:pt x="50673" y="226568"/>
                    <a:pt x="0" y="175895"/>
                    <a:pt x="0" y="113284"/>
                  </a:cubicBezTo>
                  <a:close/>
                </a:path>
              </a:pathLst>
            </a:custGeom>
            <a:solidFill>
              <a:srgbClr val="4ADE80"/>
            </a:solidFill>
            <a:ln w="19050" cap="sq">
              <a:solidFill>
                <a:srgbClr val="4ADE80"/>
              </a:solidFill>
              <a:prstDash val="solid"/>
              <a:miter/>
            </a:ln>
          </p:spPr>
        </p:sp>
      </p:grpSp>
      <p:grpSp>
        <p:nvGrpSpPr>
          <p:cNvPr name="Group 68" id="68"/>
          <p:cNvGrpSpPr/>
          <p:nvPr/>
        </p:nvGrpSpPr>
        <p:grpSpPr>
          <a:xfrm rot="0">
            <a:off x="13631037" y="5579745"/>
            <a:ext cx="169926" cy="169926"/>
            <a:chOff x="0" y="0"/>
            <a:chExt cx="226568" cy="226568"/>
          </a:xfrm>
        </p:grpSpPr>
        <p:sp>
          <p:nvSpPr>
            <p:cNvPr name="Freeform 69" id="69"/>
            <p:cNvSpPr/>
            <p:nvPr/>
          </p:nvSpPr>
          <p:spPr>
            <a:xfrm flipH="false" flipV="false" rot="0">
              <a:off x="0" y="0"/>
              <a:ext cx="226568" cy="226568"/>
            </a:xfrm>
            <a:custGeom>
              <a:avLst/>
              <a:gdLst/>
              <a:ahLst/>
              <a:cxnLst/>
              <a:rect r="r" b="b" t="t" l="l"/>
              <a:pathLst>
                <a:path h="226568" w="226568">
                  <a:moveTo>
                    <a:pt x="0" y="113284"/>
                  </a:moveTo>
                  <a:cubicBezTo>
                    <a:pt x="0" y="50673"/>
                    <a:pt x="50673" y="0"/>
                    <a:pt x="113284" y="0"/>
                  </a:cubicBezTo>
                  <a:cubicBezTo>
                    <a:pt x="175895" y="0"/>
                    <a:pt x="226568" y="50673"/>
                    <a:pt x="226568" y="113284"/>
                  </a:cubicBezTo>
                  <a:cubicBezTo>
                    <a:pt x="226568" y="175895"/>
                    <a:pt x="175895" y="226568"/>
                    <a:pt x="113284" y="226568"/>
                  </a:cubicBezTo>
                  <a:cubicBezTo>
                    <a:pt x="50673" y="226568"/>
                    <a:pt x="0" y="175895"/>
                    <a:pt x="0" y="113284"/>
                  </a:cubicBezTo>
                  <a:close/>
                </a:path>
              </a:pathLst>
            </a:custGeom>
            <a:solidFill>
              <a:srgbClr val="4ADE80"/>
            </a:solidFill>
            <a:ln w="19050" cap="sq">
              <a:solidFill>
                <a:srgbClr val="4ADE80"/>
              </a:solidFill>
              <a:prstDash val="solid"/>
              <a:miter/>
            </a:ln>
          </p:spPr>
        </p:sp>
      </p:grpSp>
      <p:grpSp>
        <p:nvGrpSpPr>
          <p:cNvPr name="Group 70" id="70"/>
          <p:cNvGrpSpPr/>
          <p:nvPr/>
        </p:nvGrpSpPr>
        <p:grpSpPr>
          <a:xfrm rot="0">
            <a:off x="13939647" y="4505782"/>
            <a:ext cx="169926" cy="169926"/>
            <a:chOff x="0" y="0"/>
            <a:chExt cx="226568" cy="226568"/>
          </a:xfrm>
        </p:grpSpPr>
        <p:sp>
          <p:nvSpPr>
            <p:cNvPr name="Freeform 71" id="71"/>
            <p:cNvSpPr/>
            <p:nvPr/>
          </p:nvSpPr>
          <p:spPr>
            <a:xfrm flipH="false" flipV="false" rot="0">
              <a:off x="0" y="0"/>
              <a:ext cx="226568" cy="226568"/>
            </a:xfrm>
            <a:custGeom>
              <a:avLst/>
              <a:gdLst/>
              <a:ahLst/>
              <a:cxnLst/>
              <a:rect r="r" b="b" t="t" l="l"/>
              <a:pathLst>
                <a:path h="226568" w="226568">
                  <a:moveTo>
                    <a:pt x="0" y="113284"/>
                  </a:moveTo>
                  <a:cubicBezTo>
                    <a:pt x="0" y="50673"/>
                    <a:pt x="50673" y="0"/>
                    <a:pt x="113284" y="0"/>
                  </a:cubicBezTo>
                  <a:cubicBezTo>
                    <a:pt x="175895" y="0"/>
                    <a:pt x="226568" y="50673"/>
                    <a:pt x="226568" y="113284"/>
                  </a:cubicBezTo>
                  <a:cubicBezTo>
                    <a:pt x="226568" y="175895"/>
                    <a:pt x="175895" y="226568"/>
                    <a:pt x="113284" y="226568"/>
                  </a:cubicBezTo>
                  <a:cubicBezTo>
                    <a:pt x="50673" y="226568"/>
                    <a:pt x="0" y="175895"/>
                    <a:pt x="0" y="113284"/>
                  </a:cubicBezTo>
                  <a:close/>
                </a:path>
              </a:pathLst>
            </a:custGeom>
            <a:solidFill>
              <a:srgbClr val="4ADE80"/>
            </a:solidFill>
            <a:ln w="19050" cap="sq">
              <a:solidFill>
                <a:srgbClr val="4ADE80"/>
              </a:solidFill>
              <a:prstDash val="solid"/>
              <a:miter/>
            </a:ln>
          </p:spPr>
        </p:sp>
      </p:grpSp>
      <p:sp>
        <p:nvSpPr>
          <p:cNvPr name="AutoShape 72" id="72"/>
          <p:cNvSpPr/>
          <p:nvPr/>
        </p:nvSpPr>
        <p:spPr>
          <a:xfrm rot="5330700">
            <a:off x="12647486" y="5099685"/>
            <a:ext cx="1890141" cy="0"/>
          </a:xfrm>
          <a:prstGeom prst="line">
            <a:avLst/>
          </a:prstGeom>
          <a:ln cap="rnd" w="19050">
            <a:solidFill>
              <a:srgbClr val="22D3EE"/>
            </a:solidFill>
            <a:prstDash val="solid"/>
            <a:headEnd type="none" len="sm" w="sm"/>
            <a:tailEnd type="none" len="sm" w="sm"/>
          </a:ln>
        </p:spPr>
      </p:sp>
      <p:grpSp>
        <p:nvGrpSpPr>
          <p:cNvPr name="Group 73" id="73"/>
          <p:cNvGrpSpPr/>
          <p:nvPr/>
        </p:nvGrpSpPr>
        <p:grpSpPr>
          <a:xfrm rot="0">
            <a:off x="14607540" y="4526280"/>
            <a:ext cx="2674620" cy="548640"/>
            <a:chOff x="0" y="0"/>
            <a:chExt cx="3566160" cy="731520"/>
          </a:xfrm>
        </p:grpSpPr>
        <p:sp>
          <p:nvSpPr>
            <p:cNvPr name="Freeform 74" id="74"/>
            <p:cNvSpPr/>
            <p:nvPr/>
          </p:nvSpPr>
          <p:spPr>
            <a:xfrm flipH="false" flipV="false" rot="0">
              <a:off x="0" y="0"/>
              <a:ext cx="3566160" cy="731520"/>
            </a:xfrm>
            <a:custGeom>
              <a:avLst/>
              <a:gdLst/>
              <a:ahLst/>
              <a:cxnLst/>
              <a:rect r="r" b="b" t="t" l="l"/>
              <a:pathLst>
                <a:path h="731520" w="3566160">
                  <a:moveTo>
                    <a:pt x="0" y="0"/>
                  </a:moveTo>
                  <a:lnTo>
                    <a:pt x="3566160" y="0"/>
                  </a:lnTo>
                  <a:lnTo>
                    <a:pt x="3566160" y="731520"/>
                  </a:lnTo>
                  <a:lnTo>
                    <a:pt x="0" y="731520"/>
                  </a:lnTo>
                  <a:close/>
                </a:path>
              </a:pathLst>
            </a:custGeom>
            <a:blipFill>
              <a:blip r:embed="rId3">
                <a:alphaModFix amt="0"/>
              </a:blip>
              <a:stretch>
                <a:fillRect l="0" t="-44989" r="0" b="-44989"/>
              </a:stretch>
            </a:blipFill>
          </p:spPr>
        </p:sp>
        <p:sp>
          <p:nvSpPr>
            <p:cNvPr name="TextBox 75" id="75"/>
            <p:cNvSpPr txBox="true"/>
            <p:nvPr/>
          </p:nvSpPr>
          <p:spPr>
            <a:xfrm>
              <a:off x="0" y="-47625"/>
              <a:ext cx="3566160" cy="779145"/>
            </a:xfrm>
            <a:prstGeom prst="rect">
              <a:avLst/>
            </a:prstGeom>
          </p:spPr>
          <p:txBody>
            <a:bodyPr anchor="ctr" rtlCol="false" tIns="0" lIns="0" bIns="0" rIns="0"/>
            <a:lstStyle/>
            <a:p>
              <a:pPr algn="l">
                <a:lnSpc>
                  <a:spcPts val="3060"/>
                </a:lnSpc>
              </a:pPr>
              <a:r>
                <a:rPr lang="en-US" sz="2550" b="true">
                  <a:solidFill>
                    <a:srgbClr val="E8ECF1"/>
                  </a:solidFill>
                  <a:latin typeface="Calibri (MS) Bold"/>
                  <a:ea typeface="Calibri (MS) Bold"/>
                  <a:cs typeface="Calibri (MS) Bold"/>
                  <a:sym typeface="Calibri (MS) Bold"/>
                </a:rPr>
                <a:t>Classification</a:t>
              </a:r>
            </a:p>
          </p:txBody>
        </p:sp>
      </p:grpSp>
      <p:grpSp>
        <p:nvGrpSpPr>
          <p:cNvPr name="Group 76" id="76"/>
          <p:cNvGrpSpPr/>
          <p:nvPr/>
        </p:nvGrpSpPr>
        <p:grpSpPr>
          <a:xfrm rot="0">
            <a:off x="11994356" y="6576536"/>
            <a:ext cx="5473256" cy="2414588"/>
            <a:chOff x="0" y="0"/>
            <a:chExt cx="7297674" cy="3219450"/>
          </a:xfrm>
        </p:grpSpPr>
        <p:sp>
          <p:nvSpPr>
            <p:cNvPr name="Freeform 77" id="77"/>
            <p:cNvSpPr/>
            <p:nvPr/>
          </p:nvSpPr>
          <p:spPr>
            <a:xfrm flipH="false" flipV="false" rot="0">
              <a:off x="0" y="0"/>
              <a:ext cx="7297675" cy="3219450"/>
            </a:xfrm>
            <a:custGeom>
              <a:avLst/>
              <a:gdLst/>
              <a:ahLst/>
              <a:cxnLst/>
              <a:rect r="r" b="b" t="t" l="l"/>
              <a:pathLst>
                <a:path h="3219450" w="7297675">
                  <a:moveTo>
                    <a:pt x="0" y="147193"/>
                  </a:moveTo>
                  <a:cubicBezTo>
                    <a:pt x="0" y="65913"/>
                    <a:pt x="65913" y="0"/>
                    <a:pt x="147193" y="0"/>
                  </a:cubicBezTo>
                  <a:lnTo>
                    <a:pt x="7150481" y="0"/>
                  </a:lnTo>
                  <a:cubicBezTo>
                    <a:pt x="7231762" y="0"/>
                    <a:pt x="7297675" y="65913"/>
                    <a:pt x="7297675" y="147193"/>
                  </a:cubicBezTo>
                  <a:lnTo>
                    <a:pt x="7297675" y="3072257"/>
                  </a:lnTo>
                  <a:cubicBezTo>
                    <a:pt x="7297675" y="3153537"/>
                    <a:pt x="7231762" y="3219450"/>
                    <a:pt x="7150481" y="3219450"/>
                  </a:cubicBezTo>
                  <a:lnTo>
                    <a:pt x="147193" y="3219450"/>
                  </a:lnTo>
                  <a:cubicBezTo>
                    <a:pt x="65913" y="3219450"/>
                    <a:pt x="0" y="3153537"/>
                    <a:pt x="0" y="3072257"/>
                  </a:cubicBezTo>
                  <a:close/>
                </a:path>
              </a:pathLst>
            </a:custGeom>
            <a:solidFill>
              <a:srgbClr val="161B22"/>
            </a:solidFill>
            <a:ln w="14288" cap="sq">
              <a:solidFill>
                <a:srgbClr val="2A323D"/>
              </a:solidFill>
              <a:prstDash val="solid"/>
              <a:miter/>
            </a:ln>
          </p:spPr>
        </p:sp>
      </p:grpSp>
      <p:grpSp>
        <p:nvGrpSpPr>
          <p:cNvPr name="Group 78" id="78"/>
          <p:cNvGrpSpPr/>
          <p:nvPr/>
        </p:nvGrpSpPr>
        <p:grpSpPr>
          <a:xfrm rot="0">
            <a:off x="12268676" y="6850856"/>
            <a:ext cx="2071688" cy="1865948"/>
            <a:chOff x="0" y="0"/>
            <a:chExt cx="2762250" cy="2487930"/>
          </a:xfrm>
        </p:grpSpPr>
        <p:sp>
          <p:nvSpPr>
            <p:cNvPr name="Freeform 79" id="79"/>
            <p:cNvSpPr/>
            <p:nvPr/>
          </p:nvSpPr>
          <p:spPr>
            <a:xfrm flipH="false" flipV="false" rot="0">
              <a:off x="0" y="0"/>
              <a:ext cx="2762250" cy="2487930"/>
            </a:xfrm>
            <a:custGeom>
              <a:avLst/>
              <a:gdLst/>
              <a:ahLst/>
              <a:cxnLst/>
              <a:rect r="r" b="b" t="t" l="l"/>
              <a:pathLst>
                <a:path h="2487930" w="2762250">
                  <a:moveTo>
                    <a:pt x="0" y="0"/>
                  </a:moveTo>
                  <a:lnTo>
                    <a:pt x="2762250" y="0"/>
                  </a:lnTo>
                  <a:lnTo>
                    <a:pt x="2762250" y="2487930"/>
                  </a:lnTo>
                  <a:lnTo>
                    <a:pt x="0" y="2487930"/>
                  </a:lnTo>
                  <a:close/>
                </a:path>
              </a:pathLst>
            </a:custGeom>
            <a:solidFill>
              <a:srgbClr val="0A0D12"/>
            </a:solidFill>
            <a:ln w="14288" cap="sq">
              <a:solidFill>
                <a:srgbClr val="2A323D"/>
              </a:solidFill>
              <a:prstDash val="solid"/>
              <a:miter/>
            </a:ln>
          </p:spPr>
        </p:sp>
      </p:grpSp>
      <p:grpSp>
        <p:nvGrpSpPr>
          <p:cNvPr name="Group 80" id="80"/>
          <p:cNvGrpSpPr/>
          <p:nvPr/>
        </p:nvGrpSpPr>
        <p:grpSpPr>
          <a:xfrm rot="0">
            <a:off x="12520041" y="7471315"/>
            <a:ext cx="128778" cy="128778"/>
            <a:chOff x="0" y="0"/>
            <a:chExt cx="171704" cy="171704"/>
          </a:xfrm>
        </p:grpSpPr>
        <p:sp>
          <p:nvSpPr>
            <p:cNvPr name="Freeform 81" id="81"/>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82" id="82"/>
          <p:cNvGrpSpPr/>
          <p:nvPr/>
        </p:nvGrpSpPr>
        <p:grpSpPr>
          <a:xfrm rot="0">
            <a:off x="12890373" y="7104688"/>
            <a:ext cx="128778" cy="128778"/>
            <a:chOff x="0" y="0"/>
            <a:chExt cx="171704" cy="171704"/>
          </a:xfrm>
        </p:grpSpPr>
        <p:sp>
          <p:nvSpPr>
            <p:cNvPr name="Freeform 83" id="83"/>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84" id="84"/>
          <p:cNvGrpSpPr/>
          <p:nvPr/>
        </p:nvGrpSpPr>
        <p:grpSpPr>
          <a:xfrm rot="0">
            <a:off x="13054965" y="7552792"/>
            <a:ext cx="128778" cy="128778"/>
            <a:chOff x="0" y="0"/>
            <a:chExt cx="171704" cy="171704"/>
          </a:xfrm>
        </p:grpSpPr>
        <p:sp>
          <p:nvSpPr>
            <p:cNvPr name="Freeform 85" id="85"/>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86" id="86"/>
          <p:cNvGrpSpPr/>
          <p:nvPr/>
        </p:nvGrpSpPr>
        <p:grpSpPr>
          <a:xfrm rot="0">
            <a:off x="12355449" y="7267632"/>
            <a:ext cx="128778" cy="128778"/>
            <a:chOff x="0" y="0"/>
            <a:chExt cx="171704" cy="171704"/>
          </a:xfrm>
        </p:grpSpPr>
        <p:sp>
          <p:nvSpPr>
            <p:cNvPr name="Freeform 87" id="87"/>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88" id="88"/>
          <p:cNvGrpSpPr/>
          <p:nvPr/>
        </p:nvGrpSpPr>
        <p:grpSpPr>
          <a:xfrm rot="0">
            <a:off x="12725781" y="7674997"/>
            <a:ext cx="128778" cy="128778"/>
            <a:chOff x="0" y="0"/>
            <a:chExt cx="171704" cy="171704"/>
          </a:xfrm>
        </p:grpSpPr>
        <p:sp>
          <p:nvSpPr>
            <p:cNvPr name="Freeform 89" id="89"/>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90" id="90"/>
          <p:cNvGrpSpPr/>
          <p:nvPr/>
        </p:nvGrpSpPr>
        <p:grpSpPr>
          <a:xfrm rot="0">
            <a:off x="12478893" y="7634268"/>
            <a:ext cx="128778" cy="128778"/>
            <a:chOff x="0" y="0"/>
            <a:chExt cx="171704" cy="171704"/>
          </a:xfrm>
        </p:grpSpPr>
        <p:sp>
          <p:nvSpPr>
            <p:cNvPr name="Freeform 91" id="91"/>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92" id="92"/>
          <p:cNvGrpSpPr/>
          <p:nvPr/>
        </p:nvGrpSpPr>
        <p:grpSpPr>
          <a:xfrm rot="0">
            <a:off x="13013817" y="7308371"/>
            <a:ext cx="128778" cy="128778"/>
            <a:chOff x="0" y="0"/>
            <a:chExt cx="171704" cy="171704"/>
          </a:xfrm>
        </p:grpSpPr>
        <p:sp>
          <p:nvSpPr>
            <p:cNvPr name="Freeform 93" id="93"/>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94" id="94"/>
          <p:cNvGrpSpPr/>
          <p:nvPr/>
        </p:nvGrpSpPr>
        <p:grpSpPr>
          <a:xfrm rot="0">
            <a:off x="12808077" y="7023221"/>
            <a:ext cx="128778" cy="128778"/>
            <a:chOff x="0" y="0"/>
            <a:chExt cx="171704" cy="171704"/>
          </a:xfrm>
        </p:grpSpPr>
        <p:sp>
          <p:nvSpPr>
            <p:cNvPr name="Freeform 95" id="95"/>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96" id="96"/>
          <p:cNvGrpSpPr/>
          <p:nvPr/>
        </p:nvGrpSpPr>
        <p:grpSpPr>
          <a:xfrm rot="0">
            <a:off x="12602337" y="7349109"/>
            <a:ext cx="128778" cy="128778"/>
            <a:chOff x="0" y="0"/>
            <a:chExt cx="171704" cy="171704"/>
          </a:xfrm>
        </p:grpSpPr>
        <p:sp>
          <p:nvSpPr>
            <p:cNvPr name="Freeform 97" id="97"/>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98" id="98"/>
          <p:cNvGrpSpPr/>
          <p:nvPr/>
        </p:nvGrpSpPr>
        <p:grpSpPr>
          <a:xfrm rot="0">
            <a:off x="13137261" y="7430586"/>
            <a:ext cx="128778" cy="128778"/>
            <a:chOff x="0" y="0"/>
            <a:chExt cx="171704" cy="171704"/>
          </a:xfrm>
        </p:grpSpPr>
        <p:sp>
          <p:nvSpPr>
            <p:cNvPr name="Freeform 99" id="99"/>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22D3EE"/>
            </a:solidFill>
            <a:ln w="19050" cap="sq">
              <a:solidFill>
                <a:srgbClr val="22D3EE"/>
              </a:solidFill>
              <a:prstDash val="solid"/>
              <a:miter/>
            </a:ln>
          </p:spPr>
        </p:sp>
      </p:grpSp>
      <p:grpSp>
        <p:nvGrpSpPr>
          <p:cNvPr name="Group 100" id="100"/>
          <p:cNvGrpSpPr/>
          <p:nvPr/>
        </p:nvGrpSpPr>
        <p:grpSpPr>
          <a:xfrm rot="0">
            <a:off x="12659011" y="7282339"/>
            <a:ext cx="262318" cy="262318"/>
            <a:chOff x="0" y="0"/>
            <a:chExt cx="349758" cy="349758"/>
          </a:xfrm>
        </p:grpSpPr>
        <p:sp>
          <p:nvSpPr>
            <p:cNvPr name="Freeform 101" id="101"/>
            <p:cNvSpPr/>
            <p:nvPr/>
          </p:nvSpPr>
          <p:spPr>
            <a:xfrm flipH="false" flipV="false" rot="0">
              <a:off x="0" y="0"/>
              <a:ext cx="349758" cy="349758"/>
            </a:xfrm>
            <a:custGeom>
              <a:avLst/>
              <a:gdLst/>
              <a:ahLst/>
              <a:cxnLst/>
              <a:rect r="r" b="b" t="t" l="l"/>
              <a:pathLst>
                <a:path h="349758" w="349758">
                  <a:moveTo>
                    <a:pt x="0" y="174879"/>
                  </a:moveTo>
                  <a:cubicBezTo>
                    <a:pt x="0" y="78359"/>
                    <a:pt x="78359" y="0"/>
                    <a:pt x="174879" y="0"/>
                  </a:cubicBezTo>
                  <a:cubicBezTo>
                    <a:pt x="271399" y="0"/>
                    <a:pt x="349758" y="78359"/>
                    <a:pt x="349758" y="174879"/>
                  </a:cubicBezTo>
                  <a:cubicBezTo>
                    <a:pt x="349758" y="271399"/>
                    <a:pt x="271399" y="349758"/>
                    <a:pt x="174879" y="349758"/>
                  </a:cubicBezTo>
                  <a:cubicBezTo>
                    <a:pt x="78359" y="349758"/>
                    <a:pt x="0" y="271399"/>
                    <a:pt x="0" y="174879"/>
                  </a:cubicBezTo>
                  <a:close/>
                </a:path>
              </a:pathLst>
            </a:custGeom>
            <a:blipFill>
              <a:blip r:embed="rId3">
                <a:alphaModFix amt="0"/>
              </a:blip>
              <a:stretch>
                <a:fillRect l="-78303" t="0" r="-78303" b="0"/>
              </a:stretch>
            </a:blipFill>
            <a:ln w="42862" cap="sq">
              <a:solidFill>
                <a:srgbClr val="FBBF24"/>
              </a:solidFill>
              <a:prstDash val="solid"/>
              <a:miter/>
            </a:ln>
          </p:spPr>
        </p:sp>
      </p:grpSp>
      <p:grpSp>
        <p:nvGrpSpPr>
          <p:cNvPr name="Group 102" id="102"/>
          <p:cNvGrpSpPr/>
          <p:nvPr/>
        </p:nvGrpSpPr>
        <p:grpSpPr>
          <a:xfrm rot="0">
            <a:off x="13487019" y="7563898"/>
            <a:ext cx="128778" cy="128778"/>
            <a:chOff x="0" y="0"/>
            <a:chExt cx="171704" cy="171704"/>
          </a:xfrm>
        </p:grpSpPr>
        <p:sp>
          <p:nvSpPr>
            <p:cNvPr name="Freeform 103" id="103"/>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04" id="104"/>
          <p:cNvGrpSpPr/>
          <p:nvPr/>
        </p:nvGrpSpPr>
        <p:grpSpPr>
          <a:xfrm rot="0">
            <a:off x="13857351" y="7197271"/>
            <a:ext cx="128778" cy="128778"/>
            <a:chOff x="0" y="0"/>
            <a:chExt cx="171704" cy="171704"/>
          </a:xfrm>
        </p:grpSpPr>
        <p:sp>
          <p:nvSpPr>
            <p:cNvPr name="Freeform 105" id="105"/>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06" id="106"/>
          <p:cNvGrpSpPr/>
          <p:nvPr/>
        </p:nvGrpSpPr>
        <p:grpSpPr>
          <a:xfrm rot="0">
            <a:off x="14021943" y="7645375"/>
            <a:ext cx="128778" cy="128778"/>
            <a:chOff x="0" y="0"/>
            <a:chExt cx="171704" cy="171704"/>
          </a:xfrm>
        </p:grpSpPr>
        <p:sp>
          <p:nvSpPr>
            <p:cNvPr name="Freeform 107" id="107"/>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08" id="108"/>
          <p:cNvGrpSpPr/>
          <p:nvPr/>
        </p:nvGrpSpPr>
        <p:grpSpPr>
          <a:xfrm rot="0">
            <a:off x="13322427" y="7360215"/>
            <a:ext cx="128778" cy="128778"/>
            <a:chOff x="0" y="0"/>
            <a:chExt cx="171704" cy="171704"/>
          </a:xfrm>
        </p:grpSpPr>
        <p:sp>
          <p:nvSpPr>
            <p:cNvPr name="Freeform 109" id="109"/>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10" id="110"/>
          <p:cNvGrpSpPr/>
          <p:nvPr/>
        </p:nvGrpSpPr>
        <p:grpSpPr>
          <a:xfrm rot="0">
            <a:off x="13692759" y="7767580"/>
            <a:ext cx="128778" cy="128778"/>
            <a:chOff x="0" y="0"/>
            <a:chExt cx="171704" cy="171704"/>
          </a:xfrm>
        </p:grpSpPr>
        <p:sp>
          <p:nvSpPr>
            <p:cNvPr name="Freeform 111" id="111"/>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12" id="112"/>
          <p:cNvGrpSpPr/>
          <p:nvPr/>
        </p:nvGrpSpPr>
        <p:grpSpPr>
          <a:xfrm rot="0">
            <a:off x="13445871" y="7726851"/>
            <a:ext cx="128778" cy="128778"/>
            <a:chOff x="0" y="0"/>
            <a:chExt cx="171704" cy="171704"/>
          </a:xfrm>
        </p:grpSpPr>
        <p:sp>
          <p:nvSpPr>
            <p:cNvPr name="Freeform 113" id="113"/>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14" id="114"/>
          <p:cNvGrpSpPr/>
          <p:nvPr/>
        </p:nvGrpSpPr>
        <p:grpSpPr>
          <a:xfrm rot="0">
            <a:off x="13980795" y="7400954"/>
            <a:ext cx="128778" cy="128778"/>
            <a:chOff x="0" y="0"/>
            <a:chExt cx="171704" cy="171704"/>
          </a:xfrm>
        </p:grpSpPr>
        <p:sp>
          <p:nvSpPr>
            <p:cNvPr name="Freeform 115" id="115"/>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16" id="116"/>
          <p:cNvGrpSpPr/>
          <p:nvPr/>
        </p:nvGrpSpPr>
        <p:grpSpPr>
          <a:xfrm rot="0">
            <a:off x="13775055" y="7115804"/>
            <a:ext cx="128778" cy="128778"/>
            <a:chOff x="0" y="0"/>
            <a:chExt cx="171704" cy="171704"/>
          </a:xfrm>
        </p:grpSpPr>
        <p:sp>
          <p:nvSpPr>
            <p:cNvPr name="Freeform 117" id="117"/>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18" id="118"/>
          <p:cNvGrpSpPr/>
          <p:nvPr/>
        </p:nvGrpSpPr>
        <p:grpSpPr>
          <a:xfrm rot="0">
            <a:off x="13569315" y="7441692"/>
            <a:ext cx="128778" cy="128778"/>
            <a:chOff x="0" y="0"/>
            <a:chExt cx="171704" cy="171704"/>
          </a:xfrm>
        </p:grpSpPr>
        <p:sp>
          <p:nvSpPr>
            <p:cNvPr name="Freeform 119" id="119"/>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20" id="120"/>
          <p:cNvGrpSpPr/>
          <p:nvPr/>
        </p:nvGrpSpPr>
        <p:grpSpPr>
          <a:xfrm rot="0">
            <a:off x="14104239" y="7523169"/>
            <a:ext cx="128778" cy="128778"/>
            <a:chOff x="0" y="0"/>
            <a:chExt cx="171704" cy="171704"/>
          </a:xfrm>
        </p:grpSpPr>
        <p:sp>
          <p:nvSpPr>
            <p:cNvPr name="Freeform 121" id="121"/>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4ADE80"/>
            </a:solidFill>
            <a:ln w="19050" cap="sq">
              <a:solidFill>
                <a:srgbClr val="4ADE80"/>
              </a:solidFill>
              <a:prstDash val="solid"/>
              <a:miter/>
            </a:ln>
          </p:spPr>
        </p:sp>
      </p:grpSp>
      <p:grpSp>
        <p:nvGrpSpPr>
          <p:cNvPr name="Group 122" id="122"/>
          <p:cNvGrpSpPr/>
          <p:nvPr/>
        </p:nvGrpSpPr>
        <p:grpSpPr>
          <a:xfrm rot="0">
            <a:off x="13625989" y="7374922"/>
            <a:ext cx="262318" cy="262318"/>
            <a:chOff x="0" y="0"/>
            <a:chExt cx="349758" cy="349758"/>
          </a:xfrm>
        </p:grpSpPr>
        <p:sp>
          <p:nvSpPr>
            <p:cNvPr name="Freeform 123" id="123"/>
            <p:cNvSpPr/>
            <p:nvPr/>
          </p:nvSpPr>
          <p:spPr>
            <a:xfrm flipH="false" flipV="false" rot="0">
              <a:off x="0" y="0"/>
              <a:ext cx="349758" cy="349758"/>
            </a:xfrm>
            <a:custGeom>
              <a:avLst/>
              <a:gdLst/>
              <a:ahLst/>
              <a:cxnLst/>
              <a:rect r="r" b="b" t="t" l="l"/>
              <a:pathLst>
                <a:path h="349758" w="349758">
                  <a:moveTo>
                    <a:pt x="0" y="174879"/>
                  </a:moveTo>
                  <a:cubicBezTo>
                    <a:pt x="0" y="78359"/>
                    <a:pt x="78359" y="0"/>
                    <a:pt x="174879" y="0"/>
                  </a:cubicBezTo>
                  <a:cubicBezTo>
                    <a:pt x="271399" y="0"/>
                    <a:pt x="349758" y="78359"/>
                    <a:pt x="349758" y="174879"/>
                  </a:cubicBezTo>
                  <a:cubicBezTo>
                    <a:pt x="349758" y="271399"/>
                    <a:pt x="271399" y="349758"/>
                    <a:pt x="174879" y="349758"/>
                  </a:cubicBezTo>
                  <a:cubicBezTo>
                    <a:pt x="78359" y="349758"/>
                    <a:pt x="0" y="271399"/>
                    <a:pt x="0" y="174879"/>
                  </a:cubicBezTo>
                  <a:close/>
                </a:path>
              </a:pathLst>
            </a:custGeom>
            <a:blipFill>
              <a:blip r:embed="rId3">
                <a:alphaModFix amt="0"/>
              </a:blip>
              <a:stretch>
                <a:fillRect l="-78303" t="0" r="-78303" b="0"/>
              </a:stretch>
            </a:blipFill>
            <a:ln w="42862" cap="sq">
              <a:solidFill>
                <a:srgbClr val="FBBF24"/>
              </a:solidFill>
              <a:prstDash val="solid"/>
              <a:miter/>
            </a:ln>
          </p:spPr>
        </p:sp>
      </p:grpSp>
      <p:grpSp>
        <p:nvGrpSpPr>
          <p:cNvPr name="Group 124" id="124"/>
          <p:cNvGrpSpPr/>
          <p:nvPr/>
        </p:nvGrpSpPr>
        <p:grpSpPr>
          <a:xfrm rot="0">
            <a:off x="12931521" y="8323078"/>
            <a:ext cx="128778" cy="128778"/>
            <a:chOff x="0" y="0"/>
            <a:chExt cx="171704" cy="171704"/>
          </a:xfrm>
        </p:grpSpPr>
        <p:sp>
          <p:nvSpPr>
            <p:cNvPr name="Freeform 125" id="125"/>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26" id="126"/>
          <p:cNvGrpSpPr/>
          <p:nvPr/>
        </p:nvGrpSpPr>
        <p:grpSpPr>
          <a:xfrm rot="0">
            <a:off x="13301853" y="7956452"/>
            <a:ext cx="128778" cy="128778"/>
            <a:chOff x="0" y="0"/>
            <a:chExt cx="171704" cy="171704"/>
          </a:xfrm>
        </p:grpSpPr>
        <p:sp>
          <p:nvSpPr>
            <p:cNvPr name="Freeform 127" id="127"/>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28" id="128"/>
          <p:cNvGrpSpPr/>
          <p:nvPr/>
        </p:nvGrpSpPr>
        <p:grpSpPr>
          <a:xfrm rot="0">
            <a:off x="13466445" y="8404555"/>
            <a:ext cx="128778" cy="128778"/>
            <a:chOff x="0" y="0"/>
            <a:chExt cx="171704" cy="171704"/>
          </a:xfrm>
        </p:grpSpPr>
        <p:sp>
          <p:nvSpPr>
            <p:cNvPr name="Freeform 129" id="129"/>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30" id="130"/>
          <p:cNvGrpSpPr/>
          <p:nvPr/>
        </p:nvGrpSpPr>
        <p:grpSpPr>
          <a:xfrm rot="0">
            <a:off x="12766929" y="8119396"/>
            <a:ext cx="128778" cy="128778"/>
            <a:chOff x="0" y="0"/>
            <a:chExt cx="171704" cy="171704"/>
          </a:xfrm>
        </p:grpSpPr>
        <p:sp>
          <p:nvSpPr>
            <p:cNvPr name="Freeform 131" id="131"/>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32" id="132"/>
          <p:cNvGrpSpPr/>
          <p:nvPr/>
        </p:nvGrpSpPr>
        <p:grpSpPr>
          <a:xfrm rot="0">
            <a:off x="13137261" y="8526761"/>
            <a:ext cx="128778" cy="128778"/>
            <a:chOff x="0" y="0"/>
            <a:chExt cx="171704" cy="171704"/>
          </a:xfrm>
        </p:grpSpPr>
        <p:sp>
          <p:nvSpPr>
            <p:cNvPr name="Freeform 133" id="133"/>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34" id="134"/>
          <p:cNvGrpSpPr/>
          <p:nvPr/>
        </p:nvGrpSpPr>
        <p:grpSpPr>
          <a:xfrm rot="0">
            <a:off x="12890373" y="8486032"/>
            <a:ext cx="128778" cy="128778"/>
            <a:chOff x="0" y="0"/>
            <a:chExt cx="171704" cy="171704"/>
          </a:xfrm>
        </p:grpSpPr>
        <p:sp>
          <p:nvSpPr>
            <p:cNvPr name="Freeform 135" id="135"/>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36" id="136"/>
          <p:cNvGrpSpPr/>
          <p:nvPr/>
        </p:nvGrpSpPr>
        <p:grpSpPr>
          <a:xfrm rot="0">
            <a:off x="13425297" y="8160134"/>
            <a:ext cx="128778" cy="128778"/>
            <a:chOff x="0" y="0"/>
            <a:chExt cx="171704" cy="171704"/>
          </a:xfrm>
        </p:grpSpPr>
        <p:sp>
          <p:nvSpPr>
            <p:cNvPr name="Freeform 137" id="137"/>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38" id="138"/>
          <p:cNvGrpSpPr/>
          <p:nvPr/>
        </p:nvGrpSpPr>
        <p:grpSpPr>
          <a:xfrm rot="0">
            <a:off x="13219557" y="7874984"/>
            <a:ext cx="128778" cy="128778"/>
            <a:chOff x="0" y="0"/>
            <a:chExt cx="171704" cy="171704"/>
          </a:xfrm>
        </p:grpSpPr>
        <p:sp>
          <p:nvSpPr>
            <p:cNvPr name="Freeform 139" id="139"/>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40" id="140"/>
          <p:cNvGrpSpPr/>
          <p:nvPr/>
        </p:nvGrpSpPr>
        <p:grpSpPr>
          <a:xfrm rot="0">
            <a:off x="13013817" y="8200873"/>
            <a:ext cx="128778" cy="128778"/>
            <a:chOff x="0" y="0"/>
            <a:chExt cx="171704" cy="171704"/>
          </a:xfrm>
        </p:grpSpPr>
        <p:sp>
          <p:nvSpPr>
            <p:cNvPr name="Freeform 141" id="141"/>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42" id="142"/>
          <p:cNvGrpSpPr/>
          <p:nvPr/>
        </p:nvGrpSpPr>
        <p:grpSpPr>
          <a:xfrm rot="0">
            <a:off x="13548741" y="8282349"/>
            <a:ext cx="128778" cy="128778"/>
            <a:chOff x="0" y="0"/>
            <a:chExt cx="171704" cy="171704"/>
          </a:xfrm>
        </p:grpSpPr>
        <p:sp>
          <p:nvSpPr>
            <p:cNvPr name="Freeform 143" id="143"/>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CBD5E1"/>
            </a:solidFill>
            <a:ln w="19050" cap="sq">
              <a:solidFill>
                <a:srgbClr val="CBD5E1"/>
              </a:solidFill>
              <a:prstDash val="solid"/>
              <a:miter/>
            </a:ln>
          </p:spPr>
        </p:sp>
      </p:grpSp>
      <p:grpSp>
        <p:nvGrpSpPr>
          <p:cNvPr name="Group 144" id="144"/>
          <p:cNvGrpSpPr/>
          <p:nvPr/>
        </p:nvGrpSpPr>
        <p:grpSpPr>
          <a:xfrm rot="0">
            <a:off x="13070491" y="8134102"/>
            <a:ext cx="262318" cy="262318"/>
            <a:chOff x="0" y="0"/>
            <a:chExt cx="349758" cy="349758"/>
          </a:xfrm>
        </p:grpSpPr>
        <p:sp>
          <p:nvSpPr>
            <p:cNvPr name="Freeform 145" id="145"/>
            <p:cNvSpPr/>
            <p:nvPr/>
          </p:nvSpPr>
          <p:spPr>
            <a:xfrm flipH="false" flipV="false" rot="0">
              <a:off x="0" y="0"/>
              <a:ext cx="349758" cy="349758"/>
            </a:xfrm>
            <a:custGeom>
              <a:avLst/>
              <a:gdLst/>
              <a:ahLst/>
              <a:cxnLst/>
              <a:rect r="r" b="b" t="t" l="l"/>
              <a:pathLst>
                <a:path h="349758" w="349758">
                  <a:moveTo>
                    <a:pt x="0" y="174879"/>
                  </a:moveTo>
                  <a:cubicBezTo>
                    <a:pt x="0" y="78359"/>
                    <a:pt x="78359" y="0"/>
                    <a:pt x="174879" y="0"/>
                  </a:cubicBezTo>
                  <a:cubicBezTo>
                    <a:pt x="271399" y="0"/>
                    <a:pt x="349758" y="78359"/>
                    <a:pt x="349758" y="174879"/>
                  </a:cubicBezTo>
                  <a:cubicBezTo>
                    <a:pt x="349758" y="271399"/>
                    <a:pt x="271399" y="349758"/>
                    <a:pt x="174879" y="349758"/>
                  </a:cubicBezTo>
                  <a:cubicBezTo>
                    <a:pt x="78359" y="349758"/>
                    <a:pt x="0" y="271399"/>
                    <a:pt x="0" y="174879"/>
                  </a:cubicBezTo>
                  <a:close/>
                </a:path>
              </a:pathLst>
            </a:custGeom>
            <a:blipFill>
              <a:blip r:embed="rId3">
                <a:alphaModFix amt="0"/>
              </a:blip>
              <a:stretch>
                <a:fillRect l="-78303" t="0" r="-78303" b="0"/>
              </a:stretch>
            </a:blipFill>
            <a:ln w="42862" cap="sq">
              <a:solidFill>
                <a:srgbClr val="FBBF24"/>
              </a:solidFill>
              <a:prstDash val="solid"/>
              <a:miter/>
            </a:ln>
          </p:spPr>
        </p:sp>
      </p:grpSp>
      <p:grpSp>
        <p:nvGrpSpPr>
          <p:cNvPr name="Group 146" id="146"/>
          <p:cNvGrpSpPr/>
          <p:nvPr/>
        </p:nvGrpSpPr>
        <p:grpSpPr>
          <a:xfrm rot="0">
            <a:off x="14607540" y="7200900"/>
            <a:ext cx="2674620" cy="548640"/>
            <a:chOff x="0" y="0"/>
            <a:chExt cx="3566160" cy="731520"/>
          </a:xfrm>
        </p:grpSpPr>
        <p:sp>
          <p:nvSpPr>
            <p:cNvPr name="Freeform 147" id="147"/>
            <p:cNvSpPr/>
            <p:nvPr/>
          </p:nvSpPr>
          <p:spPr>
            <a:xfrm flipH="false" flipV="false" rot="0">
              <a:off x="0" y="0"/>
              <a:ext cx="3566160" cy="731520"/>
            </a:xfrm>
            <a:custGeom>
              <a:avLst/>
              <a:gdLst/>
              <a:ahLst/>
              <a:cxnLst/>
              <a:rect r="r" b="b" t="t" l="l"/>
              <a:pathLst>
                <a:path h="731520" w="3566160">
                  <a:moveTo>
                    <a:pt x="0" y="0"/>
                  </a:moveTo>
                  <a:lnTo>
                    <a:pt x="3566160" y="0"/>
                  </a:lnTo>
                  <a:lnTo>
                    <a:pt x="3566160" y="731520"/>
                  </a:lnTo>
                  <a:lnTo>
                    <a:pt x="0" y="731520"/>
                  </a:lnTo>
                  <a:close/>
                </a:path>
              </a:pathLst>
            </a:custGeom>
            <a:blipFill>
              <a:blip r:embed="rId3">
                <a:alphaModFix amt="0"/>
              </a:blip>
              <a:stretch>
                <a:fillRect l="0" t="-44989" r="0" b="-44989"/>
              </a:stretch>
            </a:blipFill>
          </p:spPr>
        </p:sp>
        <p:sp>
          <p:nvSpPr>
            <p:cNvPr name="TextBox 148" id="148"/>
            <p:cNvSpPr txBox="true"/>
            <p:nvPr/>
          </p:nvSpPr>
          <p:spPr>
            <a:xfrm>
              <a:off x="0" y="-47625"/>
              <a:ext cx="3566160" cy="779145"/>
            </a:xfrm>
            <a:prstGeom prst="rect">
              <a:avLst/>
            </a:prstGeom>
          </p:spPr>
          <p:txBody>
            <a:bodyPr anchor="ctr" rtlCol="false" tIns="0" lIns="0" bIns="0" rIns="0"/>
            <a:lstStyle/>
            <a:p>
              <a:pPr algn="l">
                <a:lnSpc>
                  <a:spcPts val="3060"/>
                </a:lnSpc>
              </a:pPr>
              <a:r>
                <a:rPr lang="en-US" sz="2550" b="true">
                  <a:solidFill>
                    <a:srgbClr val="E8ECF1"/>
                  </a:solidFill>
                  <a:latin typeface="Calibri (MS) Bold"/>
                  <a:ea typeface="Calibri (MS) Bold"/>
                  <a:cs typeface="Calibri (MS) Bold"/>
                  <a:sym typeface="Calibri (MS) Bold"/>
                </a:rPr>
                <a:t>Clustering</a:t>
              </a:r>
            </a:p>
          </p:txBody>
        </p:sp>
      </p:grpSp>
      <p:sp>
        <p:nvSpPr>
          <p:cNvPr name="Freeform 149" id="149"/>
          <p:cNvSpPr/>
          <p:nvPr/>
        </p:nvSpPr>
        <p:spPr>
          <a:xfrm flipH="false" flipV="false" rot="0">
            <a:off x="5278306" y="6339841"/>
            <a:ext cx="5027744" cy="3750315"/>
          </a:xfrm>
          <a:custGeom>
            <a:avLst/>
            <a:gdLst/>
            <a:ahLst/>
            <a:cxnLst/>
            <a:rect r="r" b="b" t="t" l="l"/>
            <a:pathLst>
              <a:path h="3750315" w="5027744">
                <a:moveTo>
                  <a:pt x="0" y="0"/>
                </a:moveTo>
                <a:lnTo>
                  <a:pt x="5027744" y="0"/>
                </a:lnTo>
                <a:lnTo>
                  <a:pt x="5027744" y="3750315"/>
                </a:lnTo>
                <a:lnTo>
                  <a:pt x="0" y="3750315"/>
                </a:lnTo>
                <a:lnTo>
                  <a:pt x="0" y="0"/>
                </a:lnTo>
                <a:close/>
              </a:path>
            </a:pathLst>
          </a:custGeom>
          <a:blipFill>
            <a:blip r:embed="rId4"/>
            <a:stretch>
              <a:fillRect l="0" t="0" r="0" b="0"/>
            </a:stretch>
          </a:blipFill>
        </p:spPr>
      </p:sp>
      <p:sp>
        <p:nvSpPr>
          <p:cNvPr name="TextBox 150" id="150"/>
          <p:cNvSpPr txBox="true"/>
          <p:nvPr/>
        </p:nvSpPr>
        <p:spPr>
          <a:xfrm rot="0">
            <a:off x="1097280" y="2234565"/>
            <a:ext cx="10149840" cy="3183255"/>
          </a:xfrm>
          <a:prstGeom prst="rect">
            <a:avLst/>
          </a:prstGeom>
        </p:spPr>
        <p:txBody>
          <a:bodyPr anchor="t" rtlCol="false" tIns="0" lIns="0" bIns="0" rIns="0">
            <a:spAutoFit/>
          </a:bodyPr>
          <a:lstStyle/>
          <a:p>
            <a:pPr algn="l">
              <a:lnSpc>
                <a:spcPts val="6839"/>
              </a:lnSpc>
            </a:pPr>
            <a:r>
              <a:rPr lang="en-US" sz="5700" b="true">
                <a:solidFill>
                  <a:srgbClr val="E8ECF1"/>
                </a:solidFill>
                <a:latin typeface="Arial Bold"/>
                <a:ea typeface="Arial Bold"/>
                <a:cs typeface="Arial Bold"/>
                <a:sym typeface="Arial Bold"/>
              </a:rPr>
              <a:t>Football Player Performance Analysis Using Machine Learning</a:t>
            </a:r>
          </a:p>
        </p:txBody>
      </p:sp>
      <p:sp>
        <p:nvSpPr>
          <p:cNvPr name="TextBox 151" id="151"/>
          <p:cNvSpPr txBox="true"/>
          <p:nvPr/>
        </p:nvSpPr>
        <p:spPr>
          <a:xfrm rot="0">
            <a:off x="1097280" y="5497830"/>
            <a:ext cx="9875520" cy="466725"/>
          </a:xfrm>
          <a:prstGeom prst="rect">
            <a:avLst/>
          </a:prstGeom>
        </p:spPr>
        <p:txBody>
          <a:bodyPr anchor="t" rtlCol="false" tIns="0" lIns="0" bIns="0" rIns="0">
            <a:spAutoFit/>
          </a:bodyPr>
          <a:lstStyle/>
          <a:p>
            <a:pPr algn="l">
              <a:lnSpc>
                <a:spcPts val="3240"/>
              </a:lnSpc>
            </a:pPr>
            <a:r>
              <a:rPr lang="en-US" sz="2700">
                <a:solidFill>
                  <a:srgbClr val="22D3EE"/>
                </a:solidFill>
                <a:latin typeface="Calibri (MS)"/>
                <a:ea typeface="Calibri (MS)"/>
                <a:cs typeface="Calibri (MS)"/>
                <a:sym typeface="Calibri (MS)"/>
              </a:rPr>
              <a:t>A Practical Application of Regression, Classification and Clustering</a:t>
            </a:r>
          </a:p>
        </p:txBody>
      </p:sp>
      <p:sp>
        <p:nvSpPr>
          <p:cNvPr name="TextBox 152" id="152"/>
          <p:cNvSpPr txBox="true"/>
          <p:nvPr/>
        </p:nvSpPr>
        <p:spPr>
          <a:xfrm rot="0">
            <a:off x="14607540" y="2403348"/>
            <a:ext cx="2606040" cy="861060"/>
          </a:xfrm>
          <a:prstGeom prst="rect">
            <a:avLst/>
          </a:prstGeom>
        </p:spPr>
        <p:txBody>
          <a:bodyPr anchor="t" rtlCol="false" tIns="0" lIns="0" bIns="0" rIns="0">
            <a:spAutoFit/>
          </a:bodyPr>
          <a:lstStyle/>
          <a:p>
            <a:pPr algn="l">
              <a:lnSpc>
                <a:spcPts val="2250"/>
              </a:lnSpc>
            </a:pPr>
            <a:r>
              <a:rPr lang="en-US" sz="1875">
                <a:solidFill>
                  <a:srgbClr val="9AA4B2"/>
                </a:solidFill>
                <a:latin typeface="Calibri (MS)"/>
                <a:ea typeface="Calibri (MS)"/>
                <a:cs typeface="Calibri (MS)"/>
                <a:sym typeface="Calibri (MS)"/>
              </a:rPr>
              <a:t>predict a performance score</a:t>
            </a:r>
          </a:p>
        </p:txBody>
      </p:sp>
      <p:sp>
        <p:nvSpPr>
          <p:cNvPr name="TextBox 153" id="153"/>
          <p:cNvSpPr txBox="true"/>
          <p:nvPr/>
        </p:nvSpPr>
        <p:spPr>
          <a:xfrm rot="0">
            <a:off x="14607540" y="5077968"/>
            <a:ext cx="2606040" cy="861060"/>
          </a:xfrm>
          <a:prstGeom prst="rect">
            <a:avLst/>
          </a:prstGeom>
        </p:spPr>
        <p:txBody>
          <a:bodyPr anchor="t" rtlCol="false" tIns="0" lIns="0" bIns="0" rIns="0">
            <a:spAutoFit/>
          </a:bodyPr>
          <a:lstStyle/>
          <a:p>
            <a:pPr algn="l">
              <a:lnSpc>
                <a:spcPts val="2250"/>
              </a:lnSpc>
            </a:pPr>
            <a:r>
              <a:rPr lang="en-US" sz="1875">
                <a:solidFill>
                  <a:srgbClr val="9AA4B2"/>
                </a:solidFill>
                <a:latin typeface="Calibri (MS)"/>
                <a:ea typeface="Calibri (MS)"/>
                <a:cs typeface="Calibri (MS)"/>
                <a:sym typeface="Calibri (MS)"/>
              </a:rPr>
              <a:t>label players High / Low</a:t>
            </a:r>
          </a:p>
        </p:txBody>
      </p:sp>
      <p:sp>
        <p:nvSpPr>
          <p:cNvPr name="TextBox 154" id="154"/>
          <p:cNvSpPr txBox="true"/>
          <p:nvPr/>
        </p:nvSpPr>
        <p:spPr>
          <a:xfrm rot="0">
            <a:off x="14607540" y="7752588"/>
            <a:ext cx="2606040" cy="861060"/>
          </a:xfrm>
          <a:prstGeom prst="rect">
            <a:avLst/>
          </a:prstGeom>
        </p:spPr>
        <p:txBody>
          <a:bodyPr anchor="t" rtlCol="false" tIns="0" lIns="0" bIns="0" rIns="0">
            <a:spAutoFit/>
          </a:bodyPr>
          <a:lstStyle/>
          <a:p>
            <a:pPr algn="l">
              <a:lnSpc>
                <a:spcPts val="2250"/>
              </a:lnSpc>
            </a:pPr>
            <a:r>
              <a:rPr lang="en-US" sz="1875">
                <a:solidFill>
                  <a:srgbClr val="9AA4B2"/>
                </a:solidFill>
                <a:latin typeface="Calibri (MS)"/>
                <a:ea typeface="Calibri (MS)"/>
                <a:cs typeface="Calibri (MS)"/>
                <a:sym typeface="Calibri (MS)"/>
              </a:rPr>
              <a:t>discover player groups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Problem &amp; Motivation</a:t>
            </a:r>
          </a:p>
        </p:txBody>
      </p:sp>
      <p:grpSp>
        <p:nvGrpSpPr>
          <p:cNvPr name="Group 5" id="5"/>
          <p:cNvGrpSpPr/>
          <p:nvPr/>
        </p:nvGrpSpPr>
        <p:grpSpPr>
          <a:xfrm rot="0">
            <a:off x="822960" y="1536192"/>
            <a:ext cx="16637508" cy="480060"/>
            <a:chOff x="0" y="0"/>
            <a:chExt cx="22183344" cy="640080"/>
          </a:xfrm>
        </p:grpSpPr>
        <p:sp>
          <p:nvSpPr>
            <p:cNvPr name="Freeform 6" id="6"/>
            <p:cNvSpPr/>
            <p:nvPr/>
          </p:nvSpPr>
          <p:spPr>
            <a:xfrm flipH="false" flipV="false" rot="0">
              <a:off x="0" y="0"/>
              <a:ext cx="22183344" cy="640080"/>
            </a:xfrm>
            <a:custGeom>
              <a:avLst/>
              <a:gdLst/>
              <a:ahLst/>
              <a:cxnLst/>
              <a:rect r="r" b="b" t="t" l="l"/>
              <a:pathLst>
                <a:path h="640080" w="22183344">
                  <a:moveTo>
                    <a:pt x="0" y="0"/>
                  </a:moveTo>
                  <a:lnTo>
                    <a:pt x="22183344" y="0"/>
                  </a:lnTo>
                  <a:lnTo>
                    <a:pt x="22183344" y="640080"/>
                  </a:lnTo>
                  <a:lnTo>
                    <a:pt x="0" y="640080"/>
                  </a:lnTo>
                  <a:close/>
                </a:path>
              </a:pathLst>
            </a:custGeom>
            <a:blipFill>
              <a:blip r:embed="rId3">
                <a:alphaModFix amt="0"/>
              </a:blip>
              <a:stretch>
                <a:fillRect l="0" t="-625295" r="0" b="-625295"/>
              </a:stretch>
            </a:blipFill>
          </p:spPr>
        </p:sp>
        <p:sp>
          <p:nvSpPr>
            <p:cNvPr name="TextBox 7" id="7"/>
            <p:cNvSpPr txBox="true"/>
            <p:nvPr/>
          </p:nvSpPr>
          <p:spPr>
            <a:xfrm>
              <a:off x="0" y="-47625"/>
              <a:ext cx="22183344" cy="687705"/>
            </a:xfrm>
            <a:prstGeom prst="rect">
              <a:avLst/>
            </a:prstGeom>
          </p:spPr>
          <p:txBody>
            <a:bodyPr anchor="ctr" rtlCol="false" tIns="0" lIns="0" bIns="0" rIns="0"/>
            <a:lstStyle/>
            <a:p>
              <a:pPr algn="l">
                <a:lnSpc>
                  <a:spcPts val="2520"/>
                </a:lnSpc>
              </a:pPr>
              <a:r>
                <a:rPr lang="en-US" sz="2100">
                  <a:solidFill>
                    <a:srgbClr val="9AA4B2"/>
                  </a:solidFill>
                  <a:latin typeface="Calibri (MS)"/>
                  <a:ea typeface="Calibri (MS)"/>
                  <a:cs typeface="Calibri (MS)"/>
                  <a:sym typeface="Calibri (MS)"/>
                </a:rPr>
                <a:t>Why football data, and why machine learning</a:t>
              </a:r>
            </a:p>
          </p:txBody>
        </p:sp>
      </p:grpSp>
      <p:grpSp>
        <p:nvGrpSpPr>
          <p:cNvPr name="Group 8" id="8"/>
          <p:cNvGrpSpPr/>
          <p:nvPr/>
        </p:nvGrpSpPr>
        <p:grpSpPr>
          <a:xfrm rot="0">
            <a:off x="822960" y="9710928"/>
            <a:ext cx="10972800" cy="342900"/>
            <a:chOff x="0" y="0"/>
            <a:chExt cx="14630400" cy="457200"/>
          </a:xfrm>
        </p:grpSpPr>
        <p:sp>
          <p:nvSpPr>
            <p:cNvPr name="Freeform 9" id="9"/>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10" id="10"/>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11" id="11"/>
          <p:cNvGrpSpPr/>
          <p:nvPr/>
        </p:nvGrpSpPr>
        <p:grpSpPr>
          <a:xfrm rot="0">
            <a:off x="16088868" y="9710928"/>
            <a:ext cx="1371600" cy="342900"/>
            <a:chOff x="0" y="0"/>
            <a:chExt cx="1828800" cy="457200"/>
          </a:xfrm>
        </p:grpSpPr>
        <p:sp>
          <p:nvSpPr>
            <p:cNvPr name="Freeform 12" id="12"/>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3" id="13"/>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2</a:t>
              </a:r>
            </a:p>
          </p:txBody>
        </p:sp>
      </p:grpSp>
      <p:grpSp>
        <p:nvGrpSpPr>
          <p:cNvPr name="Group 14" id="14"/>
          <p:cNvGrpSpPr/>
          <p:nvPr/>
        </p:nvGrpSpPr>
        <p:grpSpPr>
          <a:xfrm rot="0">
            <a:off x="815816" y="2324576"/>
            <a:ext cx="8175307" cy="2826067"/>
            <a:chOff x="0" y="0"/>
            <a:chExt cx="10900410" cy="3768090"/>
          </a:xfrm>
        </p:grpSpPr>
        <p:sp>
          <p:nvSpPr>
            <p:cNvPr name="Freeform 15" id="15"/>
            <p:cNvSpPr/>
            <p:nvPr/>
          </p:nvSpPr>
          <p:spPr>
            <a:xfrm flipH="false" flipV="false" rot="0">
              <a:off x="0" y="0"/>
              <a:ext cx="10900410" cy="3768090"/>
            </a:xfrm>
            <a:custGeom>
              <a:avLst/>
              <a:gdLst/>
              <a:ahLst/>
              <a:cxnLst/>
              <a:rect r="r" b="b" t="t" l="l"/>
              <a:pathLst>
                <a:path h="3768090" w="10900410">
                  <a:moveTo>
                    <a:pt x="0" y="147066"/>
                  </a:moveTo>
                  <a:cubicBezTo>
                    <a:pt x="0" y="65786"/>
                    <a:pt x="65786" y="0"/>
                    <a:pt x="147066" y="0"/>
                  </a:cubicBezTo>
                  <a:lnTo>
                    <a:pt x="10753344" y="0"/>
                  </a:lnTo>
                  <a:cubicBezTo>
                    <a:pt x="10834497" y="0"/>
                    <a:pt x="10900410" y="65786"/>
                    <a:pt x="10900410" y="147066"/>
                  </a:cubicBezTo>
                  <a:lnTo>
                    <a:pt x="10900410" y="3621024"/>
                  </a:lnTo>
                  <a:cubicBezTo>
                    <a:pt x="10900410" y="3702177"/>
                    <a:pt x="10834624" y="3768090"/>
                    <a:pt x="10753344" y="3768090"/>
                  </a:cubicBezTo>
                  <a:lnTo>
                    <a:pt x="147066" y="3768090"/>
                  </a:lnTo>
                  <a:cubicBezTo>
                    <a:pt x="65786" y="3768090"/>
                    <a:pt x="0" y="3702304"/>
                    <a:pt x="0" y="3621024"/>
                  </a:cubicBezTo>
                  <a:close/>
                </a:path>
              </a:pathLst>
            </a:custGeom>
            <a:solidFill>
              <a:srgbClr val="161B22"/>
            </a:solidFill>
            <a:ln w="14288" cap="sq">
              <a:solidFill>
                <a:srgbClr val="2A323D"/>
              </a:solidFill>
              <a:prstDash val="solid"/>
              <a:miter/>
            </a:ln>
          </p:spPr>
        </p:sp>
      </p:grpSp>
      <p:grpSp>
        <p:nvGrpSpPr>
          <p:cNvPr name="Group 16" id="16"/>
          <p:cNvGrpSpPr/>
          <p:nvPr/>
        </p:nvGrpSpPr>
        <p:grpSpPr>
          <a:xfrm rot="0">
            <a:off x="1234440" y="2674620"/>
            <a:ext cx="1097280" cy="822960"/>
            <a:chOff x="0" y="0"/>
            <a:chExt cx="1463040" cy="1097280"/>
          </a:xfrm>
        </p:grpSpPr>
        <p:sp>
          <p:nvSpPr>
            <p:cNvPr name="Freeform 17" id="17"/>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3">
                <a:alphaModFix amt="0"/>
              </a:blip>
              <a:stretch>
                <a:fillRect l="-46227" t="0" r="-46227" b="0"/>
              </a:stretch>
            </a:blipFill>
          </p:spPr>
        </p:sp>
        <p:sp>
          <p:nvSpPr>
            <p:cNvPr name="TextBox 18" id="18"/>
            <p:cNvSpPr txBox="true"/>
            <p:nvPr/>
          </p:nvSpPr>
          <p:spPr>
            <a:xfrm>
              <a:off x="0" y="-19050"/>
              <a:ext cx="1463040" cy="1116330"/>
            </a:xfrm>
            <a:prstGeom prst="rect">
              <a:avLst/>
            </a:prstGeom>
          </p:spPr>
          <p:txBody>
            <a:bodyPr anchor="ctr" rtlCol="false" tIns="0" lIns="0" bIns="0" rIns="0"/>
            <a:lstStyle/>
            <a:p>
              <a:pPr algn="l">
                <a:lnSpc>
                  <a:spcPts val="5040"/>
                </a:lnSpc>
              </a:pPr>
              <a:r>
                <a:rPr lang="en-US" sz="4200" b="true">
                  <a:solidFill>
                    <a:srgbClr val="22D3EE"/>
                  </a:solidFill>
                  <a:latin typeface="Arial Bold"/>
                  <a:ea typeface="Arial Bold"/>
                  <a:cs typeface="Arial Bold"/>
                  <a:sym typeface="Arial Bold"/>
                </a:rPr>
                <a:t>01</a:t>
              </a:r>
            </a:p>
          </p:txBody>
        </p:sp>
      </p:grpSp>
      <p:grpSp>
        <p:nvGrpSpPr>
          <p:cNvPr name="Group 19" id="19"/>
          <p:cNvGrpSpPr/>
          <p:nvPr/>
        </p:nvGrpSpPr>
        <p:grpSpPr>
          <a:xfrm rot="0">
            <a:off x="2468880" y="2743200"/>
            <a:ext cx="6172200" cy="685800"/>
            <a:chOff x="0" y="0"/>
            <a:chExt cx="8229600" cy="914400"/>
          </a:xfrm>
        </p:grpSpPr>
        <p:sp>
          <p:nvSpPr>
            <p:cNvPr name="Freeform 20" id="20"/>
            <p:cNvSpPr/>
            <p:nvPr/>
          </p:nvSpPr>
          <p:spPr>
            <a:xfrm flipH="false" flipV="false" rot="0">
              <a:off x="0" y="0"/>
              <a:ext cx="8229600" cy="914400"/>
            </a:xfrm>
            <a:custGeom>
              <a:avLst/>
              <a:gdLst/>
              <a:ahLst/>
              <a:cxnLst/>
              <a:rect r="r" b="b" t="t" l="l"/>
              <a:pathLst>
                <a:path h="914400" w="8229600">
                  <a:moveTo>
                    <a:pt x="0" y="0"/>
                  </a:moveTo>
                  <a:lnTo>
                    <a:pt x="8229600" y="0"/>
                  </a:lnTo>
                  <a:lnTo>
                    <a:pt x="8229600" y="914400"/>
                  </a:lnTo>
                  <a:lnTo>
                    <a:pt x="0" y="914400"/>
                  </a:lnTo>
                  <a:close/>
                </a:path>
              </a:pathLst>
            </a:custGeom>
            <a:blipFill>
              <a:blip r:embed="rId3">
                <a:alphaModFix amt="0"/>
              </a:blip>
              <a:stretch>
                <a:fillRect l="0" t="-125365" r="0" b="-125365"/>
              </a:stretch>
            </a:blipFill>
          </p:spPr>
        </p:sp>
        <p:sp>
          <p:nvSpPr>
            <p:cNvPr name="TextBox 21" id="21"/>
            <p:cNvSpPr txBox="true"/>
            <p:nvPr/>
          </p:nvSpPr>
          <p:spPr>
            <a:xfrm>
              <a:off x="0" y="-57150"/>
              <a:ext cx="8229600" cy="971550"/>
            </a:xfrm>
            <a:prstGeom prst="rect">
              <a:avLst/>
            </a:prstGeom>
          </p:spPr>
          <p:txBody>
            <a:bodyPr anchor="ctr" rtlCol="false" tIns="0" lIns="0" bIns="0" rIns="0"/>
            <a:lstStyle/>
            <a:p>
              <a:pPr algn="l">
                <a:lnSpc>
                  <a:spcPts val="3240"/>
                </a:lnSpc>
              </a:pPr>
              <a:r>
                <a:rPr lang="en-US" sz="2700" b="true">
                  <a:solidFill>
                    <a:srgbClr val="E8ECF1"/>
                  </a:solidFill>
                  <a:latin typeface="Calibri (MS) Bold"/>
                  <a:ea typeface="Calibri (MS) Bold"/>
                  <a:cs typeface="Calibri (MS) Bold"/>
                  <a:sym typeface="Calibri (MS) Bold"/>
                </a:rPr>
                <a:t>A lot of data</a:t>
              </a:r>
            </a:p>
          </p:txBody>
        </p:sp>
      </p:grpSp>
      <p:sp>
        <p:nvSpPr>
          <p:cNvPr name="TextBox 22" id="22"/>
          <p:cNvSpPr txBox="true"/>
          <p:nvPr/>
        </p:nvSpPr>
        <p:spPr>
          <a:xfrm rot="0">
            <a:off x="1234440" y="3655695"/>
            <a:ext cx="7338060" cy="1282065"/>
          </a:xfrm>
          <a:prstGeom prst="rect">
            <a:avLst/>
          </a:prstGeom>
        </p:spPr>
        <p:txBody>
          <a:bodyPr anchor="t" rtlCol="false" tIns="0" lIns="0" bIns="0" rIns="0">
            <a:spAutoFit/>
          </a:bodyPr>
          <a:lstStyle/>
          <a:p>
            <a:pPr algn="l">
              <a:lnSpc>
                <a:spcPts val="2790"/>
              </a:lnSpc>
            </a:pPr>
            <a:r>
              <a:rPr lang="en-US" sz="2325">
                <a:solidFill>
                  <a:srgbClr val="9AA4B2"/>
                </a:solidFill>
                <a:latin typeface="Calibri (MS)"/>
                <a:ea typeface="Calibri (MS)"/>
                <a:cs typeface="Calibri (MS)"/>
                <a:sym typeface="Calibri (MS)"/>
              </a:rPr>
              <a:t>A single match is recorded as thousands of events: passes, shots, tackles.</a:t>
            </a:r>
          </a:p>
        </p:txBody>
      </p:sp>
      <p:grpSp>
        <p:nvGrpSpPr>
          <p:cNvPr name="Group 23" id="23"/>
          <p:cNvGrpSpPr/>
          <p:nvPr/>
        </p:nvGrpSpPr>
        <p:grpSpPr>
          <a:xfrm rot="0">
            <a:off x="9292304" y="2324576"/>
            <a:ext cx="8175307" cy="2826067"/>
            <a:chOff x="0" y="0"/>
            <a:chExt cx="10900410" cy="3768090"/>
          </a:xfrm>
        </p:grpSpPr>
        <p:sp>
          <p:nvSpPr>
            <p:cNvPr name="Freeform 24" id="24"/>
            <p:cNvSpPr/>
            <p:nvPr/>
          </p:nvSpPr>
          <p:spPr>
            <a:xfrm flipH="false" flipV="false" rot="0">
              <a:off x="0" y="0"/>
              <a:ext cx="10900410" cy="3768090"/>
            </a:xfrm>
            <a:custGeom>
              <a:avLst/>
              <a:gdLst/>
              <a:ahLst/>
              <a:cxnLst/>
              <a:rect r="r" b="b" t="t" l="l"/>
              <a:pathLst>
                <a:path h="3768090" w="10900410">
                  <a:moveTo>
                    <a:pt x="0" y="147066"/>
                  </a:moveTo>
                  <a:cubicBezTo>
                    <a:pt x="0" y="65786"/>
                    <a:pt x="65786" y="0"/>
                    <a:pt x="147066" y="0"/>
                  </a:cubicBezTo>
                  <a:lnTo>
                    <a:pt x="10753344" y="0"/>
                  </a:lnTo>
                  <a:cubicBezTo>
                    <a:pt x="10834497" y="0"/>
                    <a:pt x="10900410" y="65786"/>
                    <a:pt x="10900410" y="147066"/>
                  </a:cubicBezTo>
                  <a:lnTo>
                    <a:pt x="10900410" y="3621024"/>
                  </a:lnTo>
                  <a:cubicBezTo>
                    <a:pt x="10900410" y="3702177"/>
                    <a:pt x="10834624" y="3768090"/>
                    <a:pt x="10753344" y="3768090"/>
                  </a:cubicBezTo>
                  <a:lnTo>
                    <a:pt x="147066" y="3768090"/>
                  </a:lnTo>
                  <a:cubicBezTo>
                    <a:pt x="65786" y="3768090"/>
                    <a:pt x="0" y="3702304"/>
                    <a:pt x="0" y="3621024"/>
                  </a:cubicBezTo>
                  <a:close/>
                </a:path>
              </a:pathLst>
            </a:custGeom>
            <a:solidFill>
              <a:srgbClr val="161B22"/>
            </a:solidFill>
            <a:ln w="14288" cap="sq">
              <a:solidFill>
                <a:srgbClr val="2A323D"/>
              </a:solidFill>
              <a:prstDash val="solid"/>
              <a:miter/>
            </a:ln>
          </p:spPr>
        </p:sp>
      </p:grpSp>
      <p:grpSp>
        <p:nvGrpSpPr>
          <p:cNvPr name="Group 25" id="25"/>
          <p:cNvGrpSpPr/>
          <p:nvPr/>
        </p:nvGrpSpPr>
        <p:grpSpPr>
          <a:xfrm rot="0">
            <a:off x="9710928" y="2674620"/>
            <a:ext cx="1097280" cy="822960"/>
            <a:chOff x="0" y="0"/>
            <a:chExt cx="1463040" cy="1097280"/>
          </a:xfrm>
        </p:grpSpPr>
        <p:sp>
          <p:nvSpPr>
            <p:cNvPr name="Freeform 26" id="26"/>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3">
                <a:alphaModFix amt="0"/>
              </a:blip>
              <a:stretch>
                <a:fillRect l="-46227" t="0" r="-46227" b="0"/>
              </a:stretch>
            </a:blipFill>
          </p:spPr>
        </p:sp>
        <p:sp>
          <p:nvSpPr>
            <p:cNvPr name="TextBox 27" id="27"/>
            <p:cNvSpPr txBox="true"/>
            <p:nvPr/>
          </p:nvSpPr>
          <p:spPr>
            <a:xfrm>
              <a:off x="0" y="-19050"/>
              <a:ext cx="1463040" cy="1116330"/>
            </a:xfrm>
            <a:prstGeom prst="rect">
              <a:avLst/>
            </a:prstGeom>
          </p:spPr>
          <p:txBody>
            <a:bodyPr anchor="ctr" rtlCol="false" tIns="0" lIns="0" bIns="0" rIns="0"/>
            <a:lstStyle/>
            <a:p>
              <a:pPr algn="l">
                <a:lnSpc>
                  <a:spcPts val="5040"/>
                </a:lnSpc>
              </a:pPr>
              <a:r>
                <a:rPr lang="en-US" sz="4200" b="true">
                  <a:solidFill>
                    <a:srgbClr val="22D3EE"/>
                  </a:solidFill>
                  <a:latin typeface="Arial Bold"/>
                  <a:ea typeface="Arial Bold"/>
                  <a:cs typeface="Arial Bold"/>
                  <a:sym typeface="Arial Bold"/>
                </a:rPr>
                <a:t>02</a:t>
              </a:r>
            </a:p>
          </p:txBody>
        </p:sp>
      </p:grpSp>
      <p:grpSp>
        <p:nvGrpSpPr>
          <p:cNvPr name="Group 28" id="28"/>
          <p:cNvGrpSpPr/>
          <p:nvPr/>
        </p:nvGrpSpPr>
        <p:grpSpPr>
          <a:xfrm rot="0">
            <a:off x="10945368" y="2743200"/>
            <a:ext cx="6172200" cy="685800"/>
            <a:chOff x="0" y="0"/>
            <a:chExt cx="8229600" cy="914400"/>
          </a:xfrm>
        </p:grpSpPr>
        <p:sp>
          <p:nvSpPr>
            <p:cNvPr name="Freeform 29" id="29"/>
            <p:cNvSpPr/>
            <p:nvPr/>
          </p:nvSpPr>
          <p:spPr>
            <a:xfrm flipH="false" flipV="false" rot="0">
              <a:off x="0" y="0"/>
              <a:ext cx="8229600" cy="914400"/>
            </a:xfrm>
            <a:custGeom>
              <a:avLst/>
              <a:gdLst/>
              <a:ahLst/>
              <a:cxnLst/>
              <a:rect r="r" b="b" t="t" l="l"/>
              <a:pathLst>
                <a:path h="914400" w="8229600">
                  <a:moveTo>
                    <a:pt x="0" y="0"/>
                  </a:moveTo>
                  <a:lnTo>
                    <a:pt x="8229600" y="0"/>
                  </a:lnTo>
                  <a:lnTo>
                    <a:pt x="8229600" y="914400"/>
                  </a:lnTo>
                  <a:lnTo>
                    <a:pt x="0" y="914400"/>
                  </a:lnTo>
                  <a:close/>
                </a:path>
              </a:pathLst>
            </a:custGeom>
            <a:blipFill>
              <a:blip r:embed="rId3">
                <a:alphaModFix amt="0"/>
              </a:blip>
              <a:stretch>
                <a:fillRect l="0" t="-125365" r="0" b="-125365"/>
              </a:stretch>
            </a:blipFill>
          </p:spPr>
        </p:sp>
        <p:sp>
          <p:nvSpPr>
            <p:cNvPr name="TextBox 30" id="30"/>
            <p:cNvSpPr txBox="true"/>
            <p:nvPr/>
          </p:nvSpPr>
          <p:spPr>
            <a:xfrm>
              <a:off x="0" y="-57150"/>
              <a:ext cx="8229600" cy="971550"/>
            </a:xfrm>
            <a:prstGeom prst="rect">
              <a:avLst/>
            </a:prstGeom>
          </p:spPr>
          <p:txBody>
            <a:bodyPr anchor="ctr" rtlCol="false" tIns="0" lIns="0" bIns="0" rIns="0"/>
            <a:lstStyle/>
            <a:p>
              <a:pPr algn="l">
                <a:lnSpc>
                  <a:spcPts val="3240"/>
                </a:lnSpc>
              </a:pPr>
              <a:r>
                <a:rPr lang="en-US" sz="2700" b="true">
                  <a:solidFill>
                    <a:srgbClr val="E8ECF1"/>
                  </a:solidFill>
                  <a:latin typeface="Calibri (MS) Bold"/>
                  <a:ea typeface="Calibri (MS) Bold"/>
                  <a:cs typeface="Calibri (MS) Bold"/>
                  <a:sym typeface="Calibri (MS) Bold"/>
                </a:rPr>
                <a:t>Hard to analyse by hand</a:t>
              </a:r>
            </a:p>
          </p:txBody>
        </p:sp>
      </p:grpSp>
      <p:sp>
        <p:nvSpPr>
          <p:cNvPr name="TextBox 31" id="31"/>
          <p:cNvSpPr txBox="true"/>
          <p:nvPr/>
        </p:nvSpPr>
        <p:spPr>
          <a:xfrm rot="0">
            <a:off x="9710928" y="3655695"/>
            <a:ext cx="7338060" cy="1282065"/>
          </a:xfrm>
          <a:prstGeom prst="rect">
            <a:avLst/>
          </a:prstGeom>
        </p:spPr>
        <p:txBody>
          <a:bodyPr anchor="t" rtlCol="false" tIns="0" lIns="0" bIns="0" rIns="0">
            <a:spAutoFit/>
          </a:bodyPr>
          <a:lstStyle/>
          <a:p>
            <a:pPr algn="l">
              <a:lnSpc>
                <a:spcPts val="2790"/>
              </a:lnSpc>
            </a:pPr>
            <a:r>
              <a:rPr lang="en-US" sz="2325">
                <a:solidFill>
                  <a:srgbClr val="9AA4B2"/>
                </a:solidFill>
                <a:latin typeface="Calibri (MS)"/>
                <a:ea typeface="Calibri (MS)"/>
                <a:cs typeface="Calibri (MS)"/>
                <a:sym typeface="Calibri (MS)"/>
              </a:rPr>
              <a:t>Comparing hundreds of players across many statistics manually is slow and subjective.</a:t>
            </a:r>
          </a:p>
        </p:txBody>
      </p:sp>
      <p:grpSp>
        <p:nvGrpSpPr>
          <p:cNvPr name="Group 32" id="32"/>
          <p:cNvGrpSpPr/>
          <p:nvPr/>
        </p:nvGrpSpPr>
        <p:grpSpPr>
          <a:xfrm rot="0">
            <a:off x="815816" y="5479256"/>
            <a:ext cx="8175307" cy="2826067"/>
            <a:chOff x="0" y="0"/>
            <a:chExt cx="10900410" cy="3768090"/>
          </a:xfrm>
        </p:grpSpPr>
        <p:sp>
          <p:nvSpPr>
            <p:cNvPr name="Freeform 33" id="33"/>
            <p:cNvSpPr/>
            <p:nvPr/>
          </p:nvSpPr>
          <p:spPr>
            <a:xfrm flipH="false" flipV="false" rot="0">
              <a:off x="0" y="0"/>
              <a:ext cx="10900410" cy="3768090"/>
            </a:xfrm>
            <a:custGeom>
              <a:avLst/>
              <a:gdLst/>
              <a:ahLst/>
              <a:cxnLst/>
              <a:rect r="r" b="b" t="t" l="l"/>
              <a:pathLst>
                <a:path h="3768090" w="10900410">
                  <a:moveTo>
                    <a:pt x="0" y="147066"/>
                  </a:moveTo>
                  <a:cubicBezTo>
                    <a:pt x="0" y="65786"/>
                    <a:pt x="65786" y="0"/>
                    <a:pt x="147066" y="0"/>
                  </a:cubicBezTo>
                  <a:lnTo>
                    <a:pt x="10753344" y="0"/>
                  </a:lnTo>
                  <a:cubicBezTo>
                    <a:pt x="10834497" y="0"/>
                    <a:pt x="10900410" y="65786"/>
                    <a:pt x="10900410" y="147066"/>
                  </a:cubicBezTo>
                  <a:lnTo>
                    <a:pt x="10900410" y="3621024"/>
                  </a:lnTo>
                  <a:cubicBezTo>
                    <a:pt x="10900410" y="3702177"/>
                    <a:pt x="10834624" y="3768090"/>
                    <a:pt x="10753344" y="3768090"/>
                  </a:cubicBezTo>
                  <a:lnTo>
                    <a:pt x="147066" y="3768090"/>
                  </a:lnTo>
                  <a:cubicBezTo>
                    <a:pt x="65786" y="3768090"/>
                    <a:pt x="0" y="3702304"/>
                    <a:pt x="0" y="3621024"/>
                  </a:cubicBezTo>
                  <a:close/>
                </a:path>
              </a:pathLst>
            </a:custGeom>
            <a:solidFill>
              <a:srgbClr val="161B22"/>
            </a:solidFill>
            <a:ln w="14288" cap="sq">
              <a:solidFill>
                <a:srgbClr val="2A323D"/>
              </a:solidFill>
              <a:prstDash val="solid"/>
              <a:miter/>
            </a:ln>
          </p:spPr>
        </p:sp>
      </p:grpSp>
      <p:grpSp>
        <p:nvGrpSpPr>
          <p:cNvPr name="Group 34" id="34"/>
          <p:cNvGrpSpPr/>
          <p:nvPr/>
        </p:nvGrpSpPr>
        <p:grpSpPr>
          <a:xfrm rot="0">
            <a:off x="1234440" y="5829300"/>
            <a:ext cx="1097280" cy="822960"/>
            <a:chOff x="0" y="0"/>
            <a:chExt cx="1463040" cy="1097280"/>
          </a:xfrm>
        </p:grpSpPr>
        <p:sp>
          <p:nvSpPr>
            <p:cNvPr name="Freeform 35" id="35"/>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3">
                <a:alphaModFix amt="0"/>
              </a:blip>
              <a:stretch>
                <a:fillRect l="-46227" t="0" r="-46227" b="0"/>
              </a:stretch>
            </a:blipFill>
          </p:spPr>
        </p:sp>
        <p:sp>
          <p:nvSpPr>
            <p:cNvPr name="TextBox 36" id="36"/>
            <p:cNvSpPr txBox="true"/>
            <p:nvPr/>
          </p:nvSpPr>
          <p:spPr>
            <a:xfrm>
              <a:off x="0" y="-19050"/>
              <a:ext cx="1463040" cy="1116330"/>
            </a:xfrm>
            <a:prstGeom prst="rect">
              <a:avLst/>
            </a:prstGeom>
          </p:spPr>
          <p:txBody>
            <a:bodyPr anchor="ctr" rtlCol="false" tIns="0" lIns="0" bIns="0" rIns="0"/>
            <a:lstStyle/>
            <a:p>
              <a:pPr algn="l">
                <a:lnSpc>
                  <a:spcPts val="5040"/>
                </a:lnSpc>
              </a:pPr>
              <a:r>
                <a:rPr lang="en-US" sz="4200" b="true">
                  <a:solidFill>
                    <a:srgbClr val="22D3EE"/>
                  </a:solidFill>
                  <a:latin typeface="Arial Bold"/>
                  <a:ea typeface="Arial Bold"/>
                  <a:cs typeface="Arial Bold"/>
                  <a:sym typeface="Arial Bold"/>
                </a:rPr>
                <a:t>03</a:t>
              </a:r>
            </a:p>
          </p:txBody>
        </p:sp>
      </p:grpSp>
      <p:grpSp>
        <p:nvGrpSpPr>
          <p:cNvPr name="Group 37" id="37"/>
          <p:cNvGrpSpPr/>
          <p:nvPr/>
        </p:nvGrpSpPr>
        <p:grpSpPr>
          <a:xfrm rot="0">
            <a:off x="2468880" y="5897880"/>
            <a:ext cx="6172200" cy="685800"/>
            <a:chOff x="0" y="0"/>
            <a:chExt cx="8229600" cy="914400"/>
          </a:xfrm>
        </p:grpSpPr>
        <p:sp>
          <p:nvSpPr>
            <p:cNvPr name="Freeform 38" id="38"/>
            <p:cNvSpPr/>
            <p:nvPr/>
          </p:nvSpPr>
          <p:spPr>
            <a:xfrm flipH="false" flipV="false" rot="0">
              <a:off x="0" y="0"/>
              <a:ext cx="8229600" cy="914400"/>
            </a:xfrm>
            <a:custGeom>
              <a:avLst/>
              <a:gdLst/>
              <a:ahLst/>
              <a:cxnLst/>
              <a:rect r="r" b="b" t="t" l="l"/>
              <a:pathLst>
                <a:path h="914400" w="8229600">
                  <a:moveTo>
                    <a:pt x="0" y="0"/>
                  </a:moveTo>
                  <a:lnTo>
                    <a:pt x="8229600" y="0"/>
                  </a:lnTo>
                  <a:lnTo>
                    <a:pt x="8229600" y="914400"/>
                  </a:lnTo>
                  <a:lnTo>
                    <a:pt x="0" y="914400"/>
                  </a:lnTo>
                  <a:close/>
                </a:path>
              </a:pathLst>
            </a:custGeom>
            <a:blipFill>
              <a:blip r:embed="rId3">
                <a:alphaModFix amt="0"/>
              </a:blip>
              <a:stretch>
                <a:fillRect l="0" t="-125365" r="0" b="-125365"/>
              </a:stretch>
            </a:blipFill>
          </p:spPr>
        </p:sp>
        <p:sp>
          <p:nvSpPr>
            <p:cNvPr name="TextBox 39" id="39"/>
            <p:cNvSpPr txBox="true"/>
            <p:nvPr/>
          </p:nvSpPr>
          <p:spPr>
            <a:xfrm>
              <a:off x="0" y="-57150"/>
              <a:ext cx="8229600" cy="971550"/>
            </a:xfrm>
            <a:prstGeom prst="rect">
              <a:avLst/>
            </a:prstGeom>
          </p:spPr>
          <p:txBody>
            <a:bodyPr anchor="ctr" rtlCol="false" tIns="0" lIns="0" bIns="0" rIns="0"/>
            <a:lstStyle/>
            <a:p>
              <a:pPr algn="l">
                <a:lnSpc>
                  <a:spcPts val="3240"/>
                </a:lnSpc>
              </a:pPr>
              <a:r>
                <a:rPr lang="en-US" sz="2700" b="true">
                  <a:solidFill>
                    <a:srgbClr val="E8ECF1"/>
                  </a:solidFill>
                  <a:latin typeface="Calibri (MS) Bold"/>
                  <a:ea typeface="Calibri (MS) Bold"/>
                  <a:cs typeface="Calibri (MS) Bold"/>
                  <a:sym typeface="Calibri (MS) Bold"/>
                </a:rPr>
                <a:t>ML learns patterns</a:t>
              </a:r>
            </a:p>
          </p:txBody>
        </p:sp>
      </p:grpSp>
      <p:sp>
        <p:nvSpPr>
          <p:cNvPr name="TextBox 40" id="40"/>
          <p:cNvSpPr txBox="true"/>
          <p:nvPr/>
        </p:nvSpPr>
        <p:spPr>
          <a:xfrm rot="0">
            <a:off x="1234440" y="6810375"/>
            <a:ext cx="7338060" cy="1282065"/>
          </a:xfrm>
          <a:prstGeom prst="rect">
            <a:avLst/>
          </a:prstGeom>
        </p:spPr>
        <p:txBody>
          <a:bodyPr anchor="t" rtlCol="false" tIns="0" lIns="0" bIns="0" rIns="0">
            <a:spAutoFit/>
          </a:bodyPr>
          <a:lstStyle/>
          <a:p>
            <a:pPr algn="l">
              <a:lnSpc>
                <a:spcPts val="2790"/>
              </a:lnSpc>
            </a:pPr>
            <a:r>
              <a:rPr lang="en-US" sz="2325">
                <a:solidFill>
                  <a:srgbClr val="9AA4B2"/>
                </a:solidFill>
                <a:latin typeface="Calibri (MS)"/>
                <a:ea typeface="Calibri (MS)"/>
                <a:cs typeface="Calibri (MS)"/>
                <a:sym typeface="Calibri (MS)"/>
              </a:rPr>
              <a:t>Models can learn how statistics relate to performance and group similar players.</a:t>
            </a:r>
          </a:p>
        </p:txBody>
      </p:sp>
      <p:grpSp>
        <p:nvGrpSpPr>
          <p:cNvPr name="Group 41" id="41"/>
          <p:cNvGrpSpPr/>
          <p:nvPr/>
        </p:nvGrpSpPr>
        <p:grpSpPr>
          <a:xfrm rot="0">
            <a:off x="9292304" y="5479256"/>
            <a:ext cx="8175307" cy="2826067"/>
            <a:chOff x="0" y="0"/>
            <a:chExt cx="10900410" cy="3768090"/>
          </a:xfrm>
        </p:grpSpPr>
        <p:sp>
          <p:nvSpPr>
            <p:cNvPr name="Freeform 42" id="42"/>
            <p:cNvSpPr/>
            <p:nvPr/>
          </p:nvSpPr>
          <p:spPr>
            <a:xfrm flipH="false" flipV="false" rot="0">
              <a:off x="0" y="0"/>
              <a:ext cx="10900410" cy="3768090"/>
            </a:xfrm>
            <a:custGeom>
              <a:avLst/>
              <a:gdLst/>
              <a:ahLst/>
              <a:cxnLst/>
              <a:rect r="r" b="b" t="t" l="l"/>
              <a:pathLst>
                <a:path h="3768090" w="10900410">
                  <a:moveTo>
                    <a:pt x="0" y="147066"/>
                  </a:moveTo>
                  <a:cubicBezTo>
                    <a:pt x="0" y="65786"/>
                    <a:pt x="65786" y="0"/>
                    <a:pt x="147066" y="0"/>
                  </a:cubicBezTo>
                  <a:lnTo>
                    <a:pt x="10753344" y="0"/>
                  </a:lnTo>
                  <a:cubicBezTo>
                    <a:pt x="10834497" y="0"/>
                    <a:pt x="10900410" y="65786"/>
                    <a:pt x="10900410" y="147066"/>
                  </a:cubicBezTo>
                  <a:lnTo>
                    <a:pt x="10900410" y="3621024"/>
                  </a:lnTo>
                  <a:cubicBezTo>
                    <a:pt x="10900410" y="3702177"/>
                    <a:pt x="10834624" y="3768090"/>
                    <a:pt x="10753344" y="3768090"/>
                  </a:cubicBezTo>
                  <a:lnTo>
                    <a:pt x="147066" y="3768090"/>
                  </a:lnTo>
                  <a:cubicBezTo>
                    <a:pt x="65786" y="3768090"/>
                    <a:pt x="0" y="3702304"/>
                    <a:pt x="0" y="3621024"/>
                  </a:cubicBezTo>
                  <a:close/>
                </a:path>
              </a:pathLst>
            </a:custGeom>
            <a:solidFill>
              <a:srgbClr val="161B22"/>
            </a:solidFill>
            <a:ln w="14288" cap="sq">
              <a:solidFill>
                <a:srgbClr val="2A323D"/>
              </a:solidFill>
              <a:prstDash val="solid"/>
              <a:miter/>
            </a:ln>
          </p:spPr>
        </p:sp>
      </p:grpSp>
      <p:grpSp>
        <p:nvGrpSpPr>
          <p:cNvPr name="Group 43" id="43"/>
          <p:cNvGrpSpPr/>
          <p:nvPr/>
        </p:nvGrpSpPr>
        <p:grpSpPr>
          <a:xfrm rot="0">
            <a:off x="9710928" y="5829300"/>
            <a:ext cx="1097280" cy="822960"/>
            <a:chOff x="0" y="0"/>
            <a:chExt cx="1463040" cy="1097280"/>
          </a:xfrm>
        </p:grpSpPr>
        <p:sp>
          <p:nvSpPr>
            <p:cNvPr name="Freeform 44" id="44"/>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3">
                <a:alphaModFix amt="0"/>
              </a:blip>
              <a:stretch>
                <a:fillRect l="-46227" t="0" r="-46227" b="0"/>
              </a:stretch>
            </a:blipFill>
          </p:spPr>
        </p:sp>
        <p:sp>
          <p:nvSpPr>
            <p:cNvPr name="TextBox 45" id="45"/>
            <p:cNvSpPr txBox="true"/>
            <p:nvPr/>
          </p:nvSpPr>
          <p:spPr>
            <a:xfrm>
              <a:off x="0" y="-19050"/>
              <a:ext cx="1463040" cy="1116330"/>
            </a:xfrm>
            <a:prstGeom prst="rect">
              <a:avLst/>
            </a:prstGeom>
          </p:spPr>
          <p:txBody>
            <a:bodyPr anchor="ctr" rtlCol="false" tIns="0" lIns="0" bIns="0" rIns="0"/>
            <a:lstStyle/>
            <a:p>
              <a:pPr algn="l">
                <a:lnSpc>
                  <a:spcPts val="5040"/>
                </a:lnSpc>
              </a:pPr>
              <a:r>
                <a:rPr lang="en-US" sz="4200" b="true">
                  <a:solidFill>
                    <a:srgbClr val="22D3EE"/>
                  </a:solidFill>
                  <a:latin typeface="Arial Bold"/>
                  <a:ea typeface="Arial Bold"/>
                  <a:cs typeface="Arial Bold"/>
                  <a:sym typeface="Arial Bold"/>
                </a:rPr>
                <a:t>04</a:t>
              </a:r>
            </a:p>
          </p:txBody>
        </p:sp>
      </p:grpSp>
      <p:grpSp>
        <p:nvGrpSpPr>
          <p:cNvPr name="Group 46" id="46"/>
          <p:cNvGrpSpPr/>
          <p:nvPr/>
        </p:nvGrpSpPr>
        <p:grpSpPr>
          <a:xfrm rot="0">
            <a:off x="10945368" y="5897880"/>
            <a:ext cx="6172200" cy="685800"/>
            <a:chOff x="0" y="0"/>
            <a:chExt cx="8229600" cy="914400"/>
          </a:xfrm>
        </p:grpSpPr>
        <p:sp>
          <p:nvSpPr>
            <p:cNvPr name="Freeform 47" id="47"/>
            <p:cNvSpPr/>
            <p:nvPr/>
          </p:nvSpPr>
          <p:spPr>
            <a:xfrm flipH="false" flipV="false" rot="0">
              <a:off x="0" y="0"/>
              <a:ext cx="8229600" cy="914400"/>
            </a:xfrm>
            <a:custGeom>
              <a:avLst/>
              <a:gdLst/>
              <a:ahLst/>
              <a:cxnLst/>
              <a:rect r="r" b="b" t="t" l="l"/>
              <a:pathLst>
                <a:path h="914400" w="8229600">
                  <a:moveTo>
                    <a:pt x="0" y="0"/>
                  </a:moveTo>
                  <a:lnTo>
                    <a:pt x="8229600" y="0"/>
                  </a:lnTo>
                  <a:lnTo>
                    <a:pt x="8229600" y="914400"/>
                  </a:lnTo>
                  <a:lnTo>
                    <a:pt x="0" y="914400"/>
                  </a:lnTo>
                  <a:close/>
                </a:path>
              </a:pathLst>
            </a:custGeom>
            <a:blipFill>
              <a:blip r:embed="rId3">
                <a:alphaModFix amt="0"/>
              </a:blip>
              <a:stretch>
                <a:fillRect l="0" t="-125365" r="0" b="-125365"/>
              </a:stretch>
            </a:blipFill>
          </p:spPr>
        </p:sp>
        <p:sp>
          <p:nvSpPr>
            <p:cNvPr name="TextBox 48" id="48"/>
            <p:cNvSpPr txBox="true"/>
            <p:nvPr/>
          </p:nvSpPr>
          <p:spPr>
            <a:xfrm>
              <a:off x="0" y="-57150"/>
              <a:ext cx="8229600" cy="971550"/>
            </a:xfrm>
            <a:prstGeom prst="rect">
              <a:avLst/>
            </a:prstGeom>
          </p:spPr>
          <p:txBody>
            <a:bodyPr anchor="ctr" rtlCol="false" tIns="0" lIns="0" bIns="0" rIns="0"/>
            <a:lstStyle/>
            <a:p>
              <a:pPr algn="l">
                <a:lnSpc>
                  <a:spcPts val="3240"/>
                </a:lnSpc>
              </a:pPr>
              <a:r>
                <a:rPr lang="en-US" sz="2700" b="true">
                  <a:solidFill>
                    <a:srgbClr val="E8ECF1"/>
                  </a:solidFill>
                  <a:latin typeface="Calibri (MS) Bold"/>
                  <a:ea typeface="Calibri (MS) Bold"/>
                  <a:cs typeface="Calibri (MS) Bold"/>
                  <a:sym typeface="Calibri (MS) Bold"/>
                </a:rPr>
                <a:t>A good learning domain</a:t>
              </a:r>
            </a:p>
          </p:txBody>
        </p:sp>
      </p:grpSp>
      <p:sp>
        <p:nvSpPr>
          <p:cNvPr name="TextBox 49" id="49"/>
          <p:cNvSpPr txBox="true"/>
          <p:nvPr/>
        </p:nvSpPr>
        <p:spPr>
          <a:xfrm rot="0">
            <a:off x="9710928" y="6810375"/>
            <a:ext cx="7338060" cy="1282065"/>
          </a:xfrm>
          <a:prstGeom prst="rect">
            <a:avLst/>
          </a:prstGeom>
        </p:spPr>
        <p:txBody>
          <a:bodyPr anchor="t" rtlCol="false" tIns="0" lIns="0" bIns="0" rIns="0">
            <a:spAutoFit/>
          </a:bodyPr>
          <a:lstStyle/>
          <a:p>
            <a:pPr algn="l">
              <a:lnSpc>
                <a:spcPts val="2790"/>
              </a:lnSpc>
            </a:pPr>
            <a:r>
              <a:rPr lang="en-US" sz="2325">
                <a:solidFill>
                  <a:srgbClr val="9AA4B2"/>
                </a:solidFill>
                <a:latin typeface="Calibri (MS)"/>
                <a:ea typeface="Calibri (MS)"/>
                <a:cs typeface="Calibri (MS)"/>
                <a:sym typeface="Calibri (MS)"/>
              </a:rPr>
              <a:t>Real, numeric, tabular data: ideal for practising regression, classification and clustering.</a:t>
            </a:r>
          </a:p>
        </p:txBody>
      </p:sp>
      <p:grpSp>
        <p:nvGrpSpPr>
          <p:cNvPr name="Group 50" id="50"/>
          <p:cNvGrpSpPr/>
          <p:nvPr/>
        </p:nvGrpSpPr>
        <p:grpSpPr>
          <a:xfrm rot="0">
            <a:off x="815816" y="8633936"/>
            <a:ext cx="16651796" cy="837248"/>
            <a:chOff x="0" y="0"/>
            <a:chExt cx="22202394" cy="1116330"/>
          </a:xfrm>
        </p:grpSpPr>
        <p:sp>
          <p:nvSpPr>
            <p:cNvPr name="Freeform 51" id="51"/>
            <p:cNvSpPr/>
            <p:nvPr/>
          </p:nvSpPr>
          <p:spPr>
            <a:xfrm flipH="false" flipV="false" rot="0">
              <a:off x="0" y="0"/>
              <a:ext cx="22202394" cy="1116330"/>
            </a:xfrm>
            <a:custGeom>
              <a:avLst/>
              <a:gdLst/>
              <a:ahLst/>
              <a:cxnLst/>
              <a:rect r="r" b="b" t="t" l="l"/>
              <a:pathLst>
                <a:path h="1116330" w="22202394">
                  <a:moveTo>
                    <a:pt x="0" y="148844"/>
                  </a:moveTo>
                  <a:cubicBezTo>
                    <a:pt x="0" y="66675"/>
                    <a:pt x="66675" y="0"/>
                    <a:pt x="148844" y="0"/>
                  </a:cubicBezTo>
                  <a:lnTo>
                    <a:pt x="22053550" y="0"/>
                  </a:lnTo>
                  <a:cubicBezTo>
                    <a:pt x="22135719" y="0"/>
                    <a:pt x="22202394" y="66675"/>
                    <a:pt x="22202394" y="148844"/>
                  </a:cubicBezTo>
                  <a:lnTo>
                    <a:pt x="22202394" y="967486"/>
                  </a:lnTo>
                  <a:cubicBezTo>
                    <a:pt x="22202394" y="1049655"/>
                    <a:pt x="22135719" y="1116330"/>
                    <a:pt x="22053550" y="1116330"/>
                  </a:cubicBezTo>
                  <a:lnTo>
                    <a:pt x="148844" y="1116330"/>
                  </a:lnTo>
                  <a:cubicBezTo>
                    <a:pt x="66675" y="1116330"/>
                    <a:pt x="0" y="1049655"/>
                    <a:pt x="0" y="967486"/>
                  </a:cubicBezTo>
                  <a:close/>
                </a:path>
              </a:pathLst>
            </a:custGeom>
            <a:solidFill>
              <a:srgbClr val="1D242E"/>
            </a:solidFill>
            <a:ln w="14288" cap="sq">
              <a:solidFill>
                <a:srgbClr val="2A323D"/>
              </a:solidFill>
              <a:prstDash val="solid"/>
              <a:miter/>
            </a:ln>
          </p:spPr>
        </p:sp>
      </p:grpSp>
      <p:grpSp>
        <p:nvGrpSpPr>
          <p:cNvPr name="Group 52" id="52"/>
          <p:cNvGrpSpPr/>
          <p:nvPr/>
        </p:nvGrpSpPr>
        <p:grpSpPr>
          <a:xfrm rot="0">
            <a:off x="1165860" y="8641080"/>
            <a:ext cx="15951708" cy="822960"/>
            <a:chOff x="0" y="0"/>
            <a:chExt cx="21268944" cy="1097280"/>
          </a:xfrm>
        </p:grpSpPr>
        <p:sp>
          <p:nvSpPr>
            <p:cNvPr name="Freeform 53" id="53"/>
            <p:cNvSpPr/>
            <p:nvPr/>
          </p:nvSpPr>
          <p:spPr>
            <a:xfrm flipH="false" flipV="false" rot="0">
              <a:off x="0" y="0"/>
              <a:ext cx="21268944" cy="1097280"/>
            </a:xfrm>
            <a:custGeom>
              <a:avLst/>
              <a:gdLst/>
              <a:ahLst/>
              <a:cxnLst/>
              <a:rect r="r" b="b" t="t" l="l"/>
              <a:pathLst>
                <a:path h="1097280" w="21268944">
                  <a:moveTo>
                    <a:pt x="0" y="0"/>
                  </a:moveTo>
                  <a:lnTo>
                    <a:pt x="21268944" y="0"/>
                  </a:lnTo>
                  <a:lnTo>
                    <a:pt x="21268944" y="1097280"/>
                  </a:lnTo>
                  <a:lnTo>
                    <a:pt x="0" y="1097280"/>
                  </a:lnTo>
                  <a:close/>
                </a:path>
              </a:pathLst>
            </a:custGeom>
            <a:blipFill>
              <a:blip r:embed="rId3">
                <a:alphaModFix amt="0"/>
              </a:blip>
              <a:stretch>
                <a:fillRect l="0" t="-327684" r="0" b="-327684"/>
              </a:stretch>
            </a:blipFill>
          </p:spPr>
        </p:sp>
        <p:sp>
          <p:nvSpPr>
            <p:cNvPr name="TextBox 54" id="54"/>
            <p:cNvSpPr txBox="true"/>
            <p:nvPr/>
          </p:nvSpPr>
          <p:spPr>
            <a:xfrm>
              <a:off x="0" y="-38100"/>
              <a:ext cx="21268944" cy="1135380"/>
            </a:xfrm>
            <a:prstGeom prst="rect">
              <a:avLst/>
            </a:prstGeom>
          </p:spPr>
          <p:txBody>
            <a:bodyPr anchor="ctr" rtlCol="false" tIns="0" lIns="0" bIns="0" rIns="0"/>
            <a:lstStyle/>
            <a:p>
              <a:pPr algn="l">
                <a:lnSpc>
                  <a:spcPts val="2430"/>
                </a:lnSpc>
              </a:pPr>
              <a:r>
                <a:rPr lang="en-US" sz="2025" b="true">
                  <a:solidFill>
                    <a:srgbClr val="22D3EE"/>
                  </a:solidFill>
                  <a:latin typeface="Calibri (MS) Bold"/>
                  <a:ea typeface="Calibri (MS) Bold"/>
                  <a:cs typeface="Calibri (MS) Bold"/>
                  <a:sym typeface="Calibri (MS) Bold"/>
                </a:rPr>
                <a:t>Football in one line:  </a:t>
              </a:r>
              <a:r>
                <a:rPr lang="en-US" sz="2025">
                  <a:solidFill>
                    <a:srgbClr val="E8ECF1"/>
                  </a:solidFill>
                  <a:latin typeface="Calibri (MS)"/>
                  <a:ea typeface="Calibri (MS)"/>
                  <a:cs typeface="Calibri (MS)"/>
                  <a:sym typeface="Calibri (MS)"/>
                </a:rPr>
                <a:t>players' actions are recorded as statistics. We simply treat them as ordinary numeric data for ML.</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Project Objectives</a:t>
            </a:r>
          </a:p>
        </p:txBody>
      </p:sp>
      <p:grpSp>
        <p:nvGrpSpPr>
          <p:cNvPr name="Group 5" id="5"/>
          <p:cNvGrpSpPr/>
          <p:nvPr/>
        </p:nvGrpSpPr>
        <p:grpSpPr>
          <a:xfrm rot="0">
            <a:off x="822960" y="1536192"/>
            <a:ext cx="16637508" cy="480060"/>
            <a:chOff x="0" y="0"/>
            <a:chExt cx="22183344" cy="640080"/>
          </a:xfrm>
        </p:grpSpPr>
        <p:sp>
          <p:nvSpPr>
            <p:cNvPr name="Freeform 6" id="6"/>
            <p:cNvSpPr/>
            <p:nvPr/>
          </p:nvSpPr>
          <p:spPr>
            <a:xfrm flipH="false" flipV="false" rot="0">
              <a:off x="0" y="0"/>
              <a:ext cx="22183344" cy="640080"/>
            </a:xfrm>
            <a:custGeom>
              <a:avLst/>
              <a:gdLst/>
              <a:ahLst/>
              <a:cxnLst/>
              <a:rect r="r" b="b" t="t" l="l"/>
              <a:pathLst>
                <a:path h="640080" w="22183344">
                  <a:moveTo>
                    <a:pt x="0" y="0"/>
                  </a:moveTo>
                  <a:lnTo>
                    <a:pt x="22183344" y="0"/>
                  </a:lnTo>
                  <a:lnTo>
                    <a:pt x="22183344" y="640080"/>
                  </a:lnTo>
                  <a:lnTo>
                    <a:pt x="0" y="640080"/>
                  </a:lnTo>
                  <a:close/>
                </a:path>
              </a:pathLst>
            </a:custGeom>
            <a:blipFill>
              <a:blip r:embed="rId3">
                <a:alphaModFix amt="0"/>
              </a:blip>
              <a:stretch>
                <a:fillRect l="0" t="-625295" r="0" b="-625295"/>
              </a:stretch>
            </a:blipFill>
          </p:spPr>
        </p:sp>
        <p:sp>
          <p:nvSpPr>
            <p:cNvPr name="TextBox 7" id="7"/>
            <p:cNvSpPr txBox="true"/>
            <p:nvPr/>
          </p:nvSpPr>
          <p:spPr>
            <a:xfrm>
              <a:off x="0" y="-47625"/>
              <a:ext cx="22183344" cy="687705"/>
            </a:xfrm>
            <a:prstGeom prst="rect">
              <a:avLst/>
            </a:prstGeom>
          </p:spPr>
          <p:txBody>
            <a:bodyPr anchor="ctr" rtlCol="false" tIns="0" lIns="0" bIns="0" rIns="0"/>
            <a:lstStyle/>
            <a:p>
              <a:pPr algn="l">
                <a:lnSpc>
                  <a:spcPts val="2520"/>
                </a:lnSpc>
              </a:pPr>
              <a:r>
                <a:rPr lang="en-US" sz="2100">
                  <a:solidFill>
                    <a:srgbClr val="9AA4B2"/>
                  </a:solidFill>
                  <a:latin typeface="Calibri (MS)"/>
                  <a:ea typeface="Calibri (MS)"/>
                  <a:cs typeface="Calibri (MS)"/>
                  <a:sym typeface="Calibri (MS)"/>
                </a:rPr>
                <a:t>Three objectives, three ML tasks</a:t>
              </a:r>
            </a:p>
          </p:txBody>
        </p:sp>
      </p:grpSp>
      <p:grpSp>
        <p:nvGrpSpPr>
          <p:cNvPr name="Group 8" id="8"/>
          <p:cNvGrpSpPr/>
          <p:nvPr/>
        </p:nvGrpSpPr>
        <p:grpSpPr>
          <a:xfrm rot="0">
            <a:off x="822960" y="9710928"/>
            <a:ext cx="10972800" cy="342900"/>
            <a:chOff x="0" y="0"/>
            <a:chExt cx="14630400" cy="457200"/>
          </a:xfrm>
        </p:grpSpPr>
        <p:sp>
          <p:nvSpPr>
            <p:cNvPr name="Freeform 9" id="9"/>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10" id="10"/>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11" id="11"/>
          <p:cNvGrpSpPr/>
          <p:nvPr/>
        </p:nvGrpSpPr>
        <p:grpSpPr>
          <a:xfrm rot="0">
            <a:off x="16088868" y="9710928"/>
            <a:ext cx="1371600" cy="342900"/>
            <a:chOff x="0" y="0"/>
            <a:chExt cx="1828800" cy="457200"/>
          </a:xfrm>
        </p:grpSpPr>
        <p:sp>
          <p:nvSpPr>
            <p:cNvPr name="Freeform 12" id="12"/>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3" id="13"/>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3</a:t>
              </a:r>
            </a:p>
          </p:txBody>
        </p:sp>
      </p:grpSp>
      <p:grpSp>
        <p:nvGrpSpPr>
          <p:cNvPr name="Group 14" id="14"/>
          <p:cNvGrpSpPr/>
          <p:nvPr/>
        </p:nvGrpSpPr>
        <p:grpSpPr>
          <a:xfrm rot="0">
            <a:off x="815816" y="2324576"/>
            <a:ext cx="5281232" cy="5294947"/>
            <a:chOff x="0" y="0"/>
            <a:chExt cx="7041642" cy="7059930"/>
          </a:xfrm>
        </p:grpSpPr>
        <p:sp>
          <p:nvSpPr>
            <p:cNvPr name="Freeform 15" id="15"/>
            <p:cNvSpPr/>
            <p:nvPr/>
          </p:nvSpPr>
          <p:spPr>
            <a:xfrm flipH="false" flipV="false" rot="0">
              <a:off x="0" y="0"/>
              <a:ext cx="7041642" cy="7059930"/>
            </a:xfrm>
            <a:custGeom>
              <a:avLst/>
              <a:gdLst/>
              <a:ahLst/>
              <a:cxnLst/>
              <a:rect r="r" b="b" t="t" l="l"/>
              <a:pathLst>
                <a:path h="7059930" w="7041642">
                  <a:moveTo>
                    <a:pt x="0" y="146685"/>
                  </a:moveTo>
                  <a:cubicBezTo>
                    <a:pt x="0" y="65659"/>
                    <a:pt x="65659" y="0"/>
                    <a:pt x="146685" y="0"/>
                  </a:cubicBezTo>
                  <a:lnTo>
                    <a:pt x="6894957" y="0"/>
                  </a:lnTo>
                  <a:cubicBezTo>
                    <a:pt x="6975983" y="0"/>
                    <a:pt x="7041642" y="65659"/>
                    <a:pt x="7041642" y="146685"/>
                  </a:cubicBezTo>
                  <a:lnTo>
                    <a:pt x="7041642" y="6913245"/>
                  </a:lnTo>
                  <a:cubicBezTo>
                    <a:pt x="7041642" y="6994271"/>
                    <a:pt x="6975983" y="7059930"/>
                    <a:pt x="6894957" y="7059930"/>
                  </a:cubicBezTo>
                  <a:lnTo>
                    <a:pt x="146685" y="7059930"/>
                  </a:lnTo>
                  <a:cubicBezTo>
                    <a:pt x="65659" y="7059930"/>
                    <a:pt x="0" y="6994271"/>
                    <a:pt x="0" y="6913245"/>
                  </a:cubicBezTo>
                  <a:close/>
                </a:path>
              </a:pathLst>
            </a:custGeom>
            <a:solidFill>
              <a:srgbClr val="161B22"/>
            </a:solidFill>
            <a:ln w="14288" cap="sq">
              <a:solidFill>
                <a:srgbClr val="2A323D"/>
              </a:solidFill>
              <a:prstDash val="solid"/>
              <a:miter/>
            </a:ln>
          </p:spPr>
        </p:sp>
      </p:grpSp>
      <p:grpSp>
        <p:nvGrpSpPr>
          <p:cNvPr name="Group 16" id="16"/>
          <p:cNvGrpSpPr/>
          <p:nvPr/>
        </p:nvGrpSpPr>
        <p:grpSpPr>
          <a:xfrm rot="0">
            <a:off x="1234440" y="2674620"/>
            <a:ext cx="754380" cy="754380"/>
            <a:chOff x="0" y="0"/>
            <a:chExt cx="1005840" cy="1005840"/>
          </a:xfrm>
        </p:grpSpPr>
        <p:sp>
          <p:nvSpPr>
            <p:cNvPr name="Freeform 17" id="1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2D3EE"/>
            </a:solidFill>
          </p:spPr>
        </p:sp>
        <p:sp>
          <p:nvSpPr>
            <p:cNvPr name="TextBox 18" id="18"/>
            <p:cNvSpPr txBox="true"/>
            <p:nvPr/>
          </p:nvSpPr>
          <p:spPr>
            <a:xfrm>
              <a:off x="0" y="-57150"/>
              <a:ext cx="1005840" cy="1062990"/>
            </a:xfrm>
            <a:prstGeom prst="rect">
              <a:avLst/>
            </a:prstGeom>
          </p:spPr>
          <p:txBody>
            <a:bodyPr anchor="ctr" rtlCol="false" tIns="50800" lIns="50800" bIns="50800" rIns="50800"/>
            <a:lstStyle/>
            <a:p>
              <a:pPr algn="ctr">
                <a:lnSpc>
                  <a:spcPts val="3240"/>
                </a:lnSpc>
              </a:pPr>
              <a:r>
                <a:rPr lang="en-US" sz="2700" b="true">
                  <a:solidFill>
                    <a:srgbClr val="0A0D12"/>
                  </a:solidFill>
                  <a:latin typeface="Calibri (MS) Bold"/>
                  <a:ea typeface="Calibri (MS) Bold"/>
                  <a:cs typeface="Calibri (MS) Bold"/>
                  <a:sym typeface="Calibri (MS) Bold"/>
                </a:rPr>
                <a:t>1</a:t>
              </a:r>
            </a:p>
          </p:txBody>
        </p:sp>
      </p:grpSp>
      <p:grpSp>
        <p:nvGrpSpPr>
          <p:cNvPr name="Group 19" id="19"/>
          <p:cNvGrpSpPr/>
          <p:nvPr/>
        </p:nvGrpSpPr>
        <p:grpSpPr>
          <a:xfrm rot="0">
            <a:off x="3703320" y="2839212"/>
            <a:ext cx="2057400" cy="411480"/>
            <a:chOff x="0" y="0"/>
            <a:chExt cx="2743200" cy="548640"/>
          </a:xfrm>
        </p:grpSpPr>
        <p:sp>
          <p:nvSpPr>
            <p:cNvPr name="Freeform 20" id="20"/>
            <p:cNvSpPr/>
            <p:nvPr/>
          </p:nvSpPr>
          <p:spPr>
            <a:xfrm flipH="false" flipV="false" rot="0">
              <a:off x="0" y="0"/>
              <a:ext cx="2743200" cy="548640"/>
            </a:xfrm>
            <a:custGeom>
              <a:avLst/>
              <a:gdLst/>
              <a:ahLst/>
              <a:cxnLst/>
              <a:rect r="r" b="b" t="t" l="l"/>
              <a:pathLst>
                <a:path h="548640" w="2743200">
                  <a:moveTo>
                    <a:pt x="0" y="219456"/>
                  </a:moveTo>
                  <a:cubicBezTo>
                    <a:pt x="0" y="98298"/>
                    <a:pt x="98298" y="0"/>
                    <a:pt x="219456" y="0"/>
                  </a:cubicBezTo>
                  <a:lnTo>
                    <a:pt x="2523744" y="0"/>
                  </a:lnTo>
                  <a:cubicBezTo>
                    <a:pt x="2644902" y="0"/>
                    <a:pt x="2743200" y="98298"/>
                    <a:pt x="2743200" y="219456"/>
                  </a:cubicBezTo>
                  <a:lnTo>
                    <a:pt x="2743200" y="329184"/>
                  </a:lnTo>
                  <a:cubicBezTo>
                    <a:pt x="2743200" y="450342"/>
                    <a:pt x="2644902" y="548640"/>
                    <a:pt x="2523744" y="548640"/>
                  </a:cubicBezTo>
                  <a:lnTo>
                    <a:pt x="219456" y="548640"/>
                  </a:lnTo>
                  <a:cubicBezTo>
                    <a:pt x="98298" y="548640"/>
                    <a:pt x="0" y="450342"/>
                    <a:pt x="0" y="329184"/>
                  </a:cubicBezTo>
                  <a:close/>
                </a:path>
              </a:pathLst>
            </a:custGeom>
            <a:solidFill>
              <a:srgbClr val="22D3EE"/>
            </a:solidFill>
          </p:spPr>
        </p:sp>
        <p:sp>
          <p:nvSpPr>
            <p:cNvPr name="TextBox 21" id="21"/>
            <p:cNvSpPr txBox="true"/>
            <p:nvPr/>
          </p:nvSpPr>
          <p:spPr>
            <a:xfrm>
              <a:off x="0" y="-19050"/>
              <a:ext cx="2743200" cy="567690"/>
            </a:xfrm>
            <a:prstGeom prst="rect">
              <a:avLst/>
            </a:prstGeom>
          </p:spPr>
          <p:txBody>
            <a:bodyPr anchor="ctr" rtlCol="false" tIns="50800" lIns="50800" bIns="50800" rIns="50800"/>
            <a:lstStyle/>
            <a:p>
              <a:pPr algn="ctr">
                <a:lnSpc>
                  <a:spcPts val="1889"/>
                </a:lnSpc>
              </a:pPr>
              <a:r>
                <a:rPr lang="en-US" sz="1575" b="true">
                  <a:solidFill>
                    <a:srgbClr val="0A0D12"/>
                  </a:solidFill>
                  <a:latin typeface="Calibri (MS) Bold"/>
                  <a:ea typeface="Calibri (MS) Bold"/>
                  <a:cs typeface="Calibri (MS) Bold"/>
                  <a:sym typeface="Calibri (MS) Bold"/>
                </a:rPr>
                <a:t>SUPERVISED</a:t>
              </a:r>
            </a:p>
          </p:txBody>
        </p:sp>
      </p:grpSp>
      <p:sp>
        <p:nvSpPr>
          <p:cNvPr name="TextBox 22" id="22"/>
          <p:cNvSpPr txBox="true"/>
          <p:nvPr/>
        </p:nvSpPr>
        <p:spPr>
          <a:xfrm rot="0">
            <a:off x="1234440" y="3705225"/>
            <a:ext cx="4457700" cy="752475"/>
          </a:xfrm>
          <a:prstGeom prst="rect">
            <a:avLst/>
          </a:prstGeom>
        </p:spPr>
        <p:txBody>
          <a:bodyPr anchor="t" rtlCol="false" tIns="0" lIns="0" bIns="0" rIns="0">
            <a:spAutoFit/>
          </a:bodyPr>
          <a:lstStyle/>
          <a:p>
            <a:pPr algn="l">
              <a:lnSpc>
                <a:spcPts val="3600"/>
              </a:lnSpc>
            </a:pPr>
            <a:r>
              <a:rPr lang="en-US" sz="3000" b="true">
                <a:solidFill>
                  <a:srgbClr val="E8ECF1"/>
                </a:solidFill>
                <a:latin typeface="Calibri (MS) Bold"/>
                <a:ea typeface="Calibri (MS) Bold"/>
                <a:cs typeface="Calibri (MS) Bold"/>
                <a:sym typeface="Calibri (MS) Bold"/>
              </a:rPr>
              <a:t>Predict performance</a:t>
            </a:r>
          </a:p>
        </p:txBody>
      </p:sp>
      <p:sp>
        <p:nvSpPr>
          <p:cNvPr name="TextBox 23" id="23"/>
          <p:cNvSpPr txBox="true"/>
          <p:nvPr/>
        </p:nvSpPr>
        <p:spPr>
          <a:xfrm rot="0">
            <a:off x="1234440" y="4537710"/>
            <a:ext cx="4457700" cy="1840230"/>
          </a:xfrm>
          <a:prstGeom prst="rect">
            <a:avLst/>
          </a:prstGeom>
        </p:spPr>
        <p:txBody>
          <a:bodyPr anchor="t" rtlCol="false" tIns="0" lIns="0" bIns="0" rIns="0">
            <a:spAutoFit/>
          </a:bodyPr>
          <a:lstStyle/>
          <a:p>
            <a:pPr algn="l">
              <a:lnSpc>
                <a:spcPts val="2700"/>
              </a:lnSpc>
            </a:pPr>
            <a:r>
              <a:rPr lang="en-US" sz="2250">
                <a:solidFill>
                  <a:srgbClr val="9AA4B2"/>
                </a:solidFill>
                <a:latin typeface="Calibri (MS)"/>
                <a:ea typeface="Calibri (MS)"/>
                <a:cs typeface="Calibri (MS)"/>
                <a:sym typeface="Calibri (MS)"/>
              </a:rPr>
              <a:t>Use regression to predict a player performance score from match statistics.</a:t>
            </a:r>
          </a:p>
        </p:txBody>
      </p:sp>
      <p:sp>
        <p:nvSpPr>
          <p:cNvPr name="AutoShape 24" id="24"/>
          <p:cNvSpPr/>
          <p:nvPr/>
        </p:nvSpPr>
        <p:spPr>
          <a:xfrm rot="14700">
            <a:off x="1224896" y="6510338"/>
            <a:ext cx="4463072" cy="0"/>
          </a:xfrm>
          <a:prstGeom prst="line">
            <a:avLst/>
          </a:prstGeom>
          <a:ln cap="rnd" w="9525">
            <a:solidFill>
              <a:srgbClr val="2A323D"/>
            </a:solidFill>
            <a:prstDash val="solid"/>
            <a:headEnd type="none" len="sm" w="sm"/>
            <a:tailEnd type="none" len="sm" w="sm"/>
          </a:ln>
        </p:spPr>
      </p:sp>
      <p:grpSp>
        <p:nvGrpSpPr>
          <p:cNvPr name="Group 25" id="25"/>
          <p:cNvGrpSpPr/>
          <p:nvPr/>
        </p:nvGrpSpPr>
        <p:grpSpPr>
          <a:xfrm rot="0">
            <a:off x="1234440" y="6720840"/>
            <a:ext cx="4457700" cy="548640"/>
            <a:chOff x="0" y="0"/>
            <a:chExt cx="5943600" cy="731520"/>
          </a:xfrm>
        </p:grpSpPr>
        <p:sp>
          <p:nvSpPr>
            <p:cNvPr name="Freeform 26" id="26"/>
            <p:cNvSpPr/>
            <p:nvPr/>
          </p:nvSpPr>
          <p:spPr>
            <a:xfrm flipH="false" flipV="false" rot="0">
              <a:off x="0" y="0"/>
              <a:ext cx="5943600" cy="731520"/>
            </a:xfrm>
            <a:custGeom>
              <a:avLst/>
              <a:gdLst/>
              <a:ahLst/>
              <a:cxnLst/>
              <a:rect r="r" b="b" t="t" l="l"/>
              <a:pathLst>
                <a:path h="731520" w="5943600">
                  <a:moveTo>
                    <a:pt x="0" y="0"/>
                  </a:moveTo>
                  <a:lnTo>
                    <a:pt x="5943600" y="0"/>
                  </a:lnTo>
                  <a:lnTo>
                    <a:pt x="5943600" y="731520"/>
                  </a:lnTo>
                  <a:lnTo>
                    <a:pt x="0" y="731520"/>
                  </a:lnTo>
                  <a:close/>
                </a:path>
              </a:pathLst>
            </a:custGeom>
            <a:blipFill>
              <a:blip r:embed="rId3">
                <a:alphaModFix amt="0"/>
              </a:blip>
              <a:stretch>
                <a:fillRect l="0" t="-108315" r="0" b="-108315"/>
              </a:stretch>
            </a:blipFill>
          </p:spPr>
        </p:sp>
        <p:sp>
          <p:nvSpPr>
            <p:cNvPr name="TextBox 27" id="27"/>
            <p:cNvSpPr txBox="true"/>
            <p:nvPr/>
          </p:nvSpPr>
          <p:spPr>
            <a:xfrm>
              <a:off x="0" y="-47625"/>
              <a:ext cx="5943600" cy="779145"/>
            </a:xfrm>
            <a:prstGeom prst="rect">
              <a:avLst/>
            </a:prstGeom>
          </p:spPr>
          <p:txBody>
            <a:bodyPr anchor="ctr" rtlCol="false" tIns="0" lIns="0" bIns="0" rIns="0"/>
            <a:lstStyle/>
            <a:p>
              <a:pPr algn="l">
                <a:lnSpc>
                  <a:spcPts val="2340"/>
                </a:lnSpc>
              </a:pPr>
              <a:r>
                <a:rPr lang="en-US" sz="1950" b="true">
                  <a:solidFill>
                    <a:srgbClr val="22D3EE"/>
                  </a:solidFill>
                  <a:latin typeface="Calibri (MS) Bold"/>
                  <a:ea typeface="Calibri (MS) Bold"/>
                  <a:cs typeface="Calibri (MS) Bold"/>
                  <a:sym typeface="Calibri (MS) Bold"/>
                </a:rPr>
                <a:t>Linear Regression · Random Forest</a:t>
              </a:r>
            </a:p>
          </p:txBody>
        </p:sp>
      </p:grpSp>
      <p:grpSp>
        <p:nvGrpSpPr>
          <p:cNvPr name="Group 28" id="28"/>
          <p:cNvGrpSpPr/>
          <p:nvPr/>
        </p:nvGrpSpPr>
        <p:grpSpPr>
          <a:xfrm rot="0">
            <a:off x="6501098" y="2324576"/>
            <a:ext cx="5281232" cy="5294947"/>
            <a:chOff x="0" y="0"/>
            <a:chExt cx="7041642" cy="7059930"/>
          </a:xfrm>
        </p:grpSpPr>
        <p:sp>
          <p:nvSpPr>
            <p:cNvPr name="Freeform 29" id="29"/>
            <p:cNvSpPr/>
            <p:nvPr/>
          </p:nvSpPr>
          <p:spPr>
            <a:xfrm flipH="false" flipV="false" rot="0">
              <a:off x="0" y="0"/>
              <a:ext cx="7041642" cy="7059930"/>
            </a:xfrm>
            <a:custGeom>
              <a:avLst/>
              <a:gdLst/>
              <a:ahLst/>
              <a:cxnLst/>
              <a:rect r="r" b="b" t="t" l="l"/>
              <a:pathLst>
                <a:path h="7059930" w="7041642">
                  <a:moveTo>
                    <a:pt x="0" y="146685"/>
                  </a:moveTo>
                  <a:cubicBezTo>
                    <a:pt x="0" y="65659"/>
                    <a:pt x="65659" y="0"/>
                    <a:pt x="146685" y="0"/>
                  </a:cubicBezTo>
                  <a:lnTo>
                    <a:pt x="6894957" y="0"/>
                  </a:lnTo>
                  <a:cubicBezTo>
                    <a:pt x="6975983" y="0"/>
                    <a:pt x="7041642" y="65659"/>
                    <a:pt x="7041642" y="146685"/>
                  </a:cubicBezTo>
                  <a:lnTo>
                    <a:pt x="7041642" y="6913245"/>
                  </a:lnTo>
                  <a:cubicBezTo>
                    <a:pt x="7041642" y="6994271"/>
                    <a:pt x="6975983" y="7059930"/>
                    <a:pt x="6894957" y="7059930"/>
                  </a:cubicBezTo>
                  <a:lnTo>
                    <a:pt x="146685" y="7059930"/>
                  </a:lnTo>
                  <a:cubicBezTo>
                    <a:pt x="65659" y="7059930"/>
                    <a:pt x="0" y="6994271"/>
                    <a:pt x="0" y="6913245"/>
                  </a:cubicBezTo>
                  <a:close/>
                </a:path>
              </a:pathLst>
            </a:custGeom>
            <a:solidFill>
              <a:srgbClr val="161B22"/>
            </a:solidFill>
            <a:ln w="14288" cap="sq">
              <a:solidFill>
                <a:srgbClr val="2A323D"/>
              </a:solidFill>
              <a:prstDash val="solid"/>
              <a:miter/>
            </a:ln>
          </p:spPr>
        </p:sp>
      </p:grpSp>
      <p:grpSp>
        <p:nvGrpSpPr>
          <p:cNvPr name="Group 30" id="30"/>
          <p:cNvGrpSpPr/>
          <p:nvPr/>
        </p:nvGrpSpPr>
        <p:grpSpPr>
          <a:xfrm rot="0">
            <a:off x="6919722" y="2674620"/>
            <a:ext cx="754380" cy="754380"/>
            <a:chOff x="0" y="0"/>
            <a:chExt cx="1005840" cy="1005840"/>
          </a:xfrm>
        </p:grpSpPr>
        <p:sp>
          <p:nvSpPr>
            <p:cNvPr name="Freeform 31" id="3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2D3EE"/>
            </a:solidFill>
          </p:spPr>
        </p:sp>
        <p:sp>
          <p:nvSpPr>
            <p:cNvPr name="TextBox 32" id="32"/>
            <p:cNvSpPr txBox="true"/>
            <p:nvPr/>
          </p:nvSpPr>
          <p:spPr>
            <a:xfrm>
              <a:off x="0" y="-57150"/>
              <a:ext cx="1005840" cy="1062990"/>
            </a:xfrm>
            <a:prstGeom prst="rect">
              <a:avLst/>
            </a:prstGeom>
          </p:spPr>
          <p:txBody>
            <a:bodyPr anchor="ctr" rtlCol="false" tIns="50800" lIns="50800" bIns="50800" rIns="50800"/>
            <a:lstStyle/>
            <a:p>
              <a:pPr algn="ctr">
                <a:lnSpc>
                  <a:spcPts val="3240"/>
                </a:lnSpc>
              </a:pPr>
              <a:r>
                <a:rPr lang="en-US" sz="2700" b="true">
                  <a:solidFill>
                    <a:srgbClr val="0A0D12"/>
                  </a:solidFill>
                  <a:latin typeface="Calibri (MS) Bold"/>
                  <a:ea typeface="Calibri (MS) Bold"/>
                  <a:cs typeface="Calibri (MS) Bold"/>
                  <a:sym typeface="Calibri (MS) Bold"/>
                </a:rPr>
                <a:t>2</a:t>
              </a:r>
            </a:p>
          </p:txBody>
        </p:sp>
      </p:grpSp>
      <p:grpSp>
        <p:nvGrpSpPr>
          <p:cNvPr name="Group 33" id="33"/>
          <p:cNvGrpSpPr/>
          <p:nvPr/>
        </p:nvGrpSpPr>
        <p:grpSpPr>
          <a:xfrm rot="0">
            <a:off x="9388602" y="2839212"/>
            <a:ext cx="2057400" cy="411480"/>
            <a:chOff x="0" y="0"/>
            <a:chExt cx="2743200" cy="548640"/>
          </a:xfrm>
        </p:grpSpPr>
        <p:sp>
          <p:nvSpPr>
            <p:cNvPr name="Freeform 34" id="34"/>
            <p:cNvSpPr/>
            <p:nvPr/>
          </p:nvSpPr>
          <p:spPr>
            <a:xfrm flipH="false" flipV="false" rot="0">
              <a:off x="0" y="0"/>
              <a:ext cx="2743200" cy="548640"/>
            </a:xfrm>
            <a:custGeom>
              <a:avLst/>
              <a:gdLst/>
              <a:ahLst/>
              <a:cxnLst/>
              <a:rect r="r" b="b" t="t" l="l"/>
              <a:pathLst>
                <a:path h="548640" w="2743200">
                  <a:moveTo>
                    <a:pt x="0" y="219456"/>
                  </a:moveTo>
                  <a:cubicBezTo>
                    <a:pt x="0" y="98298"/>
                    <a:pt x="98298" y="0"/>
                    <a:pt x="219456" y="0"/>
                  </a:cubicBezTo>
                  <a:lnTo>
                    <a:pt x="2523744" y="0"/>
                  </a:lnTo>
                  <a:cubicBezTo>
                    <a:pt x="2644902" y="0"/>
                    <a:pt x="2743200" y="98298"/>
                    <a:pt x="2743200" y="219456"/>
                  </a:cubicBezTo>
                  <a:lnTo>
                    <a:pt x="2743200" y="329184"/>
                  </a:lnTo>
                  <a:cubicBezTo>
                    <a:pt x="2743200" y="450342"/>
                    <a:pt x="2644902" y="548640"/>
                    <a:pt x="2523744" y="548640"/>
                  </a:cubicBezTo>
                  <a:lnTo>
                    <a:pt x="219456" y="548640"/>
                  </a:lnTo>
                  <a:cubicBezTo>
                    <a:pt x="98298" y="548640"/>
                    <a:pt x="0" y="450342"/>
                    <a:pt x="0" y="329184"/>
                  </a:cubicBezTo>
                  <a:close/>
                </a:path>
              </a:pathLst>
            </a:custGeom>
            <a:solidFill>
              <a:srgbClr val="22D3EE"/>
            </a:solidFill>
          </p:spPr>
        </p:sp>
        <p:sp>
          <p:nvSpPr>
            <p:cNvPr name="TextBox 35" id="35"/>
            <p:cNvSpPr txBox="true"/>
            <p:nvPr/>
          </p:nvSpPr>
          <p:spPr>
            <a:xfrm>
              <a:off x="0" y="-19050"/>
              <a:ext cx="2743200" cy="567690"/>
            </a:xfrm>
            <a:prstGeom prst="rect">
              <a:avLst/>
            </a:prstGeom>
          </p:spPr>
          <p:txBody>
            <a:bodyPr anchor="ctr" rtlCol="false" tIns="50800" lIns="50800" bIns="50800" rIns="50800"/>
            <a:lstStyle/>
            <a:p>
              <a:pPr algn="ctr">
                <a:lnSpc>
                  <a:spcPts val="1889"/>
                </a:lnSpc>
              </a:pPr>
              <a:r>
                <a:rPr lang="en-US" sz="1575" b="true">
                  <a:solidFill>
                    <a:srgbClr val="0A0D12"/>
                  </a:solidFill>
                  <a:latin typeface="Calibri (MS) Bold"/>
                  <a:ea typeface="Calibri (MS) Bold"/>
                  <a:cs typeface="Calibri (MS) Bold"/>
                  <a:sym typeface="Calibri (MS) Bold"/>
                </a:rPr>
                <a:t>SUPERVISED</a:t>
              </a:r>
            </a:p>
          </p:txBody>
        </p:sp>
      </p:grpSp>
      <p:sp>
        <p:nvSpPr>
          <p:cNvPr name="TextBox 36" id="36"/>
          <p:cNvSpPr txBox="true"/>
          <p:nvPr/>
        </p:nvSpPr>
        <p:spPr>
          <a:xfrm rot="0">
            <a:off x="6919722" y="3705225"/>
            <a:ext cx="4457700" cy="752475"/>
          </a:xfrm>
          <a:prstGeom prst="rect">
            <a:avLst/>
          </a:prstGeom>
        </p:spPr>
        <p:txBody>
          <a:bodyPr anchor="t" rtlCol="false" tIns="0" lIns="0" bIns="0" rIns="0">
            <a:spAutoFit/>
          </a:bodyPr>
          <a:lstStyle/>
          <a:p>
            <a:pPr algn="l">
              <a:lnSpc>
                <a:spcPts val="3600"/>
              </a:lnSpc>
            </a:pPr>
            <a:r>
              <a:rPr lang="en-US" sz="3000" b="true">
                <a:solidFill>
                  <a:srgbClr val="E8ECF1"/>
                </a:solidFill>
                <a:latin typeface="Calibri (MS) Bold"/>
                <a:ea typeface="Calibri (MS) Bold"/>
                <a:cs typeface="Calibri (MS) Bold"/>
                <a:sym typeface="Calibri (MS) Bold"/>
              </a:rPr>
              <a:t>Classify High / Low</a:t>
            </a:r>
          </a:p>
        </p:txBody>
      </p:sp>
      <p:sp>
        <p:nvSpPr>
          <p:cNvPr name="TextBox 37" id="37"/>
          <p:cNvSpPr txBox="true"/>
          <p:nvPr/>
        </p:nvSpPr>
        <p:spPr>
          <a:xfrm rot="0">
            <a:off x="6919722" y="4537710"/>
            <a:ext cx="4457700" cy="1840230"/>
          </a:xfrm>
          <a:prstGeom prst="rect">
            <a:avLst/>
          </a:prstGeom>
        </p:spPr>
        <p:txBody>
          <a:bodyPr anchor="t" rtlCol="false" tIns="0" lIns="0" bIns="0" rIns="0">
            <a:spAutoFit/>
          </a:bodyPr>
          <a:lstStyle/>
          <a:p>
            <a:pPr algn="l">
              <a:lnSpc>
                <a:spcPts val="2700"/>
              </a:lnSpc>
            </a:pPr>
            <a:r>
              <a:rPr lang="en-US" sz="2250">
                <a:solidFill>
                  <a:srgbClr val="9AA4B2"/>
                </a:solidFill>
                <a:latin typeface="Calibri (MS)"/>
                <a:ea typeface="Calibri (MS)"/>
                <a:cs typeface="Calibri (MS)"/>
                <a:sym typeface="Calibri (MS)"/>
              </a:rPr>
              <a:t>Turn the score into two classes and predict whether a player is High or Low performing.</a:t>
            </a:r>
          </a:p>
        </p:txBody>
      </p:sp>
      <p:sp>
        <p:nvSpPr>
          <p:cNvPr name="AutoShape 38" id="38"/>
          <p:cNvSpPr/>
          <p:nvPr/>
        </p:nvSpPr>
        <p:spPr>
          <a:xfrm rot="14700">
            <a:off x="6910178" y="6510338"/>
            <a:ext cx="4463072" cy="0"/>
          </a:xfrm>
          <a:prstGeom prst="line">
            <a:avLst/>
          </a:prstGeom>
          <a:ln cap="rnd" w="9525">
            <a:solidFill>
              <a:srgbClr val="2A323D"/>
            </a:solidFill>
            <a:prstDash val="solid"/>
            <a:headEnd type="none" len="sm" w="sm"/>
            <a:tailEnd type="none" len="sm" w="sm"/>
          </a:ln>
        </p:spPr>
      </p:sp>
      <p:grpSp>
        <p:nvGrpSpPr>
          <p:cNvPr name="Group 39" id="39"/>
          <p:cNvGrpSpPr/>
          <p:nvPr/>
        </p:nvGrpSpPr>
        <p:grpSpPr>
          <a:xfrm rot="0">
            <a:off x="6919722" y="6720840"/>
            <a:ext cx="4457700" cy="548640"/>
            <a:chOff x="0" y="0"/>
            <a:chExt cx="5943600" cy="731520"/>
          </a:xfrm>
        </p:grpSpPr>
        <p:sp>
          <p:nvSpPr>
            <p:cNvPr name="Freeform 40" id="40"/>
            <p:cNvSpPr/>
            <p:nvPr/>
          </p:nvSpPr>
          <p:spPr>
            <a:xfrm flipH="false" flipV="false" rot="0">
              <a:off x="0" y="0"/>
              <a:ext cx="5943600" cy="731520"/>
            </a:xfrm>
            <a:custGeom>
              <a:avLst/>
              <a:gdLst/>
              <a:ahLst/>
              <a:cxnLst/>
              <a:rect r="r" b="b" t="t" l="l"/>
              <a:pathLst>
                <a:path h="731520" w="5943600">
                  <a:moveTo>
                    <a:pt x="0" y="0"/>
                  </a:moveTo>
                  <a:lnTo>
                    <a:pt x="5943600" y="0"/>
                  </a:lnTo>
                  <a:lnTo>
                    <a:pt x="5943600" y="731520"/>
                  </a:lnTo>
                  <a:lnTo>
                    <a:pt x="0" y="731520"/>
                  </a:lnTo>
                  <a:close/>
                </a:path>
              </a:pathLst>
            </a:custGeom>
            <a:blipFill>
              <a:blip r:embed="rId3">
                <a:alphaModFix amt="0"/>
              </a:blip>
              <a:stretch>
                <a:fillRect l="0" t="-108315" r="0" b="-108315"/>
              </a:stretch>
            </a:blipFill>
          </p:spPr>
        </p:sp>
        <p:sp>
          <p:nvSpPr>
            <p:cNvPr name="TextBox 41" id="41"/>
            <p:cNvSpPr txBox="true"/>
            <p:nvPr/>
          </p:nvSpPr>
          <p:spPr>
            <a:xfrm>
              <a:off x="0" y="-47625"/>
              <a:ext cx="5943600" cy="779145"/>
            </a:xfrm>
            <a:prstGeom prst="rect">
              <a:avLst/>
            </a:prstGeom>
          </p:spPr>
          <p:txBody>
            <a:bodyPr anchor="ctr" rtlCol="false" tIns="0" lIns="0" bIns="0" rIns="0"/>
            <a:lstStyle/>
            <a:p>
              <a:pPr algn="l">
                <a:lnSpc>
                  <a:spcPts val="2340"/>
                </a:lnSpc>
              </a:pPr>
              <a:r>
                <a:rPr lang="en-US" sz="1950" b="true">
                  <a:solidFill>
                    <a:srgbClr val="22D3EE"/>
                  </a:solidFill>
                  <a:latin typeface="Calibri (MS) Bold"/>
                  <a:ea typeface="Calibri (MS) Bold"/>
                  <a:cs typeface="Calibri (MS) Bold"/>
                  <a:sym typeface="Calibri (MS) Bold"/>
                </a:rPr>
                <a:t>Logistic Regression · Decision Tree</a:t>
              </a:r>
            </a:p>
          </p:txBody>
        </p:sp>
      </p:grpSp>
      <p:grpSp>
        <p:nvGrpSpPr>
          <p:cNvPr name="Group 42" id="42"/>
          <p:cNvGrpSpPr/>
          <p:nvPr/>
        </p:nvGrpSpPr>
        <p:grpSpPr>
          <a:xfrm rot="0">
            <a:off x="12186380" y="2324576"/>
            <a:ext cx="5281232" cy="5294947"/>
            <a:chOff x="0" y="0"/>
            <a:chExt cx="7041642" cy="7059930"/>
          </a:xfrm>
        </p:grpSpPr>
        <p:sp>
          <p:nvSpPr>
            <p:cNvPr name="Freeform 43" id="43"/>
            <p:cNvSpPr/>
            <p:nvPr/>
          </p:nvSpPr>
          <p:spPr>
            <a:xfrm flipH="false" flipV="false" rot="0">
              <a:off x="0" y="0"/>
              <a:ext cx="7041642" cy="7059930"/>
            </a:xfrm>
            <a:custGeom>
              <a:avLst/>
              <a:gdLst/>
              <a:ahLst/>
              <a:cxnLst/>
              <a:rect r="r" b="b" t="t" l="l"/>
              <a:pathLst>
                <a:path h="7059930" w="7041642">
                  <a:moveTo>
                    <a:pt x="0" y="146685"/>
                  </a:moveTo>
                  <a:cubicBezTo>
                    <a:pt x="0" y="65659"/>
                    <a:pt x="65659" y="0"/>
                    <a:pt x="146685" y="0"/>
                  </a:cubicBezTo>
                  <a:lnTo>
                    <a:pt x="6894957" y="0"/>
                  </a:lnTo>
                  <a:cubicBezTo>
                    <a:pt x="6975983" y="0"/>
                    <a:pt x="7041642" y="65659"/>
                    <a:pt x="7041642" y="146685"/>
                  </a:cubicBezTo>
                  <a:lnTo>
                    <a:pt x="7041642" y="6913245"/>
                  </a:lnTo>
                  <a:cubicBezTo>
                    <a:pt x="7041642" y="6994271"/>
                    <a:pt x="6975983" y="7059930"/>
                    <a:pt x="6894957" y="7059930"/>
                  </a:cubicBezTo>
                  <a:lnTo>
                    <a:pt x="146685" y="7059930"/>
                  </a:lnTo>
                  <a:cubicBezTo>
                    <a:pt x="65659" y="7059930"/>
                    <a:pt x="0" y="6994271"/>
                    <a:pt x="0" y="6913245"/>
                  </a:cubicBezTo>
                  <a:close/>
                </a:path>
              </a:pathLst>
            </a:custGeom>
            <a:solidFill>
              <a:srgbClr val="161B22"/>
            </a:solidFill>
            <a:ln w="14288" cap="sq">
              <a:solidFill>
                <a:srgbClr val="2A323D"/>
              </a:solidFill>
              <a:prstDash val="solid"/>
              <a:miter/>
            </a:ln>
          </p:spPr>
        </p:sp>
      </p:grpSp>
      <p:grpSp>
        <p:nvGrpSpPr>
          <p:cNvPr name="Group 44" id="44"/>
          <p:cNvGrpSpPr/>
          <p:nvPr/>
        </p:nvGrpSpPr>
        <p:grpSpPr>
          <a:xfrm rot="0">
            <a:off x="12605004" y="2674620"/>
            <a:ext cx="754380" cy="754380"/>
            <a:chOff x="0" y="0"/>
            <a:chExt cx="1005840" cy="1005840"/>
          </a:xfrm>
        </p:grpSpPr>
        <p:sp>
          <p:nvSpPr>
            <p:cNvPr name="Freeform 45" id="4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2D3EE"/>
            </a:solidFill>
          </p:spPr>
        </p:sp>
        <p:sp>
          <p:nvSpPr>
            <p:cNvPr name="TextBox 46" id="46"/>
            <p:cNvSpPr txBox="true"/>
            <p:nvPr/>
          </p:nvSpPr>
          <p:spPr>
            <a:xfrm>
              <a:off x="0" y="-57150"/>
              <a:ext cx="1005840" cy="1062990"/>
            </a:xfrm>
            <a:prstGeom prst="rect">
              <a:avLst/>
            </a:prstGeom>
          </p:spPr>
          <p:txBody>
            <a:bodyPr anchor="ctr" rtlCol="false" tIns="50800" lIns="50800" bIns="50800" rIns="50800"/>
            <a:lstStyle/>
            <a:p>
              <a:pPr algn="ctr">
                <a:lnSpc>
                  <a:spcPts val="3240"/>
                </a:lnSpc>
              </a:pPr>
              <a:r>
                <a:rPr lang="en-US" sz="2700" b="true">
                  <a:solidFill>
                    <a:srgbClr val="0A0D12"/>
                  </a:solidFill>
                  <a:latin typeface="Calibri (MS) Bold"/>
                  <a:ea typeface="Calibri (MS) Bold"/>
                  <a:cs typeface="Calibri (MS) Bold"/>
                  <a:sym typeface="Calibri (MS) Bold"/>
                </a:rPr>
                <a:t>3</a:t>
              </a:r>
            </a:p>
          </p:txBody>
        </p:sp>
      </p:grpSp>
      <p:grpSp>
        <p:nvGrpSpPr>
          <p:cNvPr name="Group 47" id="47"/>
          <p:cNvGrpSpPr/>
          <p:nvPr/>
        </p:nvGrpSpPr>
        <p:grpSpPr>
          <a:xfrm rot="0">
            <a:off x="15073884" y="2839212"/>
            <a:ext cx="2057400" cy="411480"/>
            <a:chOff x="0" y="0"/>
            <a:chExt cx="2743200" cy="548640"/>
          </a:xfrm>
        </p:grpSpPr>
        <p:sp>
          <p:nvSpPr>
            <p:cNvPr name="Freeform 48" id="48"/>
            <p:cNvSpPr/>
            <p:nvPr/>
          </p:nvSpPr>
          <p:spPr>
            <a:xfrm flipH="false" flipV="false" rot="0">
              <a:off x="0" y="0"/>
              <a:ext cx="2743200" cy="548640"/>
            </a:xfrm>
            <a:custGeom>
              <a:avLst/>
              <a:gdLst/>
              <a:ahLst/>
              <a:cxnLst/>
              <a:rect r="r" b="b" t="t" l="l"/>
              <a:pathLst>
                <a:path h="548640" w="2743200">
                  <a:moveTo>
                    <a:pt x="0" y="219456"/>
                  </a:moveTo>
                  <a:cubicBezTo>
                    <a:pt x="0" y="98298"/>
                    <a:pt x="98298" y="0"/>
                    <a:pt x="219456" y="0"/>
                  </a:cubicBezTo>
                  <a:lnTo>
                    <a:pt x="2523744" y="0"/>
                  </a:lnTo>
                  <a:cubicBezTo>
                    <a:pt x="2644902" y="0"/>
                    <a:pt x="2743200" y="98298"/>
                    <a:pt x="2743200" y="219456"/>
                  </a:cubicBezTo>
                  <a:lnTo>
                    <a:pt x="2743200" y="329184"/>
                  </a:lnTo>
                  <a:cubicBezTo>
                    <a:pt x="2743200" y="450342"/>
                    <a:pt x="2644902" y="548640"/>
                    <a:pt x="2523744" y="548640"/>
                  </a:cubicBezTo>
                  <a:lnTo>
                    <a:pt x="219456" y="548640"/>
                  </a:lnTo>
                  <a:cubicBezTo>
                    <a:pt x="98298" y="548640"/>
                    <a:pt x="0" y="450342"/>
                    <a:pt x="0" y="329184"/>
                  </a:cubicBezTo>
                  <a:close/>
                </a:path>
              </a:pathLst>
            </a:custGeom>
            <a:solidFill>
              <a:srgbClr val="4ADE80"/>
            </a:solidFill>
          </p:spPr>
        </p:sp>
        <p:sp>
          <p:nvSpPr>
            <p:cNvPr name="TextBox 49" id="49"/>
            <p:cNvSpPr txBox="true"/>
            <p:nvPr/>
          </p:nvSpPr>
          <p:spPr>
            <a:xfrm>
              <a:off x="0" y="-19050"/>
              <a:ext cx="2743200" cy="567690"/>
            </a:xfrm>
            <a:prstGeom prst="rect">
              <a:avLst/>
            </a:prstGeom>
          </p:spPr>
          <p:txBody>
            <a:bodyPr anchor="ctr" rtlCol="false" tIns="50800" lIns="50800" bIns="50800" rIns="50800"/>
            <a:lstStyle/>
            <a:p>
              <a:pPr algn="ctr">
                <a:lnSpc>
                  <a:spcPts val="1889"/>
                </a:lnSpc>
              </a:pPr>
              <a:r>
                <a:rPr lang="en-US" sz="1575" b="true">
                  <a:solidFill>
                    <a:srgbClr val="0A0D12"/>
                  </a:solidFill>
                  <a:latin typeface="Calibri (MS) Bold"/>
                  <a:ea typeface="Calibri (MS) Bold"/>
                  <a:cs typeface="Calibri (MS) Bold"/>
                  <a:sym typeface="Calibri (MS) Bold"/>
                </a:rPr>
                <a:t>UNSUPERVISED</a:t>
              </a:r>
            </a:p>
          </p:txBody>
        </p:sp>
      </p:grpSp>
      <p:sp>
        <p:nvSpPr>
          <p:cNvPr name="TextBox 50" id="50"/>
          <p:cNvSpPr txBox="true"/>
          <p:nvPr/>
        </p:nvSpPr>
        <p:spPr>
          <a:xfrm rot="0">
            <a:off x="12605004" y="3705225"/>
            <a:ext cx="4457700" cy="752475"/>
          </a:xfrm>
          <a:prstGeom prst="rect">
            <a:avLst/>
          </a:prstGeom>
        </p:spPr>
        <p:txBody>
          <a:bodyPr anchor="t" rtlCol="false" tIns="0" lIns="0" bIns="0" rIns="0">
            <a:spAutoFit/>
          </a:bodyPr>
          <a:lstStyle/>
          <a:p>
            <a:pPr algn="l">
              <a:lnSpc>
                <a:spcPts val="3600"/>
              </a:lnSpc>
            </a:pPr>
            <a:r>
              <a:rPr lang="en-US" sz="3000" b="true">
                <a:solidFill>
                  <a:srgbClr val="E8ECF1"/>
                </a:solidFill>
                <a:latin typeface="Calibri (MS) Bold"/>
                <a:ea typeface="Calibri (MS) Bold"/>
                <a:cs typeface="Calibri (MS) Bold"/>
                <a:sym typeface="Calibri (MS) Bold"/>
              </a:rPr>
              <a:t>Discover player groups</a:t>
            </a:r>
          </a:p>
        </p:txBody>
      </p:sp>
      <p:sp>
        <p:nvSpPr>
          <p:cNvPr name="TextBox 51" id="51"/>
          <p:cNvSpPr txBox="true"/>
          <p:nvPr/>
        </p:nvSpPr>
        <p:spPr>
          <a:xfrm rot="0">
            <a:off x="12605004" y="4537710"/>
            <a:ext cx="4457700" cy="1840230"/>
          </a:xfrm>
          <a:prstGeom prst="rect">
            <a:avLst/>
          </a:prstGeom>
        </p:spPr>
        <p:txBody>
          <a:bodyPr anchor="t" rtlCol="false" tIns="0" lIns="0" bIns="0" rIns="0">
            <a:spAutoFit/>
          </a:bodyPr>
          <a:lstStyle/>
          <a:p>
            <a:pPr algn="l">
              <a:lnSpc>
                <a:spcPts val="2700"/>
              </a:lnSpc>
            </a:pPr>
            <a:r>
              <a:rPr lang="en-US" sz="2250">
                <a:solidFill>
                  <a:srgbClr val="9AA4B2"/>
                </a:solidFill>
                <a:latin typeface="Calibri (MS)"/>
                <a:ea typeface="Calibri (MS)"/>
                <a:cs typeface="Calibri (MS)"/>
                <a:sym typeface="Calibri (MS)"/>
              </a:rPr>
              <a:t>Group players with similar statistics. No labels are given.</a:t>
            </a:r>
          </a:p>
        </p:txBody>
      </p:sp>
      <p:sp>
        <p:nvSpPr>
          <p:cNvPr name="AutoShape 52" id="52"/>
          <p:cNvSpPr/>
          <p:nvPr/>
        </p:nvSpPr>
        <p:spPr>
          <a:xfrm rot="14700">
            <a:off x="12595460" y="6510338"/>
            <a:ext cx="4463072" cy="0"/>
          </a:xfrm>
          <a:prstGeom prst="line">
            <a:avLst/>
          </a:prstGeom>
          <a:ln cap="rnd" w="9525">
            <a:solidFill>
              <a:srgbClr val="2A323D"/>
            </a:solidFill>
            <a:prstDash val="solid"/>
            <a:headEnd type="none" len="sm" w="sm"/>
            <a:tailEnd type="none" len="sm" w="sm"/>
          </a:ln>
        </p:spPr>
      </p:sp>
      <p:grpSp>
        <p:nvGrpSpPr>
          <p:cNvPr name="Group 53" id="53"/>
          <p:cNvGrpSpPr/>
          <p:nvPr/>
        </p:nvGrpSpPr>
        <p:grpSpPr>
          <a:xfrm rot="0">
            <a:off x="12605004" y="6720840"/>
            <a:ext cx="4457700" cy="548640"/>
            <a:chOff x="0" y="0"/>
            <a:chExt cx="5943600" cy="731520"/>
          </a:xfrm>
        </p:grpSpPr>
        <p:sp>
          <p:nvSpPr>
            <p:cNvPr name="Freeform 54" id="54"/>
            <p:cNvSpPr/>
            <p:nvPr/>
          </p:nvSpPr>
          <p:spPr>
            <a:xfrm flipH="false" flipV="false" rot="0">
              <a:off x="0" y="0"/>
              <a:ext cx="5943600" cy="731520"/>
            </a:xfrm>
            <a:custGeom>
              <a:avLst/>
              <a:gdLst/>
              <a:ahLst/>
              <a:cxnLst/>
              <a:rect r="r" b="b" t="t" l="l"/>
              <a:pathLst>
                <a:path h="731520" w="5943600">
                  <a:moveTo>
                    <a:pt x="0" y="0"/>
                  </a:moveTo>
                  <a:lnTo>
                    <a:pt x="5943600" y="0"/>
                  </a:lnTo>
                  <a:lnTo>
                    <a:pt x="5943600" y="731520"/>
                  </a:lnTo>
                  <a:lnTo>
                    <a:pt x="0" y="731520"/>
                  </a:lnTo>
                  <a:close/>
                </a:path>
              </a:pathLst>
            </a:custGeom>
            <a:blipFill>
              <a:blip r:embed="rId3">
                <a:alphaModFix amt="0"/>
              </a:blip>
              <a:stretch>
                <a:fillRect l="0" t="-108315" r="0" b="-108315"/>
              </a:stretch>
            </a:blipFill>
          </p:spPr>
        </p:sp>
        <p:sp>
          <p:nvSpPr>
            <p:cNvPr name="TextBox 55" id="55"/>
            <p:cNvSpPr txBox="true"/>
            <p:nvPr/>
          </p:nvSpPr>
          <p:spPr>
            <a:xfrm>
              <a:off x="0" y="-47625"/>
              <a:ext cx="5943600" cy="779145"/>
            </a:xfrm>
            <a:prstGeom prst="rect">
              <a:avLst/>
            </a:prstGeom>
          </p:spPr>
          <p:txBody>
            <a:bodyPr anchor="ctr" rtlCol="false" tIns="0" lIns="0" bIns="0" rIns="0"/>
            <a:lstStyle/>
            <a:p>
              <a:pPr algn="l">
                <a:lnSpc>
                  <a:spcPts val="2340"/>
                </a:lnSpc>
              </a:pPr>
              <a:r>
                <a:rPr lang="en-US" sz="1950" b="true">
                  <a:solidFill>
                    <a:srgbClr val="22D3EE"/>
                  </a:solidFill>
                  <a:latin typeface="Calibri (MS) Bold"/>
                  <a:ea typeface="Calibri (MS) Bold"/>
                  <a:cs typeface="Calibri (MS) Bold"/>
                  <a:sym typeface="Calibri (MS) Bold"/>
                </a:rPr>
                <a:t>K-Means</a:t>
              </a:r>
            </a:p>
          </p:txBody>
        </p:sp>
      </p:grpSp>
      <p:grpSp>
        <p:nvGrpSpPr>
          <p:cNvPr name="Group 56" id="56"/>
          <p:cNvGrpSpPr/>
          <p:nvPr/>
        </p:nvGrpSpPr>
        <p:grpSpPr>
          <a:xfrm rot="0">
            <a:off x="815816" y="7948136"/>
            <a:ext cx="16651796" cy="1317308"/>
            <a:chOff x="0" y="0"/>
            <a:chExt cx="22202394" cy="1756410"/>
          </a:xfrm>
        </p:grpSpPr>
        <p:sp>
          <p:nvSpPr>
            <p:cNvPr name="Freeform 57" id="57"/>
            <p:cNvSpPr/>
            <p:nvPr/>
          </p:nvSpPr>
          <p:spPr>
            <a:xfrm flipH="false" flipV="false" rot="0">
              <a:off x="0" y="0"/>
              <a:ext cx="22202394" cy="1756410"/>
            </a:xfrm>
            <a:custGeom>
              <a:avLst/>
              <a:gdLst/>
              <a:ahLst/>
              <a:cxnLst/>
              <a:rect r="r" b="b" t="t" l="l"/>
              <a:pathLst>
                <a:path h="1756410" w="22202394">
                  <a:moveTo>
                    <a:pt x="0" y="147955"/>
                  </a:moveTo>
                  <a:cubicBezTo>
                    <a:pt x="0" y="66167"/>
                    <a:pt x="66167" y="0"/>
                    <a:pt x="147955" y="0"/>
                  </a:cubicBezTo>
                  <a:lnTo>
                    <a:pt x="22054438" y="0"/>
                  </a:lnTo>
                  <a:cubicBezTo>
                    <a:pt x="22136100" y="0"/>
                    <a:pt x="22202394" y="66167"/>
                    <a:pt x="22202394" y="147955"/>
                  </a:cubicBezTo>
                  <a:lnTo>
                    <a:pt x="22202394" y="1608455"/>
                  </a:lnTo>
                  <a:cubicBezTo>
                    <a:pt x="22202394" y="1690116"/>
                    <a:pt x="22136227" y="1756410"/>
                    <a:pt x="22054438" y="1756410"/>
                  </a:cubicBezTo>
                  <a:lnTo>
                    <a:pt x="147955" y="1756410"/>
                  </a:lnTo>
                  <a:cubicBezTo>
                    <a:pt x="66167" y="1756410"/>
                    <a:pt x="0" y="1690243"/>
                    <a:pt x="0" y="1608455"/>
                  </a:cubicBezTo>
                  <a:close/>
                </a:path>
              </a:pathLst>
            </a:custGeom>
            <a:solidFill>
              <a:srgbClr val="1D242E"/>
            </a:solidFill>
            <a:ln w="14288" cap="sq">
              <a:solidFill>
                <a:srgbClr val="22D3EE"/>
              </a:solidFill>
              <a:prstDash val="solid"/>
              <a:miter/>
            </a:ln>
          </p:spPr>
        </p:sp>
      </p:grpSp>
      <p:grpSp>
        <p:nvGrpSpPr>
          <p:cNvPr name="Group 58" id="58"/>
          <p:cNvGrpSpPr/>
          <p:nvPr/>
        </p:nvGrpSpPr>
        <p:grpSpPr>
          <a:xfrm rot="0">
            <a:off x="1234440" y="7955280"/>
            <a:ext cx="15814548" cy="1303020"/>
            <a:chOff x="0" y="0"/>
            <a:chExt cx="21086064" cy="1737360"/>
          </a:xfrm>
        </p:grpSpPr>
        <p:sp>
          <p:nvSpPr>
            <p:cNvPr name="Freeform 59" id="59"/>
            <p:cNvSpPr/>
            <p:nvPr/>
          </p:nvSpPr>
          <p:spPr>
            <a:xfrm flipH="false" flipV="false" rot="0">
              <a:off x="0" y="0"/>
              <a:ext cx="21086065" cy="1737360"/>
            </a:xfrm>
            <a:custGeom>
              <a:avLst/>
              <a:gdLst/>
              <a:ahLst/>
              <a:cxnLst/>
              <a:rect r="r" b="b" t="t" l="l"/>
              <a:pathLst>
                <a:path h="1737360" w="21086065">
                  <a:moveTo>
                    <a:pt x="0" y="0"/>
                  </a:moveTo>
                  <a:lnTo>
                    <a:pt x="21086065" y="0"/>
                  </a:lnTo>
                  <a:lnTo>
                    <a:pt x="21086065" y="1737360"/>
                  </a:lnTo>
                  <a:lnTo>
                    <a:pt x="0" y="1737360"/>
                  </a:lnTo>
                  <a:close/>
                </a:path>
              </a:pathLst>
            </a:custGeom>
            <a:blipFill>
              <a:blip r:embed="rId3">
                <a:alphaModFix amt="0"/>
              </a:blip>
              <a:stretch>
                <a:fillRect l="0" t="-186486" r="0" b="-186486"/>
              </a:stretch>
            </a:blipFill>
          </p:spPr>
        </p:sp>
        <p:sp>
          <p:nvSpPr>
            <p:cNvPr name="TextBox 60" id="60"/>
            <p:cNvSpPr txBox="true"/>
            <p:nvPr/>
          </p:nvSpPr>
          <p:spPr>
            <a:xfrm>
              <a:off x="0" y="-57150"/>
              <a:ext cx="21086064" cy="1794510"/>
            </a:xfrm>
            <a:prstGeom prst="rect">
              <a:avLst/>
            </a:prstGeom>
          </p:spPr>
          <p:txBody>
            <a:bodyPr anchor="ctr" rtlCol="false" tIns="0" lIns="0" bIns="0" rIns="0"/>
            <a:lstStyle/>
            <a:p>
              <a:pPr algn="l">
                <a:lnSpc>
                  <a:spcPts val="3419"/>
                </a:lnSpc>
              </a:pPr>
              <a:r>
                <a:rPr lang="en-US" sz="2850" b="true">
                  <a:solidFill>
                    <a:srgbClr val="22D3EE"/>
                  </a:solidFill>
                  <a:latin typeface="Calibri (MS) Bold"/>
                  <a:ea typeface="Calibri (MS) Bold"/>
                  <a:cs typeface="Calibri (MS) Bold"/>
                  <a:sym typeface="Calibri (MS) Bold"/>
                </a:rPr>
                <a:t>Main goal:  </a:t>
              </a:r>
              <a:r>
                <a:rPr lang="en-US" sz="2850">
                  <a:solidFill>
                    <a:srgbClr val="E8ECF1"/>
                  </a:solidFill>
                  <a:latin typeface="Calibri (MS)"/>
                  <a:ea typeface="Calibri (MS)"/>
                  <a:cs typeface="Calibri (MS)"/>
                  <a:sym typeface="Calibri (MS)"/>
                </a:rPr>
                <a:t>learn and demonstrate ML concepts through a practical problem.</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Dataset &amp; Features</a:t>
            </a:r>
          </a:p>
        </p:txBody>
      </p:sp>
      <p:grpSp>
        <p:nvGrpSpPr>
          <p:cNvPr name="Group 5" id="5"/>
          <p:cNvGrpSpPr/>
          <p:nvPr/>
        </p:nvGrpSpPr>
        <p:grpSpPr>
          <a:xfrm rot="0">
            <a:off x="822960" y="1536192"/>
            <a:ext cx="16637508" cy="480060"/>
            <a:chOff x="0" y="0"/>
            <a:chExt cx="22183344" cy="640080"/>
          </a:xfrm>
        </p:grpSpPr>
        <p:sp>
          <p:nvSpPr>
            <p:cNvPr name="Freeform 6" id="6"/>
            <p:cNvSpPr/>
            <p:nvPr/>
          </p:nvSpPr>
          <p:spPr>
            <a:xfrm flipH="false" flipV="false" rot="0">
              <a:off x="0" y="0"/>
              <a:ext cx="22183344" cy="640080"/>
            </a:xfrm>
            <a:custGeom>
              <a:avLst/>
              <a:gdLst/>
              <a:ahLst/>
              <a:cxnLst/>
              <a:rect r="r" b="b" t="t" l="l"/>
              <a:pathLst>
                <a:path h="640080" w="22183344">
                  <a:moveTo>
                    <a:pt x="0" y="0"/>
                  </a:moveTo>
                  <a:lnTo>
                    <a:pt x="22183344" y="0"/>
                  </a:lnTo>
                  <a:lnTo>
                    <a:pt x="22183344" y="640080"/>
                  </a:lnTo>
                  <a:lnTo>
                    <a:pt x="0" y="640080"/>
                  </a:lnTo>
                  <a:close/>
                </a:path>
              </a:pathLst>
            </a:custGeom>
            <a:blipFill>
              <a:blip r:embed="rId3">
                <a:alphaModFix amt="0"/>
              </a:blip>
              <a:stretch>
                <a:fillRect l="0" t="-625295" r="0" b="-625295"/>
              </a:stretch>
            </a:blipFill>
          </p:spPr>
        </p:sp>
        <p:sp>
          <p:nvSpPr>
            <p:cNvPr name="TextBox 7" id="7"/>
            <p:cNvSpPr txBox="true"/>
            <p:nvPr/>
          </p:nvSpPr>
          <p:spPr>
            <a:xfrm>
              <a:off x="0" y="-47625"/>
              <a:ext cx="22183344" cy="687705"/>
            </a:xfrm>
            <a:prstGeom prst="rect">
              <a:avLst/>
            </a:prstGeom>
          </p:spPr>
          <p:txBody>
            <a:bodyPr anchor="ctr" rtlCol="false" tIns="0" lIns="0" bIns="0" rIns="0"/>
            <a:lstStyle/>
            <a:p>
              <a:pPr algn="l">
                <a:lnSpc>
                  <a:spcPts val="2520"/>
                </a:lnSpc>
              </a:pPr>
              <a:r>
                <a:rPr lang="en-US" sz="2100">
                  <a:solidFill>
                    <a:srgbClr val="9AA4B2"/>
                  </a:solidFill>
                  <a:latin typeface="Calibri (MS)"/>
                  <a:ea typeface="Calibri (MS)"/>
                  <a:cs typeface="Calibri (MS)"/>
                  <a:sym typeface="Calibri (MS)"/>
                </a:rPr>
                <a:t>Raw football data becomes one row per player</a:t>
              </a:r>
            </a:p>
          </p:txBody>
        </p:sp>
      </p:grpSp>
      <p:grpSp>
        <p:nvGrpSpPr>
          <p:cNvPr name="Group 8" id="8"/>
          <p:cNvGrpSpPr/>
          <p:nvPr/>
        </p:nvGrpSpPr>
        <p:grpSpPr>
          <a:xfrm rot="0">
            <a:off x="822960" y="9710928"/>
            <a:ext cx="10972800" cy="342900"/>
            <a:chOff x="0" y="0"/>
            <a:chExt cx="14630400" cy="457200"/>
          </a:xfrm>
        </p:grpSpPr>
        <p:sp>
          <p:nvSpPr>
            <p:cNvPr name="Freeform 9" id="9"/>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10" id="10"/>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11" id="11"/>
          <p:cNvGrpSpPr/>
          <p:nvPr/>
        </p:nvGrpSpPr>
        <p:grpSpPr>
          <a:xfrm rot="0">
            <a:off x="16088868" y="9710928"/>
            <a:ext cx="1371600" cy="342900"/>
            <a:chOff x="0" y="0"/>
            <a:chExt cx="1828800" cy="457200"/>
          </a:xfrm>
        </p:grpSpPr>
        <p:sp>
          <p:nvSpPr>
            <p:cNvPr name="Freeform 12" id="12"/>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3" id="13"/>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4</a:t>
              </a:r>
            </a:p>
          </p:txBody>
        </p:sp>
      </p:grpSp>
      <p:grpSp>
        <p:nvGrpSpPr>
          <p:cNvPr name="Group 14" id="14"/>
          <p:cNvGrpSpPr/>
          <p:nvPr/>
        </p:nvGrpSpPr>
        <p:grpSpPr>
          <a:xfrm rot="0">
            <a:off x="815816" y="2255996"/>
            <a:ext cx="4677728" cy="1385888"/>
            <a:chOff x="0" y="0"/>
            <a:chExt cx="6236970" cy="1847850"/>
          </a:xfrm>
        </p:grpSpPr>
        <p:sp>
          <p:nvSpPr>
            <p:cNvPr name="Freeform 15" id="15"/>
            <p:cNvSpPr/>
            <p:nvPr/>
          </p:nvSpPr>
          <p:spPr>
            <a:xfrm flipH="false" flipV="false" rot="0">
              <a:off x="0" y="0"/>
              <a:ext cx="6236970" cy="1847850"/>
            </a:xfrm>
            <a:custGeom>
              <a:avLst/>
              <a:gdLst/>
              <a:ahLst/>
              <a:cxnLst/>
              <a:rect r="r" b="b" t="t" l="l"/>
              <a:pathLst>
                <a:path h="1847850" w="6236970">
                  <a:moveTo>
                    <a:pt x="0" y="147828"/>
                  </a:moveTo>
                  <a:cubicBezTo>
                    <a:pt x="0" y="66167"/>
                    <a:pt x="66167" y="0"/>
                    <a:pt x="147828" y="0"/>
                  </a:cubicBezTo>
                  <a:lnTo>
                    <a:pt x="6089142" y="0"/>
                  </a:lnTo>
                  <a:cubicBezTo>
                    <a:pt x="6170803" y="0"/>
                    <a:pt x="6236970" y="66167"/>
                    <a:pt x="6236970" y="147828"/>
                  </a:cubicBezTo>
                  <a:lnTo>
                    <a:pt x="6236970" y="1700022"/>
                  </a:lnTo>
                  <a:cubicBezTo>
                    <a:pt x="6236970" y="1781683"/>
                    <a:pt x="6170803" y="1847850"/>
                    <a:pt x="6089142" y="1847850"/>
                  </a:cubicBezTo>
                  <a:lnTo>
                    <a:pt x="147828" y="1847850"/>
                  </a:lnTo>
                  <a:cubicBezTo>
                    <a:pt x="66167" y="1847850"/>
                    <a:pt x="0" y="1781683"/>
                    <a:pt x="0" y="1700022"/>
                  </a:cubicBezTo>
                  <a:close/>
                </a:path>
              </a:pathLst>
            </a:custGeom>
            <a:solidFill>
              <a:srgbClr val="161B22"/>
            </a:solidFill>
            <a:ln w="14288" cap="sq">
              <a:solidFill>
                <a:srgbClr val="2A323D"/>
              </a:solidFill>
              <a:prstDash val="solid"/>
              <a:miter/>
            </a:ln>
          </p:spPr>
        </p:sp>
        <p:sp>
          <p:nvSpPr>
            <p:cNvPr name="TextBox 16" id="16"/>
            <p:cNvSpPr txBox="true"/>
            <p:nvPr/>
          </p:nvSpPr>
          <p:spPr>
            <a:xfrm>
              <a:off x="0" y="-38100"/>
              <a:ext cx="6236970" cy="1885950"/>
            </a:xfrm>
            <a:prstGeom prst="rect">
              <a:avLst/>
            </a:prstGeom>
          </p:spPr>
          <p:txBody>
            <a:bodyPr anchor="ctr" rtlCol="false" tIns="50800" lIns="50800" bIns="50800" rIns="50800"/>
            <a:lstStyle/>
            <a:p>
              <a:pPr algn="l">
                <a:lnSpc>
                  <a:spcPts val="2879"/>
                </a:lnSpc>
              </a:pPr>
              <a:r>
                <a:rPr lang="en-US" sz="2400" b="true">
                  <a:solidFill>
                    <a:srgbClr val="E8ECF1"/>
                  </a:solidFill>
                  <a:latin typeface="Calibri (MS) Bold"/>
                  <a:ea typeface="Calibri (MS) Bold"/>
                  <a:cs typeface="Calibri (MS) Bold"/>
                  <a:sym typeface="Calibri (MS) Bold"/>
                </a:rPr>
                <a:t>Dataset</a:t>
              </a:r>
            </a:p>
            <a:p>
              <a:pPr algn="l">
                <a:lnSpc>
                  <a:spcPts val="2430"/>
                </a:lnSpc>
              </a:pPr>
              <a:r>
                <a:rPr lang="en-US" sz="2025">
                  <a:solidFill>
                    <a:srgbClr val="9AA4B2"/>
                  </a:solidFill>
                  <a:latin typeface="Calibri (MS)"/>
                  <a:ea typeface="Calibri (MS)"/>
                  <a:cs typeface="Calibri (MS)"/>
                  <a:sym typeface="Calibri (MS)"/>
                </a:rPr>
                <a:t>Public football data, e.g. StatsBomb Open Data or a player-statistics CSV</a:t>
              </a:r>
            </a:p>
          </p:txBody>
        </p:sp>
      </p:grpSp>
      <p:sp>
        <p:nvSpPr>
          <p:cNvPr name="AutoShape 17" id="17"/>
          <p:cNvSpPr/>
          <p:nvPr/>
        </p:nvSpPr>
        <p:spPr>
          <a:xfrm rot="121860">
            <a:off x="5533168" y="2939415"/>
            <a:ext cx="1209484" cy="0"/>
          </a:xfrm>
          <a:prstGeom prst="line">
            <a:avLst/>
          </a:prstGeom>
          <a:ln cap="rnd" w="19050">
            <a:solidFill>
              <a:srgbClr val="22D3EE"/>
            </a:solidFill>
            <a:prstDash val="solid"/>
            <a:headEnd type="none" len="sm" w="sm"/>
            <a:tailEnd type="triangle" len="med" w="lg"/>
          </a:ln>
        </p:spPr>
      </p:sp>
      <p:grpSp>
        <p:nvGrpSpPr>
          <p:cNvPr name="Group 18" id="18"/>
          <p:cNvGrpSpPr/>
          <p:nvPr/>
        </p:nvGrpSpPr>
        <p:grpSpPr>
          <a:xfrm rot="0">
            <a:off x="6802850" y="2255996"/>
            <a:ext cx="4677728" cy="1385888"/>
            <a:chOff x="0" y="0"/>
            <a:chExt cx="6236970" cy="1847850"/>
          </a:xfrm>
        </p:grpSpPr>
        <p:sp>
          <p:nvSpPr>
            <p:cNvPr name="Freeform 19" id="19"/>
            <p:cNvSpPr/>
            <p:nvPr/>
          </p:nvSpPr>
          <p:spPr>
            <a:xfrm flipH="false" flipV="false" rot="0">
              <a:off x="0" y="0"/>
              <a:ext cx="6236970" cy="1847850"/>
            </a:xfrm>
            <a:custGeom>
              <a:avLst/>
              <a:gdLst/>
              <a:ahLst/>
              <a:cxnLst/>
              <a:rect r="r" b="b" t="t" l="l"/>
              <a:pathLst>
                <a:path h="1847850" w="6236970">
                  <a:moveTo>
                    <a:pt x="0" y="147828"/>
                  </a:moveTo>
                  <a:cubicBezTo>
                    <a:pt x="0" y="66167"/>
                    <a:pt x="66167" y="0"/>
                    <a:pt x="147828" y="0"/>
                  </a:cubicBezTo>
                  <a:lnTo>
                    <a:pt x="6089142" y="0"/>
                  </a:lnTo>
                  <a:cubicBezTo>
                    <a:pt x="6170803" y="0"/>
                    <a:pt x="6236970" y="66167"/>
                    <a:pt x="6236970" y="147828"/>
                  </a:cubicBezTo>
                  <a:lnTo>
                    <a:pt x="6236970" y="1700022"/>
                  </a:lnTo>
                  <a:cubicBezTo>
                    <a:pt x="6236970" y="1781683"/>
                    <a:pt x="6170803" y="1847850"/>
                    <a:pt x="6089142" y="1847850"/>
                  </a:cubicBezTo>
                  <a:lnTo>
                    <a:pt x="147828" y="1847850"/>
                  </a:lnTo>
                  <a:cubicBezTo>
                    <a:pt x="66167" y="1847850"/>
                    <a:pt x="0" y="1781683"/>
                    <a:pt x="0" y="1700022"/>
                  </a:cubicBezTo>
                  <a:close/>
                </a:path>
              </a:pathLst>
            </a:custGeom>
            <a:solidFill>
              <a:srgbClr val="161B22"/>
            </a:solidFill>
            <a:ln w="14288" cap="sq">
              <a:solidFill>
                <a:srgbClr val="2A323D"/>
              </a:solidFill>
              <a:prstDash val="solid"/>
              <a:miter/>
            </a:ln>
          </p:spPr>
        </p:sp>
        <p:sp>
          <p:nvSpPr>
            <p:cNvPr name="TextBox 20" id="20"/>
            <p:cNvSpPr txBox="true"/>
            <p:nvPr/>
          </p:nvSpPr>
          <p:spPr>
            <a:xfrm>
              <a:off x="0" y="-38100"/>
              <a:ext cx="6236970" cy="1885950"/>
            </a:xfrm>
            <a:prstGeom prst="rect">
              <a:avLst/>
            </a:prstGeom>
          </p:spPr>
          <p:txBody>
            <a:bodyPr anchor="ctr" rtlCol="false" tIns="50800" lIns="50800" bIns="50800" rIns="50800"/>
            <a:lstStyle/>
            <a:p>
              <a:pPr algn="l">
                <a:lnSpc>
                  <a:spcPts val="2879"/>
                </a:lnSpc>
              </a:pPr>
              <a:r>
                <a:rPr lang="en-US" sz="2400" b="true">
                  <a:solidFill>
                    <a:srgbClr val="E8ECF1"/>
                  </a:solidFill>
                  <a:latin typeface="Calibri (MS) Bold"/>
                  <a:ea typeface="Calibri (MS) Bold"/>
                  <a:cs typeface="Calibri (MS) Bold"/>
                  <a:sym typeface="Calibri (MS) Bold"/>
                </a:rPr>
                <a:t>Player Statistics</a:t>
              </a:r>
            </a:p>
            <a:p>
              <a:pPr algn="l">
                <a:lnSpc>
                  <a:spcPts val="2430"/>
                </a:lnSpc>
              </a:pPr>
              <a:r>
                <a:rPr lang="en-US" sz="2025">
                  <a:solidFill>
                    <a:srgbClr val="9AA4B2"/>
                  </a:solidFill>
                  <a:latin typeface="Calibri (MS)"/>
                  <a:ea typeface="Calibri (MS)"/>
                  <a:cs typeface="Calibri (MS)"/>
                  <a:sym typeface="Calibri (MS)"/>
                </a:rPr>
                <a:t>One row per player: counts and rates</a:t>
              </a:r>
            </a:p>
          </p:txBody>
        </p:sp>
      </p:grpSp>
      <p:sp>
        <p:nvSpPr>
          <p:cNvPr name="AutoShape 21" id="21"/>
          <p:cNvSpPr/>
          <p:nvPr/>
        </p:nvSpPr>
        <p:spPr>
          <a:xfrm rot="121860">
            <a:off x="11520202" y="2939415"/>
            <a:ext cx="1209484" cy="0"/>
          </a:xfrm>
          <a:prstGeom prst="line">
            <a:avLst/>
          </a:prstGeom>
          <a:ln cap="rnd" w="19050">
            <a:solidFill>
              <a:srgbClr val="22D3EE"/>
            </a:solidFill>
            <a:prstDash val="solid"/>
            <a:headEnd type="none" len="sm" w="sm"/>
            <a:tailEnd type="triangle" len="med" w="lg"/>
          </a:ln>
        </p:spPr>
      </p:sp>
      <p:grpSp>
        <p:nvGrpSpPr>
          <p:cNvPr name="Group 22" id="22"/>
          <p:cNvGrpSpPr/>
          <p:nvPr/>
        </p:nvGrpSpPr>
        <p:grpSpPr>
          <a:xfrm rot="0">
            <a:off x="12789884" y="2255996"/>
            <a:ext cx="4677728" cy="1385888"/>
            <a:chOff x="0" y="0"/>
            <a:chExt cx="6236970" cy="1847850"/>
          </a:xfrm>
        </p:grpSpPr>
        <p:sp>
          <p:nvSpPr>
            <p:cNvPr name="Freeform 23" id="23"/>
            <p:cNvSpPr/>
            <p:nvPr/>
          </p:nvSpPr>
          <p:spPr>
            <a:xfrm flipH="false" flipV="false" rot="0">
              <a:off x="0" y="0"/>
              <a:ext cx="6236970" cy="1847850"/>
            </a:xfrm>
            <a:custGeom>
              <a:avLst/>
              <a:gdLst/>
              <a:ahLst/>
              <a:cxnLst/>
              <a:rect r="r" b="b" t="t" l="l"/>
              <a:pathLst>
                <a:path h="1847850" w="6236970">
                  <a:moveTo>
                    <a:pt x="0" y="147828"/>
                  </a:moveTo>
                  <a:cubicBezTo>
                    <a:pt x="0" y="66167"/>
                    <a:pt x="66167" y="0"/>
                    <a:pt x="147828" y="0"/>
                  </a:cubicBezTo>
                  <a:lnTo>
                    <a:pt x="6089142" y="0"/>
                  </a:lnTo>
                  <a:cubicBezTo>
                    <a:pt x="6170803" y="0"/>
                    <a:pt x="6236970" y="66167"/>
                    <a:pt x="6236970" y="147828"/>
                  </a:cubicBezTo>
                  <a:lnTo>
                    <a:pt x="6236970" y="1700022"/>
                  </a:lnTo>
                  <a:cubicBezTo>
                    <a:pt x="6236970" y="1781683"/>
                    <a:pt x="6170803" y="1847850"/>
                    <a:pt x="6089142" y="1847850"/>
                  </a:cubicBezTo>
                  <a:lnTo>
                    <a:pt x="147828" y="1847850"/>
                  </a:lnTo>
                  <a:cubicBezTo>
                    <a:pt x="66167" y="1847850"/>
                    <a:pt x="0" y="1781683"/>
                    <a:pt x="0" y="1700022"/>
                  </a:cubicBezTo>
                  <a:close/>
                </a:path>
              </a:pathLst>
            </a:custGeom>
            <a:solidFill>
              <a:srgbClr val="161B22"/>
            </a:solidFill>
            <a:ln w="14288" cap="sq">
              <a:solidFill>
                <a:srgbClr val="2A323D"/>
              </a:solidFill>
              <a:prstDash val="solid"/>
              <a:miter/>
            </a:ln>
          </p:spPr>
        </p:sp>
        <p:sp>
          <p:nvSpPr>
            <p:cNvPr name="TextBox 24" id="24"/>
            <p:cNvSpPr txBox="true"/>
            <p:nvPr/>
          </p:nvSpPr>
          <p:spPr>
            <a:xfrm>
              <a:off x="0" y="-38100"/>
              <a:ext cx="6236970" cy="1885950"/>
            </a:xfrm>
            <a:prstGeom prst="rect">
              <a:avLst/>
            </a:prstGeom>
          </p:spPr>
          <p:txBody>
            <a:bodyPr anchor="ctr" rtlCol="false" tIns="50800" lIns="50800" bIns="50800" rIns="50800"/>
            <a:lstStyle/>
            <a:p>
              <a:pPr algn="l">
                <a:lnSpc>
                  <a:spcPts val="2879"/>
                </a:lnSpc>
              </a:pPr>
              <a:r>
                <a:rPr lang="en-US" sz="2400" b="true">
                  <a:solidFill>
                    <a:srgbClr val="E8ECF1"/>
                  </a:solidFill>
                  <a:latin typeface="Calibri (MS) Bold"/>
                  <a:ea typeface="Calibri (MS) Bold"/>
                  <a:cs typeface="Calibri (MS) Bold"/>
                  <a:sym typeface="Calibri (MS) Bold"/>
                </a:rPr>
                <a:t>ML Features</a:t>
              </a:r>
            </a:p>
            <a:p>
              <a:pPr algn="l">
                <a:lnSpc>
                  <a:spcPts val="2430"/>
                </a:lnSpc>
              </a:pPr>
              <a:r>
                <a:rPr lang="en-US" sz="2025">
                  <a:solidFill>
                    <a:srgbClr val="9AA4B2"/>
                  </a:solidFill>
                  <a:latin typeface="Calibri (MS)"/>
                  <a:ea typeface="Calibri (MS)"/>
                  <a:cs typeface="Calibri (MS)"/>
                  <a:sym typeface="Calibri (MS)"/>
                </a:rPr>
                <a:t>Numeric columns the models learn from</a:t>
              </a:r>
            </a:p>
          </p:txBody>
        </p:sp>
      </p:grpSp>
      <p:grpSp>
        <p:nvGrpSpPr>
          <p:cNvPr name="Group 25" id="25"/>
          <p:cNvGrpSpPr/>
          <p:nvPr/>
        </p:nvGrpSpPr>
        <p:grpSpPr>
          <a:xfrm rot="0">
            <a:off x="815816" y="3970496"/>
            <a:ext cx="7832407" cy="5432108"/>
            <a:chOff x="0" y="0"/>
            <a:chExt cx="10443210" cy="7242810"/>
          </a:xfrm>
        </p:grpSpPr>
        <p:sp>
          <p:nvSpPr>
            <p:cNvPr name="Freeform 26" id="26"/>
            <p:cNvSpPr/>
            <p:nvPr/>
          </p:nvSpPr>
          <p:spPr>
            <a:xfrm flipH="false" flipV="false" rot="0">
              <a:off x="0" y="0"/>
              <a:ext cx="10443210" cy="7242810"/>
            </a:xfrm>
            <a:custGeom>
              <a:avLst/>
              <a:gdLst/>
              <a:ahLst/>
              <a:cxnLst/>
              <a:rect r="r" b="b" t="t" l="l"/>
              <a:pathLst>
                <a:path h="7242810" w="10443210">
                  <a:moveTo>
                    <a:pt x="0" y="146685"/>
                  </a:moveTo>
                  <a:cubicBezTo>
                    <a:pt x="0" y="65659"/>
                    <a:pt x="65659" y="0"/>
                    <a:pt x="146685" y="0"/>
                  </a:cubicBezTo>
                  <a:lnTo>
                    <a:pt x="10296525" y="0"/>
                  </a:lnTo>
                  <a:cubicBezTo>
                    <a:pt x="10377551" y="0"/>
                    <a:pt x="10443210" y="65659"/>
                    <a:pt x="10443210" y="146685"/>
                  </a:cubicBezTo>
                  <a:lnTo>
                    <a:pt x="10443210" y="7096125"/>
                  </a:lnTo>
                  <a:cubicBezTo>
                    <a:pt x="10443210" y="7177151"/>
                    <a:pt x="10377551" y="7242810"/>
                    <a:pt x="10296525" y="7242810"/>
                  </a:cubicBezTo>
                  <a:lnTo>
                    <a:pt x="146685" y="7242810"/>
                  </a:lnTo>
                  <a:cubicBezTo>
                    <a:pt x="65659" y="7242810"/>
                    <a:pt x="0" y="7177151"/>
                    <a:pt x="0" y="7096125"/>
                  </a:cubicBezTo>
                  <a:close/>
                </a:path>
              </a:pathLst>
            </a:custGeom>
            <a:solidFill>
              <a:srgbClr val="161B22"/>
            </a:solidFill>
            <a:ln w="14288" cap="sq">
              <a:solidFill>
                <a:srgbClr val="2A323D"/>
              </a:solidFill>
              <a:prstDash val="solid"/>
              <a:miter/>
            </a:ln>
          </p:spPr>
        </p:sp>
      </p:grpSp>
      <p:grpSp>
        <p:nvGrpSpPr>
          <p:cNvPr name="Group 27" id="27"/>
          <p:cNvGrpSpPr/>
          <p:nvPr/>
        </p:nvGrpSpPr>
        <p:grpSpPr>
          <a:xfrm rot="0">
            <a:off x="1165860" y="4142232"/>
            <a:ext cx="6858000" cy="384048"/>
            <a:chOff x="0" y="0"/>
            <a:chExt cx="9144000" cy="512064"/>
          </a:xfrm>
        </p:grpSpPr>
        <p:sp>
          <p:nvSpPr>
            <p:cNvPr name="Freeform 28" id="28"/>
            <p:cNvSpPr/>
            <p:nvPr/>
          </p:nvSpPr>
          <p:spPr>
            <a:xfrm flipH="false" flipV="false" rot="0">
              <a:off x="0" y="0"/>
              <a:ext cx="9144000" cy="512064"/>
            </a:xfrm>
            <a:custGeom>
              <a:avLst/>
              <a:gdLst/>
              <a:ahLst/>
              <a:cxnLst/>
              <a:rect r="r" b="b" t="t" l="l"/>
              <a:pathLst>
                <a:path h="512064" w="9144000">
                  <a:moveTo>
                    <a:pt x="0" y="0"/>
                  </a:moveTo>
                  <a:lnTo>
                    <a:pt x="9144000" y="0"/>
                  </a:lnTo>
                  <a:lnTo>
                    <a:pt x="9144000" y="512064"/>
                  </a:lnTo>
                  <a:lnTo>
                    <a:pt x="0" y="512064"/>
                  </a:lnTo>
                  <a:close/>
                </a:path>
              </a:pathLst>
            </a:custGeom>
            <a:blipFill>
              <a:blip r:embed="rId3">
                <a:alphaModFix amt="0"/>
              </a:blip>
              <a:stretch>
                <a:fillRect l="0" t="-297947" r="0" b="-297947"/>
              </a:stretch>
            </a:blipFill>
          </p:spPr>
        </p:sp>
        <p:sp>
          <p:nvSpPr>
            <p:cNvPr name="TextBox 29" id="29"/>
            <p:cNvSpPr txBox="true"/>
            <p:nvPr/>
          </p:nvSpPr>
          <p:spPr>
            <a:xfrm>
              <a:off x="0" y="-28575"/>
              <a:ext cx="9144000" cy="540639"/>
            </a:xfrm>
            <a:prstGeom prst="rect">
              <a:avLst/>
            </a:prstGeom>
          </p:spPr>
          <p:txBody>
            <a:bodyPr anchor="ctr" rtlCol="false" tIns="0" lIns="0" bIns="0" rIns="0"/>
            <a:lstStyle/>
            <a:p>
              <a:pPr algn="l">
                <a:lnSpc>
                  <a:spcPts val="1980"/>
                </a:lnSpc>
              </a:pPr>
              <a:r>
                <a:rPr lang="en-US" b="true" sz="1650" spc="299">
                  <a:solidFill>
                    <a:srgbClr val="22D3EE"/>
                  </a:solidFill>
                  <a:latin typeface="Calibri (MS) Bold"/>
                  <a:ea typeface="Calibri (MS) Bold"/>
                  <a:cs typeface="Calibri (MS) Bold"/>
                  <a:sym typeface="Calibri (MS) Bold"/>
                </a:rPr>
                <a:t>FROM EVENTS TO PLAYER ROWS</a:t>
              </a:r>
            </a:p>
          </p:txBody>
        </p:sp>
      </p:grpSp>
      <p:graphicFrame>
        <p:nvGraphicFramePr>
          <p:cNvPr name="Table 30" id="30"/>
          <p:cNvGraphicFramePr>
            <a:graphicFrameLocks noGrp="true"/>
          </p:cNvGraphicFramePr>
          <p:nvPr/>
        </p:nvGraphicFramePr>
        <p:xfrm>
          <a:off x="1165860" y="4663440"/>
          <a:ext cx="7105650" cy="1809750"/>
        </p:xfrm>
        <a:graphic>
          <a:graphicData uri="http://schemas.openxmlformats.org/drawingml/2006/table">
            <a:tbl>
              <a:tblPr/>
              <a:tblGrid>
                <a:gridCol w="2323363"/>
                <a:gridCol w="2323363"/>
                <a:gridCol w="2458924"/>
              </a:tblGrid>
              <a:tr h="361950">
                <a:tc>
                  <a:txBody>
                    <a:bodyPr anchor="t" rtlCol="false"/>
                    <a:lstStyle/>
                    <a:p>
                      <a:pPr algn="l">
                        <a:lnSpc>
                          <a:spcPts val="1980"/>
                        </a:lnSpc>
                        <a:defRPr/>
                      </a:pPr>
                      <a:r>
                        <a:rPr lang="en-US" sz="1650" b="true">
                          <a:solidFill>
                            <a:srgbClr val="0A0D12"/>
                          </a:solidFill>
                          <a:latin typeface="Calibri (MS) Bold"/>
                          <a:ea typeface="Calibri (MS) Bold"/>
                          <a:cs typeface="Calibri (MS) Bold"/>
                          <a:sym typeface="Calibri (MS) Bold"/>
                        </a:rPr>
                        <a:t>Player</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c>
                  <a:txBody>
                    <a:bodyPr anchor="t" rtlCol="false"/>
                    <a:lstStyle/>
                    <a:p>
                      <a:pPr algn="l">
                        <a:lnSpc>
                          <a:spcPts val="1980"/>
                        </a:lnSpc>
                        <a:defRPr/>
                      </a:pPr>
                      <a:r>
                        <a:rPr lang="en-US" sz="1650" b="true">
                          <a:solidFill>
                            <a:srgbClr val="0A0D12"/>
                          </a:solidFill>
                          <a:latin typeface="Calibri (MS) Bold"/>
                          <a:ea typeface="Calibri (MS) Bold"/>
                          <a:cs typeface="Calibri (MS) Bold"/>
                          <a:sym typeface="Calibri (MS) Bold"/>
                        </a:rPr>
                        <a:t>Event</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c>
                  <a:txBody>
                    <a:bodyPr anchor="t" rtlCol="false"/>
                    <a:lstStyle/>
                    <a:p>
                      <a:pPr algn="l">
                        <a:lnSpc>
                          <a:spcPts val="1980"/>
                        </a:lnSpc>
                        <a:defRPr/>
                      </a:pPr>
                      <a:r>
                        <a:rPr lang="en-US" sz="1650" b="true">
                          <a:solidFill>
                            <a:srgbClr val="0A0D12"/>
                          </a:solidFill>
                          <a:latin typeface="Calibri (MS) Bold"/>
                          <a:ea typeface="Calibri (MS) Bold"/>
                          <a:cs typeface="Calibri (MS) Bold"/>
                          <a:sym typeface="Calibri (MS) Bold"/>
                        </a:rPr>
                        <a:t>Outcome</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r>
              <a:tr h="361950">
                <a:tc>
                  <a:txBody>
                    <a:bodyPr anchor="t" rtlCol="false"/>
                    <a:lstStyle/>
                    <a:p>
                      <a:pPr algn="l">
                        <a:lnSpc>
                          <a:spcPts val="1980"/>
                        </a:lnSpc>
                        <a:defRPr/>
                      </a:pPr>
                      <a:r>
                        <a:rPr lang="en-US" sz="1650">
                          <a:solidFill>
                            <a:srgbClr val="E8ECF1"/>
                          </a:solidFill>
                          <a:latin typeface="Calibri (MS)"/>
                          <a:ea typeface="Calibri (MS)"/>
                          <a:cs typeface="Calibri (MS)"/>
                          <a:sym typeface="Calibri (MS)"/>
                        </a:rPr>
                        <a:t>Player A</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Pass</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complete</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r h="361950">
                <a:tc>
                  <a:txBody>
                    <a:bodyPr anchor="t" rtlCol="false"/>
                    <a:lstStyle/>
                    <a:p>
                      <a:pPr algn="l">
                        <a:lnSpc>
                          <a:spcPts val="1980"/>
                        </a:lnSpc>
                        <a:defRPr/>
                      </a:pPr>
                      <a:r>
                        <a:rPr lang="en-US" sz="1650">
                          <a:solidFill>
                            <a:srgbClr val="E8ECF1"/>
                          </a:solidFill>
                          <a:latin typeface="Calibri (MS)"/>
                          <a:ea typeface="Calibri (MS)"/>
                          <a:cs typeface="Calibri (MS)"/>
                          <a:sym typeface="Calibri (MS)"/>
                        </a:rPr>
                        <a:t>Player A</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Shot</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goal</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r h="361950">
                <a:tc>
                  <a:txBody>
                    <a:bodyPr anchor="t" rtlCol="false"/>
                    <a:lstStyle/>
                    <a:p>
                      <a:pPr algn="l">
                        <a:lnSpc>
                          <a:spcPts val="1980"/>
                        </a:lnSpc>
                        <a:defRPr/>
                      </a:pPr>
                      <a:r>
                        <a:rPr lang="en-US" sz="1650">
                          <a:solidFill>
                            <a:srgbClr val="E8ECF1"/>
                          </a:solidFill>
                          <a:latin typeface="Calibri (MS)"/>
                          <a:ea typeface="Calibri (MS)"/>
                          <a:cs typeface="Calibri (MS)"/>
                          <a:sym typeface="Calibri (MS)"/>
                        </a:rPr>
                        <a:t>Player B</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Tackle</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won</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r h="361950">
                <a:tc>
                  <a:txBody>
                    <a:bodyPr anchor="t" rtlCol="false"/>
                    <a:lstStyle/>
                    <a:p>
                      <a:pPr algn="l">
                        <a:lnSpc>
                          <a:spcPts val="1980"/>
                        </a:lnSpc>
                        <a:defRPr/>
                      </a:pPr>
                      <a:r>
                        <a:rPr lang="en-US" sz="1650">
                          <a:solidFill>
                            <a:srgbClr val="E8ECF1"/>
                          </a:solidFill>
                          <a:latin typeface="Calibri (MS)"/>
                          <a:ea typeface="Calibri (MS)"/>
                          <a:cs typeface="Calibri (MS)"/>
                          <a:sym typeface="Calibri (MS)"/>
                        </a:rPr>
                        <a:t>Player A</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Pass</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complete</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bl>
          </a:graphicData>
        </a:graphic>
      </p:graphicFrame>
      <p:sp>
        <p:nvSpPr>
          <p:cNvPr name="AutoShape 31" id="31"/>
          <p:cNvSpPr/>
          <p:nvPr/>
        </p:nvSpPr>
        <p:spPr>
          <a:xfrm rot="5118840">
            <a:off x="4469682" y="6882765"/>
            <a:ext cx="524675" cy="0"/>
          </a:xfrm>
          <a:prstGeom prst="line">
            <a:avLst/>
          </a:prstGeom>
          <a:ln cap="rnd" w="19050">
            <a:solidFill>
              <a:srgbClr val="22D3EE"/>
            </a:solidFill>
            <a:prstDash val="solid"/>
            <a:headEnd type="none" len="sm" w="sm"/>
            <a:tailEnd type="triangle" len="med" w="lg"/>
          </a:ln>
        </p:spPr>
      </p:sp>
      <p:grpSp>
        <p:nvGrpSpPr>
          <p:cNvPr name="Group 32" id="32"/>
          <p:cNvGrpSpPr/>
          <p:nvPr/>
        </p:nvGrpSpPr>
        <p:grpSpPr>
          <a:xfrm rot="0">
            <a:off x="4937760" y="6720840"/>
            <a:ext cx="3429000" cy="342900"/>
            <a:chOff x="0" y="0"/>
            <a:chExt cx="4572000" cy="457200"/>
          </a:xfrm>
        </p:grpSpPr>
        <p:sp>
          <p:nvSpPr>
            <p:cNvPr name="Freeform 33" id="33"/>
            <p:cNvSpPr/>
            <p:nvPr/>
          </p:nvSpPr>
          <p:spPr>
            <a:xfrm flipH="false" flipV="false" rot="0">
              <a:off x="0" y="0"/>
              <a:ext cx="4572000" cy="457200"/>
            </a:xfrm>
            <a:custGeom>
              <a:avLst/>
              <a:gdLst/>
              <a:ahLst/>
              <a:cxnLst/>
              <a:rect r="r" b="b" t="t" l="l"/>
              <a:pathLst>
                <a:path h="457200" w="4572000">
                  <a:moveTo>
                    <a:pt x="0" y="0"/>
                  </a:moveTo>
                  <a:lnTo>
                    <a:pt x="4572000" y="0"/>
                  </a:lnTo>
                  <a:lnTo>
                    <a:pt x="4572000" y="457200"/>
                  </a:lnTo>
                  <a:lnTo>
                    <a:pt x="0" y="457200"/>
                  </a:lnTo>
                  <a:close/>
                </a:path>
              </a:pathLst>
            </a:custGeom>
            <a:blipFill>
              <a:blip r:embed="rId3">
                <a:alphaModFix amt="0"/>
              </a:blip>
              <a:stretch>
                <a:fillRect l="0" t="-144850" r="0" b="-144850"/>
              </a:stretch>
            </a:blipFill>
          </p:spPr>
        </p:sp>
        <p:sp>
          <p:nvSpPr>
            <p:cNvPr name="TextBox 34" id="34"/>
            <p:cNvSpPr txBox="true"/>
            <p:nvPr/>
          </p:nvSpPr>
          <p:spPr>
            <a:xfrm>
              <a:off x="0" y="-28575"/>
              <a:ext cx="4572000" cy="485775"/>
            </a:xfrm>
            <a:prstGeom prst="rect">
              <a:avLst/>
            </a:prstGeom>
          </p:spPr>
          <p:txBody>
            <a:bodyPr anchor="ctr" rtlCol="false" tIns="0" lIns="0" bIns="0" rIns="0"/>
            <a:lstStyle/>
            <a:p>
              <a:pPr algn="l">
                <a:lnSpc>
                  <a:spcPts val="1980"/>
                </a:lnSpc>
              </a:pPr>
              <a:r>
                <a:rPr lang="en-US" sz="1650" i="true">
                  <a:solidFill>
                    <a:srgbClr val="9AA4B2"/>
                  </a:solidFill>
                  <a:latin typeface="Calibri (MS) Italics"/>
                  <a:ea typeface="Calibri (MS) Italics"/>
                  <a:cs typeface="Calibri (MS) Italics"/>
                  <a:sym typeface="Calibri (MS) Italics"/>
                </a:rPr>
                <a:t>count events per player</a:t>
              </a:r>
            </a:p>
          </p:txBody>
        </p:sp>
      </p:grpSp>
      <p:graphicFrame>
        <p:nvGraphicFramePr>
          <p:cNvPr name="Table 35" id="35"/>
          <p:cNvGraphicFramePr>
            <a:graphicFrameLocks noGrp="true"/>
          </p:cNvGraphicFramePr>
          <p:nvPr/>
        </p:nvGraphicFramePr>
        <p:xfrm>
          <a:off x="1165860" y="7269480"/>
          <a:ext cx="7105650" cy="1085850"/>
        </p:xfrm>
        <a:graphic>
          <a:graphicData uri="http://schemas.openxmlformats.org/drawingml/2006/table">
            <a:tbl>
              <a:tblPr/>
              <a:tblGrid>
                <a:gridCol w="2317223"/>
                <a:gridCol w="1506007"/>
                <a:gridCol w="1641210"/>
                <a:gridCol w="1641210"/>
              </a:tblGrid>
              <a:tr h="361950">
                <a:tc>
                  <a:txBody>
                    <a:bodyPr anchor="t" rtlCol="false"/>
                    <a:lstStyle/>
                    <a:p>
                      <a:pPr algn="l">
                        <a:lnSpc>
                          <a:spcPts val="1980"/>
                        </a:lnSpc>
                        <a:defRPr/>
                      </a:pPr>
                      <a:r>
                        <a:rPr lang="en-US" sz="1650" b="true">
                          <a:solidFill>
                            <a:srgbClr val="0A0D12"/>
                          </a:solidFill>
                          <a:latin typeface="Calibri (MS) Bold"/>
                          <a:ea typeface="Calibri (MS) Bold"/>
                          <a:cs typeface="Calibri (MS) Bold"/>
                          <a:sym typeface="Calibri (MS) Bold"/>
                        </a:rPr>
                        <a:t>Player</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c>
                  <a:txBody>
                    <a:bodyPr anchor="t" rtlCol="false"/>
                    <a:lstStyle/>
                    <a:p>
                      <a:pPr algn="l">
                        <a:lnSpc>
                          <a:spcPts val="1980"/>
                        </a:lnSpc>
                        <a:defRPr/>
                      </a:pPr>
                      <a:r>
                        <a:rPr lang="en-US" sz="1650" b="true">
                          <a:solidFill>
                            <a:srgbClr val="0A0D12"/>
                          </a:solidFill>
                          <a:latin typeface="Calibri (MS) Bold"/>
                          <a:ea typeface="Calibri (MS) Bold"/>
                          <a:cs typeface="Calibri (MS) Bold"/>
                          <a:sym typeface="Calibri (MS) Bold"/>
                        </a:rPr>
                        <a:t>Goals</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c>
                  <a:txBody>
                    <a:bodyPr anchor="t" rtlCol="false"/>
                    <a:lstStyle/>
                    <a:p>
                      <a:pPr algn="l">
                        <a:lnSpc>
                          <a:spcPts val="1980"/>
                        </a:lnSpc>
                        <a:defRPr/>
                      </a:pPr>
                      <a:r>
                        <a:rPr lang="en-US" sz="1650" b="true">
                          <a:solidFill>
                            <a:srgbClr val="0A0D12"/>
                          </a:solidFill>
                          <a:latin typeface="Calibri (MS) Bold"/>
                          <a:ea typeface="Calibri (MS) Bold"/>
                          <a:cs typeface="Calibri (MS) Bold"/>
                          <a:sym typeface="Calibri (MS) Bold"/>
                        </a:rPr>
                        <a:t>Passes</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c>
                  <a:txBody>
                    <a:bodyPr anchor="t" rtlCol="false"/>
                    <a:lstStyle/>
                    <a:p>
                      <a:pPr algn="l">
                        <a:lnSpc>
                          <a:spcPts val="1980"/>
                        </a:lnSpc>
                        <a:defRPr/>
                      </a:pPr>
                      <a:r>
                        <a:rPr lang="en-US" sz="1650" b="true">
                          <a:solidFill>
                            <a:srgbClr val="0A0D12"/>
                          </a:solidFill>
                          <a:latin typeface="Calibri (MS) Bold"/>
                          <a:ea typeface="Calibri (MS) Bold"/>
                          <a:cs typeface="Calibri (MS) Bold"/>
                          <a:sym typeface="Calibri (MS) Bold"/>
                        </a:rPr>
                        <a:t>Tackles</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r>
              <a:tr h="361950">
                <a:tc>
                  <a:txBody>
                    <a:bodyPr anchor="t" rtlCol="false"/>
                    <a:lstStyle/>
                    <a:p>
                      <a:pPr algn="l">
                        <a:lnSpc>
                          <a:spcPts val="1980"/>
                        </a:lnSpc>
                        <a:defRPr/>
                      </a:pPr>
                      <a:r>
                        <a:rPr lang="en-US" sz="1650">
                          <a:solidFill>
                            <a:srgbClr val="E8ECF1"/>
                          </a:solidFill>
                          <a:latin typeface="Calibri (MS)"/>
                          <a:ea typeface="Calibri (MS)"/>
                          <a:cs typeface="Calibri (MS)"/>
                          <a:sym typeface="Calibri (MS)"/>
                        </a:rPr>
                        <a:t>Player A</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1</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2</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0</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r h="361950">
                <a:tc>
                  <a:txBody>
                    <a:bodyPr anchor="t" rtlCol="false"/>
                    <a:lstStyle/>
                    <a:p>
                      <a:pPr algn="l">
                        <a:lnSpc>
                          <a:spcPts val="1980"/>
                        </a:lnSpc>
                        <a:defRPr/>
                      </a:pPr>
                      <a:r>
                        <a:rPr lang="en-US" sz="1650">
                          <a:solidFill>
                            <a:srgbClr val="E8ECF1"/>
                          </a:solidFill>
                          <a:latin typeface="Calibri (MS)"/>
                          <a:ea typeface="Calibri (MS)"/>
                          <a:cs typeface="Calibri (MS)"/>
                          <a:sym typeface="Calibri (MS)"/>
                        </a:rPr>
                        <a:t>Player B</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0</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0</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1980"/>
                        </a:lnSpc>
                        <a:defRPr/>
                      </a:pPr>
                      <a:r>
                        <a:rPr lang="en-US" sz="1650">
                          <a:solidFill>
                            <a:srgbClr val="E8ECF1"/>
                          </a:solidFill>
                          <a:latin typeface="Calibri (MS)"/>
                          <a:ea typeface="Calibri (MS)"/>
                          <a:cs typeface="Calibri (MS)"/>
                          <a:sym typeface="Calibri (MS)"/>
                        </a:rPr>
                        <a:t>1</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bl>
          </a:graphicData>
        </a:graphic>
      </p:graphicFrame>
      <p:grpSp>
        <p:nvGrpSpPr>
          <p:cNvPr name="Group 36" id="36"/>
          <p:cNvGrpSpPr/>
          <p:nvPr/>
        </p:nvGrpSpPr>
        <p:grpSpPr>
          <a:xfrm rot="0">
            <a:off x="1165860" y="8572500"/>
            <a:ext cx="7132320" cy="411480"/>
            <a:chOff x="0" y="0"/>
            <a:chExt cx="9509760" cy="548640"/>
          </a:xfrm>
        </p:grpSpPr>
        <p:sp>
          <p:nvSpPr>
            <p:cNvPr name="Freeform 37" id="37"/>
            <p:cNvSpPr/>
            <p:nvPr/>
          </p:nvSpPr>
          <p:spPr>
            <a:xfrm flipH="false" flipV="false" rot="0">
              <a:off x="0" y="0"/>
              <a:ext cx="9509760" cy="548640"/>
            </a:xfrm>
            <a:custGeom>
              <a:avLst/>
              <a:gdLst/>
              <a:ahLst/>
              <a:cxnLst/>
              <a:rect r="r" b="b" t="t" l="l"/>
              <a:pathLst>
                <a:path h="548640" w="9509760">
                  <a:moveTo>
                    <a:pt x="0" y="0"/>
                  </a:moveTo>
                  <a:lnTo>
                    <a:pt x="9509760" y="0"/>
                  </a:lnTo>
                  <a:lnTo>
                    <a:pt x="9509760" y="548640"/>
                  </a:lnTo>
                  <a:lnTo>
                    <a:pt x="0" y="548640"/>
                  </a:lnTo>
                  <a:close/>
                </a:path>
              </a:pathLst>
            </a:custGeom>
            <a:blipFill>
              <a:blip r:embed="rId3">
                <a:alphaModFix amt="0"/>
              </a:blip>
              <a:stretch>
                <a:fillRect l="0" t="-287740" r="0" b="-287740"/>
              </a:stretch>
            </a:blipFill>
          </p:spPr>
        </p:sp>
        <p:sp>
          <p:nvSpPr>
            <p:cNvPr name="TextBox 38" id="38"/>
            <p:cNvSpPr txBox="true"/>
            <p:nvPr/>
          </p:nvSpPr>
          <p:spPr>
            <a:xfrm>
              <a:off x="0" y="-28575"/>
              <a:ext cx="9509760" cy="577215"/>
            </a:xfrm>
            <a:prstGeom prst="rect">
              <a:avLst/>
            </a:prstGeom>
          </p:spPr>
          <p:txBody>
            <a:bodyPr anchor="ctr" rtlCol="false" tIns="0" lIns="0" bIns="0" rIns="0"/>
            <a:lstStyle/>
            <a:p>
              <a:pPr algn="l">
                <a:lnSpc>
                  <a:spcPts val="1980"/>
                </a:lnSpc>
              </a:pPr>
              <a:r>
                <a:rPr lang="en-US" sz="1650" i="true">
                  <a:solidFill>
                    <a:srgbClr val="FBBF24"/>
                  </a:solidFill>
                  <a:latin typeface="Calibri (MS) Italics"/>
                  <a:ea typeface="Calibri (MS) Italics"/>
                  <a:cs typeface="Calibri (MS) Italics"/>
                  <a:sym typeface="Calibri (MS) Italics"/>
                </a:rPr>
                <a:t>Tiny illustrative example, not real data</a:t>
              </a:r>
            </a:p>
          </p:txBody>
        </p:sp>
      </p:grpSp>
      <p:grpSp>
        <p:nvGrpSpPr>
          <p:cNvPr name="Group 39" id="39"/>
          <p:cNvGrpSpPr/>
          <p:nvPr/>
        </p:nvGrpSpPr>
        <p:grpSpPr>
          <a:xfrm rot="0">
            <a:off x="8976836" y="3970496"/>
            <a:ext cx="8490776" cy="5432108"/>
            <a:chOff x="0" y="0"/>
            <a:chExt cx="11321034" cy="7242810"/>
          </a:xfrm>
        </p:grpSpPr>
        <p:sp>
          <p:nvSpPr>
            <p:cNvPr name="Freeform 40" id="40"/>
            <p:cNvSpPr/>
            <p:nvPr/>
          </p:nvSpPr>
          <p:spPr>
            <a:xfrm flipH="false" flipV="false" rot="0">
              <a:off x="0" y="0"/>
              <a:ext cx="11321034" cy="7242810"/>
            </a:xfrm>
            <a:custGeom>
              <a:avLst/>
              <a:gdLst/>
              <a:ahLst/>
              <a:cxnLst/>
              <a:rect r="r" b="b" t="t" l="l"/>
              <a:pathLst>
                <a:path h="7242810" w="11321034">
                  <a:moveTo>
                    <a:pt x="0" y="146685"/>
                  </a:moveTo>
                  <a:cubicBezTo>
                    <a:pt x="0" y="65659"/>
                    <a:pt x="65659" y="0"/>
                    <a:pt x="146685" y="0"/>
                  </a:cubicBezTo>
                  <a:lnTo>
                    <a:pt x="11174349" y="0"/>
                  </a:lnTo>
                  <a:cubicBezTo>
                    <a:pt x="11255375" y="0"/>
                    <a:pt x="11321034" y="65659"/>
                    <a:pt x="11321034" y="146685"/>
                  </a:cubicBezTo>
                  <a:lnTo>
                    <a:pt x="11321034" y="7096125"/>
                  </a:lnTo>
                  <a:cubicBezTo>
                    <a:pt x="11321034" y="7177151"/>
                    <a:pt x="11255375" y="7242810"/>
                    <a:pt x="11174349" y="7242810"/>
                  </a:cubicBezTo>
                  <a:lnTo>
                    <a:pt x="146685" y="7242810"/>
                  </a:lnTo>
                  <a:cubicBezTo>
                    <a:pt x="65659" y="7242810"/>
                    <a:pt x="0" y="7177151"/>
                    <a:pt x="0" y="7096125"/>
                  </a:cubicBezTo>
                  <a:close/>
                </a:path>
              </a:pathLst>
            </a:custGeom>
            <a:solidFill>
              <a:srgbClr val="161B22"/>
            </a:solidFill>
            <a:ln w="14288" cap="sq">
              <a:solidFill>
                <a:srgbClr val="2A323D"/>
              </a:solidFill>
              <a:prstDash val="solid"/>
              <a:miter/>
            </a:ln>
          </p:spPr>
        </p:sp>
      </p:grpSp>
      <p:grpSp>
        <p:nvGrpSpPr>
          <p:cNvPr name="Group 41" id="41"/>
          <p:cNvGrpSpPr/>
          <p:nvPr/>
        </p:nvGrpSpPr>
        <p:grpSpPr>
          <a:xfrm rot="0">
            <a:off x="9326880" y="4142232"/>
            <a:ext cx="6858000" cy="384048"/>
            <a:chOff x="0" y="0"/>
            <a:chExt cx="9144000" cy="512064"/>
          </a:xfrm>
        </p:grpSpPr>
        <p:sp>
          <p:nvSpPr>
            <p:cNvPr name="Freeform 42" id="42"/>
            <p:cNvSpPr/>
            <p:nvPr/>
          </p:nvSpPr>
          <p:spPr>
            <a:xfrm flipH="false" flipV="false" rot="0">
              <a:off x="0" y="0"/>
              <a:ext cx="9144000" cy="512064"/>
            </a:xfrm>
            <a:custGeom>
              <a:avLst/>
              <a:gdLst/>
              <a:ahLst/>
              <a:cxnLst/>
              <a:rect r="r" b="b" t="t" l="l"/>
              <a:pathLst>
                <a:path h="512064" w="9144000">
                  <a:moveTo>
                    <a:pt x="0" y="0"/>
                  </a:moveTo>
                  <a:lnTo>
                    <a:pt x="9144000" y="0"/>
                  </a:lnTo>
                  <a:lnTo>
                    <a:pt x="9144000" y="512064"/>
                  </a:lnTo>
                  <a:lnTo>
                    <a:pt x="0" y="512064"/>
                  </a:lnTo>
                  <a:close/>
                </a:path>
              </a:pathLst>
            </a:custGeom>
            <a:blipFill>
              <a:blip r:embed="rId3">
                <a:alphaModFix amt="0"/>
              </a:blip>
              <a:stretch>
                <a:fillRect l="0" t="-297947" r="0" b="-297947"/>
              </a:stretch>
            </a:blipFill>
          </p:spPr>
        </p:sp>
        <p:sp>
          <p:nvSpPr>
            <p:cNvPr name="TextBox 43" id="43"/>
            <p:cNvSpPr txBox="true"/>
            <p:nvPr/>
          </p:nvSpPr>
          <p:spPr>
            <a:xfrm>
              <a:off x="0" y="-28575"/>
              <a:ext cx="9144000" cy="540639"/>
            </a:xfrm>
            <a:prstGeom prst="rect">
              <a:avLst/>
            </a:prstGeom>
          </p:spPr>
          <p:txBody>
            <a:bodyPr anchor="ctr" rtlCol="false" tIns="0" lIns="0" bIns="0" rIns="0"/>
            <a:lstStyle/>
            <a:p>
              <a:pPr algn="l">
                <a:lnSpc>
                  <a:spcPts val="1980"/>
                </a:lnSpc>
              </a:pPr>
              <a:r>
                <a:rPr lang="en-US" b="true" sz="1650" spc="299">
                  <a:solidFill>
                    <a:srgbClr val="22D3EE"/>
                  </a:solidFill>
                  <a:latin typeface="Calibri (MS) Bold"/>
                  <a:ea typeface="Calibri (MS) Bold"/>
                  <a:cs typeface="Calibri (MS) Bold"/>
                  <a:sym typeface="Calibri (MS) Bold"/>
                </a:rPr>
                <a:t>PLAYER-LEVEL COLUMNS</a:t>
              </a:r>
            </a:p>
          </p:txBody>
        </p:sp>
      </p:grpSp>
      <p:grpSp>
        <p:nvGrpSpPr>
          <p:cNvPr name="Group 44" id="44"/>
          <p:cNvGrpSpPr/>
          <p:nvPr/>
        </p:nvGrpSpPr>
        <p:grpSpPr>
          <a:xfrm rot="0">
            <a:off x="9317355" y="4653915"/>
            <a:ext cx="3722370" cy="814578"/>
            <a:chOff x="0" y="0"/>
            <a:chExt cx="4963160" cy="1086104"/>
          </a:xfrm>
        </p:grpSpPr>
        <p:sp>
          <p:nvSpPr>
            <p:cNvPr name="Freeform 45" id="45"/>
            <p:cNvSpPr/>
            <p:nvPr/>
          </p:nvSpPr>
          <p:spPr>
            <a:xfrm flipH="false" flipV="false" rot="0">
              <a:off x="0" y="0"/>
              <a:ext cx="4963160" cy="1086104"/>
            </a:xfrm>
            <a:custGeom>
              <a:avLst/>
              <a:gdLst/>
              <a:ahLst/>
              <a:cxnLst/>
              <a:rect r="r" b="b" t="t" l="l"/>
              <a:pathLst>
                <a:path h="1086104" w="4963160">
                  <a:moveTo>
                    <a:pt x="0" y="112395"/>
                  </a:moveTo>
                  <a:cubicBezTo>
                    <a:pt x="0" y="50292"/>
                    <a:pt x="50292" y="0"/>
                    <a:pt x="112395" y="0"/>
                  </a:cubicBezTo>
                  <a:lnTo>
                    <a:pt x="4850765" y="0"/>
                  </a:lnTo>
                  <a:cubicBezTo>
                    <a:pt x="4912868" y="0"/>
                    <a:pt x="4963160" y="50292"/>
                    <a:pt x="4963160" y="112395"/>
                  </a:cubicBezTo>
                  <a:lnTo>
                    <a:pt x="4963160" y="973709"/>
                  </a:lnTo>
                  <a:cubicBezTo>
                    <a:pt x="4963160" y="1035812"/>
                    <a:pt x="4912868" y="1086104"/>
                    <a:pt x="4850765" y="1086104"/>
                  </a:cubicBezTo>
                  <a:lnTo>
                    <a:pt x="112395" y="1086104"/>
                  </a:lnTo>
                  <a:cubicBezTo>
                    <a:pt x="50292" y="1086104"/>
                    <a:pt x="0" y="1035812"/>
                    <a:pt x="0" y="973709"/>
                  </a:cubicBezTo>
                  <a:close/>
                </a:path>
              </a:pathLst>
            </a:custGeom>
            <a:solidFill>
              <a:srgbClr val="1D242E"/>
            </a:solidFill>
            <a:ln w="19050" cap="sq">
              <a:solidFill>
                <a:srgbClr val="4ADE80"/>
              </a:solidFill>
              <a:prstDash val="solid"/>
              <a:miter/>
            </a:ln>
          </p:spPr>
        </p:sp>
        <p:sp>
          <p:nvSpPr>
            <p:cNvPr name="TextBox 46" id="46"/>
            <p:cNvSpPr txBox="true"/>
            <p:nvPr/>
          </p:nvSpPr>
          <p:spPr>
            <a:xfrm>
              <a:off x="0" y="-38100"/>
              <a:ext cx="4963160" cy="1124204"/>
            </a:xfrm>
            <a:prstGeom prst="rect">
              <a:avLst/>
            </a:prstGeom>
          </p:spPr>
          <p:txBody>
            <a:bodyPr anchor="ctr" rtlCol="false" tIns="50800" lIns="50800" bIns="50800" rIns="50800"/>
            <a:lstStyle/>
            <a:p>
              <a:pPr algn="l">
                <a:lnSpc>
                  <a:spcPts val="2430"/>
                </a:lnSpc>
              </a:pPr>
              <a:r>
                <a:rPr lang="en-US" sz="2025" b="true">
                  <a:solidFill>
                    <a:srgbClr val="E8ECF1"/>
                  </a:solidFill>
                  <a:latin typeface="Calibri (MS) Bold"/>
                  <a:ea typeface="Calibri (MS) Bold"/>
                  <a:cs typeface="Calibri (MS) Bold"/>
                  <a:sym typeface="Calibri (MS) Bold"/>
                </a:rPr>
                <a:t>Goals</a:t>
              </a:r>
            </a:p>
            <a:p>
              <a:pPr algn="l">
                <a:lnSpc>
                  <a:spcPts val="1889"/>
                </a:lnSpc>
              </a:pPr>
              <a:r>
                <a:rPr lang="en-US" sz="1575">
                  <a:solidFill>
                    <a:srgbClr val="4ADE80"/>
                  </a:solidFill>
                  <a:latin typeface="Calibri (MS)"/>
                  <a:ea typeface="Calibri (MS)"/>
                  <a:cs typeface="Calibri (MS)"/>
                  <a:sym typeface="Calibri (MS)"/>
                </a:rPr>
                <a:t>builds the target</a:t>
              </a:r>
            </a:p>
          </p:txBody>
        </p:sp>
      </p:grpSp>
      <p:grpSp>
        <p:nvGrpSpPr>
          <p:cNvPr name="Group 47" id="47"/>
          <p:cNvGrpSpPr/>
          <p:nvPr/>
        </p:nvGrpSpPr>
        <p:grpSpPr>
          <a:xfrm rot="0">
            <a:off x="13226415" y="4653915"/>
            <a:ext cx="3722370" cy="814578"/>
            <a:chOff x="0" y="0"/>
            <a:chExt cx="4963160" cy="1086104"/>
          </a:xfrm>
        </p:grpSpPr>
        <p:sp>
          <p:nvSpPr>
            <p:cNvPr name="Freeform 48" id="48"/>
            <p:cNvSpPr/>
            <p:nvPr/>
          </p:nvSpPr>
          <p:spPr>
            <a:xfrm flipH="false" flipV="false" rot="0">
              <a:off x="0" y="0"/>
              <a:ext cx="4963160" cy="1086104"/>
            </a:xfrm>
            <a:custGeom>
              <a:avLst/>
              <a:gdLst/>
              <a:ahLst/>
              <a:cxnLst/>
              <a:rect r="r" b="b" t="t" l="l"/>
              <a:pathLst>
                <a:path h="1086104" w="4963160">
                  <a:moveTo>
                    <a:pt x="0" y="112395"/>
                  </a:moveTo>
                  <a:cubicBezTo>
                    <a:pt x="0" y="50292"/>
                    <a:pt x="50292" y="0"/>
                    <a:pt x="112395" y="0"/>
                  </a:cubicBezTo>
                  <a:lnTo>
                    <a:pt x="4850765" y="0"/>
                  </a:lnTo>
                  <a:cubicBezTo>
                    <a:pt x="4912868" y="0"/>
                    <a:pt x="4963160" y="50292"/>
                    <a:pt x="4963160" y="112395"/>
                  </a:cubicBezTo>
                  <a:lnTo>
                    <a:pt x="4963160" y="973709"/>
                  </a:lnTo>
                  <a:cubicBezTo>
                    <a:pt x="4963160" y="1035812"/>
                    <a:pt x="4912868" y="1086104"/>
                    <a:pt x="4850765" y="1086104"/>
                  </a:cubicBezTo>
                  <a:lnTo>
                    <a:pt x="112395" y="1086104"/>
                  </a:lnTo>
                  <a:cubicBezTo>
                    <a:pt x="50292" y="1086104"/>
                    <a:pt x="0" y="1035812"/>
                    <a:pt x="0" y="973709"/>
                  </a:cubicBezTo>
                  <a:close/>
                </a:path>
              </a:pathLst>
            </a:custGeom>
            <a:solidFill>
              <a:srgbClr val="1D242E"/>
            </a:solidFill>
            <a:ln w="19050" cap="sq">
              <a:solidFill>
                <a:srgbClr val="4ADE80"/>
              </a:solidFill>
              <a:prstDash val="solid"/>
              <a:miter/>
            </a:ln>
          </p:spPr>
        </p:sp>
        <p:sp>
          <p:nvSpPr>
            <p:cNvPr name="TextBox 49" id="49"/>
            <p:cNvSpPr txBox="true"/>
            <p:nvPr/>
          </p:nvSpPr>
          <p:spPr>
            <a:xfrm>
              <a:off x="0" y="-38100"/>
              <a:ext cx="4963160" cy="1124204"/>
            </a:xfrm>
            <a:prstGeom prst="rect">
              <a:avLst/>
            </a:prstGeom>
          </p:spPr>
          <p:txBody>
            <a:bodyPr anchor="ctr" rtlCol="false" tIns="50800" lIns="50800" bIns="50800" rIns="50800"/>
            <a:lstStyle/>
            <a:p>
              <a:pPr algn="l">
                <a:lnSpc>
                  <a:spcPts val="2430"/>
                </a:lnSpc>
              </a:pPr>
              <a:r>
                <a:rPr lang="en-US" sz="2025" b="true">
                  <a:solidFill>
                    <a:srgbClr val="E8ECF1"/>
                  </a:solidFill>
                  <a:latin typeface="Calibri (MS) Bold"/>
                  <a:ea typeface="Calibri (MS) Bold"/>
                  <a:cs typeface="Calibri (MS) Bold"/>
                  <a:sym typeface="Calibri (MS) Bold"/>
                </a:rPr>
                <a:t>Assists</a:t>
              </a:r>
            </a:p>
            <a:p>
              <a:pPr algn="l">
                <a:lnSpc>
                  <a:spcPts val="1889"/>
                </a:lnSpc>
              </a:pPr>
              <a:r>
                <a:rPr lang="en-US" sz="1575">
                  <a:solidFill>
                    <a:srgbClr val="4ADE80"/>
                  </a:solidFill>
                  <a:latin typeface="Calibri (MS)"/>
                  <a:ea typeface="Calibri (MS)"/>
                  <a:cs typeface="Calibri (MS)"/>
                  <a:sym typeface="Calibri (MS)"/>
                </a:rPr>
                <a:t>builds the target</a:t>
              </a:r>
            </a:p>
          </p:txBody>
        </p:sp>
      </p:grpSp>
      <p:grpSp>
        <p:nvGrpSpPr>
          <p:cNvPr name="Group 50" id="50"/>
          <p:cNvGrpSpPr/>
          <p:nvPr/>
        </p:nvGrpSpPr>
        <p:grpSpPr>
          <a:xfrm rot="0">
            <a:off x="9317355" y="5586603"/>
            <a:ext cx="3722370" cy="814578"/>
            <a:chOff x="0" y="0"/>
            <a:chExt cx="4963160" cy="1086104"/>
          </a:xfrm>
        </p:grpSpPr>
        <p:sp>
          <p:nvSpPr>
            <p:cNvPr name="Freeform 51" id="51"/>
            <p:cNvSpPr/>
            <p:nvPr/>
          </p:nvSpPr>
          <p:spPr>
            <a:xfrm flipH="false" flipV="false" rot="0">
              <a:off x="0" y="0"/>
              <a:ext cx="4963160" cy="1086104"/>
            </a:xfrm>
            <a:custGeom>
              <a:avLst/>
              <a:gdLst/>
              <a:ahLst/>
              <a:cxnLst/>
              <a:rect r="r" b="b" t="t" l="l"/>
              <a:pathLst>
                <a:path h="1086104" w="4963160">
                  <a:moveTo>
                    <a:pt x="0" y="112395"/>
                  </a:moveTo>
                  <a:cubicBezTo>
                    <a:pt x="0" y="50292"/>
                    <a:pt x="50292" y="0"/>
                    <a:pt x="112395" y="0"/>
                  </a:cubicBezTo>
                  <a:lnTo>
                    <a:pt x="4850765" y="0"/>
                  </a:lnTo>
                  <a:cubicBezTo>
                    <a:pt x="4912868" y="0"/>
                    <a:pt x="4963160" y="50292"/>
                    <a:pt x="4963160" y="112395"/>
                  </a:cubicBezTo>
                  <a:lnTo>
                    <a:pt x="4963160" y="973709"/>
                  </a:lnTo>
                  <a:cubicBezTo>
                    <a:pt x="4963160" y="1035812"/>
                    <a:pt x="4912868" y="1086104"/>
                    <a:pt x="4850765" y="1086104"/>
                  </a:cubicBezTo>
                  <a:lnTo>
                    <a:pt x="112395" y="1086104"/>
                  </a:lnTo>
                  <a:cubicBezTo>
                    <a:pt x="50292" y="1086104"/>
                    <a:pt x="0" y="1035812"/>
                    <a:pt x="0" y="973709"/>
                  </a:cubicBezTo>
                  <a:close/>
                </a:path>
              </a:pathLst>
            </a:custGeom>
            <a:solidFill>
              <a:srgbClr val="1D242E"/>
            </a:solidFill>
            <a:ln w="19050" cap="sq">
              <a:solidFill>
                <a:srgbClr val="9AA4B2"/>
              </a:solidFill>
              <a:prstDash val="solid"/>
              <a:miter/>
            </a:ln>
          </p:spPr>
        </p:sp>
        <p:sp>
          <p:nvSpPr>
            <p:cNvPr name="TextBox 52" id="52"/>
            <p:cNvSpPr txBox="true"/>
            <p:nvPr/>
          </p:nvSpPr>
          <p:spPr>
            <a:xfrm>
              <a:off x="0" y="-38100"/>
              <a:ext cx="4963160" cy="1124204"/>
            </a:xfrm>
            <a:prstGeom prst="rect">
              <a:avLst/>
            </a:prstGeom>
          </p:spPr>
          <p:txBody>
            <a:bodyPr anchor="ctr" rtlCol="false" tIns="50800" lIns="50800" bIns="50800" rIns="50800"/>
            <a:lstStyle/>
            <a:p>
              <a:pPr algn="l">
                <a:lnSpc>
                  <a:spcPts val="2430"/>
                </a:lnSpc>
              </a:pPr>
              <a:r>
                <a:rPr lang="en-US" sz="2025" b="true">
                  <a:solidFill>
                    <a:srgbClr val="E8ECF1"/>
                  </a:solidFill>
                  <a:latin typeface="Calibri (MS) Bold"/>
                  <a:ea typeface="Calibri (MS) Bold"/>
                  <a:cs typeface="Calibri (MS) Bold"/>
                  <a:sym typeface="Calibri (MS) Bold"/>
                </a:rPr>
                <a:t>Minutes played</a:t>
              </a:r>
            </a:p>
            <a:p>
              <a:pPr algn="l">
                <a:lnSpc>
                  <a:spcPts val="1889"/>
                </a:lnSpc>
              </a:pPr>
              <a:r>
                <a:rPr lang="en-US" sz="1575">
                  <a:solidFill>
                    <a:srgbClr val="9AA4B2"/>
                  </a:solidFill>
                  <a:latin typeface="Calibri (MS)"/>
                  <a:ea typeface="Calibri (MS)"/>
                  <a:cs typeface="Calibri (MS)"/>
                  <a:sym typeface="Calibri (MS)"/>
                </a:rPr>
                <a:t>per-90 rates + filter</a:t>
              </a:r>
            </a:p>
          </p:txBody>
        </p:sp>
      </p:grpSp>
      <p:grpSp>
        <p:nvGrpSpPr>
          <p:cNvPr name="Group 53" id="53"/>
          <p:cNvGrpSpPr/>
          <p:nvPr/>
        </p:nvGrpSpPr>
        <p:grpSpPr>
          <a:xfrm rot="0">
            <a:off x="13226415" y="5586603"/>
            <a:ext cx="3722370" cy="814578"/>
            <a:chOff x="0" y="0"/>
            <a:chExt cx="4963160" cy="1086104"/>
          </a:xfrm>
        </p:grpSpPr>
        <p:sp>
          <p:nvSpPr>
            <p:cNvPr name="Freeform 54" id="54"/>
            <p:cNvSpPr/>
            <p:nvPr/>
          </p:nvSpPr>
          <p:spPr>
            <a:xfrm flipH="false" flipV="false" rot="0">
              <a:off x="0" y="0"/>
              <a:ext cx="4963160" cy="1086104"/>
            </a:xfrm>
            <a:custGeom>
              <a:avLst/>
              <a:gdLst/>
              <a:ahLst/>
              <a:cxnLst/>
              <a:rect r="r" b="b" t="t" l="l"/>
              <a:pathLst>
                <a:path h="1086104" w="4963160">
                  <a:moveTo>
                    <a:pt x="0" y="112395"/>
                  </a:moveTo>
                  <a:cubicBezTo>
                    <a:pt x="0" y="50292"/>
                    <a:pt x="50292" y="0"/>
                    <a:pt x="112395" y="0"/>
                  </a:cubicBezTo>
                  <a:lnTo>
                    <a:pt x="4850765" y="0"/>
                  </a:lnTo>
                  <a:cubicBezTo>
                    <a:pt x="4912868" y="0"/>
                    <a:pt x="4963160" y="50292"/>
                    <a:pt x="4963160" y="112395"/>
                  </a:cubicBezTo>
                  <a:lnTo>
                    <a:pt x="4963160" y="973709"/>
                  </a:lnTo>
                  <a:cubicBezTo>
                    <a:pt x="4963160" y="1035812"/>
                    <a:pt x="4912868" y="1086104"/>
                    <a:pt x="4850765" y="1086104"/>
                  </a:cubicBezTo>
                  <a:lnTo>
                    <a:pt x="112395" y="1086104"/>
                  </a:lnTo>
                  <a:cubicBezTo>
                    <a:pt x="50292" y="1086104"/>
                    <a:pt x="0" y="1035812"/>
                    <a:pt x="0" y="973709"/>
                  </a:cubicBezTo>
                  <a:close/>
                </a:path>
              </a:pathLst>
            </a:custGeom>
            <a:solidFill>
              <a:srgbClr val="1D242E"/>
            </a:solidFill>
            <a:ln w="19050" cap="sq">
              <a:solidFill>
                <a:srgbClr val="22D3EE"/>
              </a:solidFill>
              <a:prstDash val="solid"/>
              <a:miter/>
            </a:ln>
          </p:spPr>
        </p:sp>
        <p:sp>
          <p:nvSpPr>
            <p:cNvPr name="TextBox 55" id="55"/>
            <p:cNvSpPr txBox="true"/>
            <p:nvPr/>
          </p:nvSpPr>
          <p:spPr>
            <a:xfrm>
              <a:off x="0" y="-38100"/>
              <a:ext cx="4963160" cy="1124204"/>
            </a:xfrm>
            <a:prstGeom prst="rect">
              <a:avLst/>
            </a:prstGeom>
          </p:spPr>
          <p:txBody>
            <a:bodyPr anchor="ctr" rtlCol="false" tIns="50800" lIns="50800" bIns="50800" rIns="50800"/>
            <a:lstStyle/>
            <a:p>
              <a:pPr algn="l">
                <a:lnSpc>
                  <a:spcPts val="2430"/>
                </a:lnSpc>
              </a:pPr>
              <a:r>
                <a:rPr lang="en-US" sz="2025" b="true">
                  <a:solidFill>
                    <a:srgbClr val="E8ECF1"/>
                  </a:solidFill>
                  <a:latin typeface="Calibri (MS) Bold"/>
                  <a:ea typeface="Calibri (MS) Bold"/>
                  <a:cs typeface="Calibri (MS) Bold"/>
                  <a:sym typeface="Calibri (MS) Bold"/>
                </a:rPr>
                <a:t>Shots</a:t>
              </a:r>
            </a:p>
            <a:p>
              <a:pPr algn="l">
                <a:lnSpc>
                  <a:spcPts val="1889"/>
                </a:lnSpc>
              </a:pPr>
              <a:r>
                <a:rPr lang="en-US" sz="1575">
                  <a:solidFill>
                    <a:srgbClr val="22D3EE"/>
                  </a:solidFill>
                  <a:latin typeface="Calibri (MS)"/>
                  <a:ea typeface="Calibri (MS)"/>
                  <a:cs typeface="Calibri (MS)"/>
                  <a:sym typeface="Calibri (MS)"/>
                </a:rPr>
                <a:t>feature</a:t>
              </a:r>
            </a:p>
          </p:txBody>
        </p:sp>
      </p:grpSp>
      <p:grpSp>
        <p:nvGrpSpPr>
          <p:cNvPr name="Group 56" id="56"/>
          <p:cNvGrpSpPr/>
          <p:nvPr/>
        </p:nvGrpSpPr>
        <p:grpSpPr>
          <a:xfrm rot="0">
            <a:off x="9317355" y="6519291"/>
            <a:ext cx="3722370" cy="814578"/>
            <a:chOff x="0" y="0"/>
            <a:chExt cx="4963160" cy="1086104"/>
          </a:xfrm>
        </p:grpSpPr>
        <p:sp>
          <p:nvSpPr>
            <p:cNvPr name="Freeform 57" id="57"/>
            <p:cNvSpPr/>
            <p:nvPr/>
          </p:nvSpPr>
          <p:spPr>
            <a:xfrm flipH="false" flipV="false" rot="0">
              <a:off x="0" y="0"/>
              <a:ext cx="4963160" cy="1086104"/>
            </a:xfrm>
            <a:custGeom>
              <a:avLst/>
              <a:gdLst/>
              <a:ahLst/>
              <a:cxnLst/>
              <a:rect r="r" b="b" t="t" l="l"/>
              <a:pathLst>
                <a:path h="1086104" w="4963160">
                  <a:moveTo>
                    <a:pt x="0" y="112395"/>
                  </a:moveTo>
                  <a:cubicBezTo>
                    <a:pt x="0" y="50292"/>
                    <a:pt x="50292" y="0"/>
                    <a:pt x="112395" y="0"/>
                  </a:cubicBezTo>
                  <a:lnTo>
                    <a:pt x="4850765" y="0"/>
                  </a:lnTo>
                  <a:cubicBezTo>
                    <a:pt x="4912868" y="0"/>
                    <a:pt x="4963160" y="50292"/>
                    <a:pt x="4963160" y="112395"/>
                  </a:cubicBezTo>
                  <a:lnTo>
                    <a:pt x="4963160" y="973709"/>
                  </a:lnTo>
                  <a:cubicBezTo>
                    <a:pt x="4963160" y="1035812"/>
                    <a:pt x="4912868" y="1086104"/>
                    <a:pt x="4850765" y="1086104"/>
                  </a:cubicBezTo>
                  <a:lnTo>
                    <a:pt x="112395" y="1086104"/>
                  </a:lnTo>
                  <a:cubicBezTo>
                    <a:pt x="50292" y="1086104"/>
                    <a:pt x="0" y="1035812"/>
                    <a:pt x="0" y="973709"/>
                  </a:cubicBezTo>
                  <a:close/>
                </a:path>
              </a:pathLst>
            </a:custGeom>
            <a:solidFill>
              <a:srgbClr val="1D242E"/>
            </a:solidFill>
            <a:ln w="19050" cap="sq">
              <a:solidFill>
                <a:srgbClr val="22D3EE"/>
              </a:solidFill>
              <a:prstDash val="solid"/>
              <a:miter/>
            </a:ln>
          </p:spPr>
        </p:sp>
        <p:sp>
          <p:nvSpPr>
            <p:cNvPr name="TextBox 58" id="58"/>
            <p:cNvSpPr txBox="true"/>
            <p:nvPr/>
          </p:nvSpPr>
          <p:spPr>
            <a:xfrm>
              <a:off x="0" y="-38100"/>
              <a:ext cx="4963160" cy="1124204"/>
            </a:xfrm>
            <a:prstGeom prst="rect">
              <a:avLst/>
            </a:prstGeom>
          </p:spPr>
          <p:txBody>
            <a:bodyPr anchor="ctr" rtlCol="false" tIns="50800" lIns="50800" bIns="50800" rIns="50800"/>
            <a:lstStyle/>
            <a:p>
              <a:pPr algn="l">
                <a:lnSpc>
                  <a:spcPts val="2430"/>
                </a:lnSpc>
              </a:pPr>
              <a:r>
                <a:rPr lang="en-US" sz="2025" b="true">
                  <a:solidFill>
                    <a:srgbClr val="E8ECF1"/>
                  </a:solidFill>
                  <a:latin typeface="Calibri (MS) Bold"/>
                  <a:ea typeface="Calibri (MS) Bold"/>
                  <a:cs typeface="Calibri (MS) Bold"/>
                  <a:sym typeface="Calibri (MS) Bold"/>
                </a:rPr>
                <a:t>Passes</a:t>
              </a:r>
            </a:p>
            <a:p>
              <a:pPr algn="l">
                <a:lnSpc>
                  <a:spcPts val="1889"/>
                </a:lnSpc>
              </a:pPr>
              <a:r>
                <a:rPr lang="en-US" sz="1575">
                  <a:solidFill>
                    <a:srgbClr val="22D3EE"/>
                  </a:solidFill>
                  <a:latin typeface="Calibri (MS)"/>
                  <a:ea typeface="Calibri (MS)"/>
                  <a:cs typeface="Calibri (MS)"/>
                  <a:sym typeface="Calibri (MS)"/>
                </a:rPr>
                <a:t>feature</a:t>
              </a:r>
            </a:p>
          </p:txBody>
        </p:sp>
      </p:grpSp>
      <p:grpSp>
        <p:nvGrpSpPr>
          <p:cNvPr name="Group 59" id="59"/>
          <p:cNvGrpSpPr/>
          <p:nvPr/>
        </p:nvGrpSpPr>
        <p:grpSpPr>
          <a:xfrm rot="0">
            <a:off x="13226415" y="6519291"/>
            <a:ext cx="3722370" cy="814578"/>
            <a:chOff x="0" y="0"/>
            <a:chExt cx="4963160" cy="1086104"/>
          </a:xfrm>
        </p:grpSpPr>
        <p:sp>
          <p:nvSpPr>
            <p:cNvPr name="Freeform 60" id="60"/>
            <p:cNvSpPr/>
            <p:nvPr/>
          </p:nvSpPr>
          <p:spPr>
            <a:xfrm flipH="false" flipV="false" rot="0">
              <a:off x="0" y="0"/>
              <a:ext cx="4963160" cy="1086104"/>
            </a:xfrm>
            <a:custGeom>
              <a:avLst/>
              <a:gdLst/>
              <a:ahLst/>
              <a:cxnLst/>
              <a:rect r="r" b="b" t="t" l="l"/>
              <a:pathLst>
                <a:path h="1086104" w="4963160">
                  <a:moveTo>
                    <a:pt x="0" y="112395"/>
                  </a:moveTo>
                  <a:cubicBezTo>
                    <a:pt x="0" y="50292"/>
                    <a:pt x="50292" y="0"/>
                    <a:pt x="112395" y="0"/>
                  </a:cubicBezTo>
                  <a:lnTo>
                    <a:pt x="4850765" y="0"/>
                  </a:lnTo>
                  <a:cubicBezTo>
                    <a:pt x="4912868" y="0"/>
                    <a:pt x="4963160" y="50292"/>
                    <a:pt x="4963160" y="112395"/>
                  </a:cubicBezTo>
                  <a:lnTo>
                    <a:pt x="4963160" y="973709"/>
                  </a:lnTo>
                  <a:cubicBezTo>
                    <a:pt x="4963160" y="1035812"/>
                    <a:pt x="4912868" y="1086104"/>
                    <a:pt x="4850765" y="1086104"/>
                  </a:cubicBezTo>
                  <a:lnTo>
                    <a:pt x="112395" y="1086104"/>
                  </a:lnTo>
                  <a:cubicBezTo>
                    <a:pt x="50292" y="1086104"/>
                    <a:pt x="0" y="1035812"/>
                    <a:pt x="0" y="973709"/>
                  </a:cubicBezTo>
                  <a:close/>
                </a:path>
              </a:pathLst>
            </a:custGeom>
            <a:solidFill>
              <a:srgbClr val="1D242E"/>
            </a:solidFill>
            <a:ln w="19050" cap="sq">
              <a:solidFill>
                <a:srgbClr val="22D3EE"/>
              </a:solidFill>
              <a:prstDash val="solid"/>
              <a:miter/>
            </a:ln>
          </p:spPr>
        </p:sp>
        <p:sp>
          <p:nvSpPr>
            <p:cNvPr name="TextBox 61" id="61"/>
            <p:cNvSpPr txBox="true"/>
            <p:nvPr/>
          </p:nvSpPr>
          <p:spPr>
            <a:xfrm>
              <a:off x="0" y="-38100"/>
              <a:ext cx="4963160" cy="1124204"/>
            </a:xfrm>
            <a:prstGeom prst="rect">
              <a:avLst/>
            </a:prstGeom>
          </p:spPr>
          <p:txBody>
            <a:bodyPr anchor="ctr" rtlCol="false" tIns="50800" lIns="50800" bIns="50800" rIns="50800"/>
            <a:lstStyle/>
            <a:p>
              <a:pPr algn="l">
                <a:lnSpc>
                  <a:spcPts val="2430"/>
                </a:lnSpc>
              </a:pPr>
              <a:r>
                <a:rPr lang="en-US" sz="2025" b="true">
                  <a:solidFill>
                    <a:srgbClr val="E8ECF1"/>
                  </a:solidFill>
                  <a:latin typeface="Calibri (MS) Bold"/>
                  <a:ea typeface="Calibri (MS) Bold"/>
                  <a:cs typeface="Calibri (MS) Bold"/>
                  <a:sym typeface="Calibri (MS) Bold"/>
                </a:rPr>
                <a:t>Pass accuracy</a:t>
              </a:r>
            </a:p>
            <a:p>
              <a:pPr algn="l">
                <a:lnSpc>
                  <a:spcPts val="1889"/>
                </a:lnSpc>
              </a:pPr>
              <a:r>
                <a:rPr lang="en-US" sz="1575">
                  <a:solidFill>
                    <a:srgbClr val="22D3EE"/>
                  </a:solidFill>
                  <a:latin typeface="Calibri (MS)"/>
                  <a:ea typeface="Calibri (MS)"/>
                  <a:cs typeface="Calibri (MS)"/>
                  <a:sym typeface="Calibri (MS)"/>
                </a:rPr>
                <a:t>feature</a:t>
              </a:r>
            </a:p>
          </p:txBody>
        </p:sp>
      </p:grpSp>
      <p:grpSp>
        <p:nvGrpSpPr>
          <p:cNvPr name="Group 62" id="62"/>
          <p:cNvGrpSpPr/>
          <p:nvPr/>
        </p:nvGrpSpPr>
        <p:grpSpPr>
          <a:xfrm rot="0">
            <a:off x="9317355" y="7451979"/>
            <a:ext cx="3722370" cy="814578"/>
            <a:chOff x="0" y="0"/>
            <a:chExt cx="4963160" cy="1086104"/>
          </a:xfrm>
        </p:grpSpPr>
        <p:sp>
          <p:nvSpPr>
            <p:cNvPr name="Freeform 63" id="63"/>
            <p:cNvSpPr/>
            <p:nvPr/>
          </p:nvSpPr>
          <p:spPr>
            <a:xfrm flipH="false" flipV="false" rot="0">
              <a:off x="0" y="0"/>
              <a:ext cx="4963160" cy="1086104"/>
            </a:xfrm>
            <a:custGeom>
              <a:avLst/>
              <a:gdLst/>
              <a:ahLst/>
              <a:cxnLst/>
              <a:rect r="r" b="b" t="t" l="l"/>
              <a:pathLst>
                <a:path h="1086104" w="4963160">
                  <a:moveTo>
                    <a:pt x="0" y="112395"/>
                  </a:moveTo>
                  <a:cubicBezTo>
                    <a:pt x="0" y="50292"/>
                    <a:pt x="50292" y="0"/>
                    <a:pt x="112395" y="0"/>
                  </a:cubicBezTo>
                  <a:lnTo>
                    <a:pt x="4850765" y="0"/>
                  </a:lnTo>
                  <a:cubicBezTo>
                    <a:pt x="4912868" y="0"/>
                    <a:pt x="4963160" y="50292"/>
                    <a:pt x="4963160" y="112395"/>
                  </a:cubicBezTo>
                  <a:lnTo>
                    <a:pt x="4963160" y="973709"/>
                  </a:lnTo>
                  <a:cubicBezTo>
                    <a:pt x="4963160" y="1035812"/>
                    <a:pt x="4912868" y="1086104"/>
                    <a:pt x="4850765" y="1086104"/>
                  </a:cubicBezTo>
                  <a:lnTo>
                    <a:pt x="112395" y="1086104"/>
                  </a:lnTo>
                  <a:cubicBezTo>
                    <a:pt x="50292" y="1086104"/>
                    <a:pt x="0" y="1035812"/>
                    <a:pt x="0" y="973709"/>
                  </a:cubicBezTo>
                  <a:close/>
                </a:path>
              </a:pathLst>
            </a:custGeom>
            <a:solidFill>
              <a:srgbClr val="1D242E"/>
            </a:solidFill>
            <a:ln w="19050" cap="sq">
              <a:solidFill>
                <a:srgbClr val="22D3EE"/>
              </a:solidFill>
              <a:prstDash val="solid"/>
              <a:miter/>
            </a:ln>
          </p:spPr>
        </p:sp>
        <p:sp>
          <p:nvSpPr>
            <p:cNvPr name="TextBox 64" id="64"/>
            <p:cNvSpPr txBox="true"/>
            <p:nvPr/>
          </p:nvSpPr>
          <p:spPr>
            <a:xfrm>
              <a:off x="0" y="-38100"/>
              <a:ext cx="4963160" cy="1124204"/>
            </a:xfrm>
            <a:prstGeom prst="rect">
              <a:avLst/>
            </a:prstGeom>
          </p:spPr>
          <p:txBody>
            <a:bodyPr anchor="ctr" rtlCol="false" tIns="50800" lIns="50800" bIns="50800" rIns="50800"/>
            <a:lstStyle/>
            <a:p>
              <a:pPr algn="l">
                <a:lnSpc>
                  <a:spcPts val="2430"/>
                </a:lnSpc>
              </a:pPr>
              <a:r>
                <a:rPr lang="en-US" sz="2025" b="true">
                  <a:solidFill>
                    <a:srgbClr val="E8ECF1"/>
                  </a:solidFill>
                  <a:latin typeface="Calibri (MS) Bold"/>
                  <a:ea typeface="Calibri (MS) Bold"/>
                  <a:cs typeface="Calibri (MS) Bold"/>
                  <a:sym typeface="Calibri (MS) Bold"/>
                </a:rPr>
                <a:t>Tackles</a:t>
              </a:r>
            </a:p>
            <a:p>
              <a:pPr algn="l">
                <a:lnSpc>
                  <a:spcPts val="1889"/>
                </a:lnSpc>
              </a:pPr>
              <a:r>
                <a:rPr lang="en-US" sz="1575">
                  <a:solidFill>
                    <a:srgbClr val="22D3EE"/>
                  </a:solidFill>
                  <a:latin typeface="Calibri (MS)"/>
                  <a:ea typeface="Calibri (MS)"/>
                  <a:cs typeface="Calibri (MS)"/>
                  <a:sym typeface="Calibri (MS)"/>
                </a:rPr>
                <a:t>feature</a:t>
              </a:r>
            </a:p>
          </p:txBody>
        </p:sp>
      </p:grpSp>
      <p:grpSp>
        <p:nvGrpSpPr>
          <p:cNvPr name="Group 65" id="65"/>
          <p:cNvGrpSpPr/>
          <p:nvPr/>
        </p:nvGrpSpPr>
        <p:grpSpPr>
          <a:xfrm rot="0">
            <a:off x="13226415" y="7451979"/>
            <a:ext cx="3722370" cy="814578"/>
            <a:chOff x="0" y="0"/>
            <a:chExt cx="4963160" cy="1086104"/>
          </a:xfrm>
        </p:grpSpPr>
        <p:sp>
          <p:nvSpPr>
            <p:cNvPr name="Freeform 66" id="66"/>
            <p:cNvSpPr/>
            <p:nvPr/>
          </p:nvSpPr>
          <p:spPr>
            <a:xfrm flipH="false" flipV="false" rot="0">
              <a:off x="0" y="0"/>
              <a:ext cx="4963160" cy="1086104"/>
            </a:xfrm>
            <a:custGeom>
              <a:avLst/>
              <a:gdLst/>
              <a:ahLst/>
              <a:cxnLst/>
              <a:rect r="r" b="b" t="t" l="l"/>
              <a:pathLst>
                <a:path h="1086104" w="4963160">
                  <a:moveTo>
                    <a:pt x="0" y="112395"/>
                  </a:moveTo>
                  <a:cubicBezTo>
                    <a:pt x="0" y="50292"/>
                    <a:pt x="50292" y="0"/>
                    <a:pt x="112395" y="0"/>
                  </a:cubicBezTo>
                  <a:lnTo>
                    <a:pt x="4850765" y="0"/>
                  </a:lnTo>
                  <a:cubicBezTo>
                    <a:pt x="4912868" y="0"/>
                    <a:pt x="4963160" y="50292"/>
                    <a:pt x="4963160" y="112395"/>
                  </a:cubicBezTo>
                  <a:lnTo>
                    <a:pt x="4963160" y="973709"/>
                  </a:lnTo>
                  <a:cubicBezTo>
                    <a:pt x="4963160" y="1035812"/>
                    <a:pt x="4912868" y="1086104"/>
                    <a:pt x="4850765" y="1086104"/>
                  </a:cubicBezTo>
                  <a:lnTo>
                    <a:pt x="112395" y="1086104"/>
                  </a:lnTo>
                  <a:cubicBezTo>
                    <a:pt x="50292" y="1086104"/>
                    <a:pt x="0" y="1035812"/>
                    <a:pt x="0" y="973709"/>
                  </a:cubicBezTo>
                  <a:close/>
                </a:path>
              </a:pathLst>
            </a:custGeom>
            <a:solidFill>
              <a:srgbClr val="1D242E"/>
            </a:solidFill>
            <a:ln w="19050" cap="sq">
              <a:solidFill>
                <a:srgbClr val="22D3EE"/>
              </a:solidFill>
              <a:prstDash val="solid"/>
              <a:miter/>
            </a:ln>
          </p:spPr>
        </p:sp>
        <p:sp>
          <p:nvSpPr>
            <p:cNvPr name="TextBox 67" id="67"/>
            <p:cNvSpPr txBox="true"/>
            <p:nvPr/>
          </p:nvSpPr>
          <p:spPr>
            <a:xfrm>
              <a:off x="0" y="-38100"/>
              <a:ext cx="4963160" cy="1124204"/>
            </a:xfrm>
            <a:prstGeom prst="rect">
              <a:avLst/>
            </a:prstGeom>
          </p:spPr>
          <p:txBody>
            <a:bodyPr anchor="ctr" rtlCol="false" tIns="50800" lIns="50800" bIns="50800" rIns="50800"/>
            <a:lstStyle/>
            <a:p>
              <a:pPr algn="l">
                <a:lnSpc>
                  <a:spcPts val="2430"/>
                </a:lnSpc>
              </a:pPr>
              <a:r>
                <a:rPr lang="en-US" sz="2025" b="true">
                  <a:solidFill>
                    <a:srgbClr val="E8ECF1"/>
                  </a:solidFill>
                  <a:latin typeface="Calibri (MS) Bold"/>
                  <a:ea typeface="Calibri (MS) Bold"/>
                  <a:cs typeface="Calibri (MS) Bold"/>
                  <a:sym typeface="Calibri (MS) Bold"/>
                </a:rPr>
                <a:t>Interceptions</a:t>
              </a:r>
            </a:p>
            <a:p>
              <a:pPr algn="l">
                <a:lnSpc>
                  <a:spcPts val="1889"/>
                </a:lnSpc>
              </a:pPr>
              <a:r>
                <a:rPr lang="en-US" sz="1575">
                  <a:solidFill>
                    <a:srgbClr val="22D3EE"/>
                  </a:solidFill>
                  <a:latin typeface="Calibri (MS)"/>
                  <a:ea typeface="Calibri (MS)"/>
                  <a:cs typeface="Calibri (MS)"/>
                  <a:sym typeface="Calibri (MS)"/>
                </a:rPr>
                <a:t>feature</a:t>
              </a:r>
            </a:p>
          </p:txBody>
        </p:sp>
      </p:grpSp>
      <p:sp>
        <p:nvSpPr>
          <p:cNvPr name="TextBox 68" id="68"/>
          <p:cNvSpPr txBox="true"/>
          <p:nvPr/>
        </p:nvSpPr>
        <p:spPr>
          <a:xfrm rot="0">
            <a:off x="9326880" y="8465820"/>
            <a:ext cx="7886700" cy="792480"/>
          </a:xfrm>
          <a:prstGeom prst="rect">
            <a:avLst/>
          </a:prstGeom>
        </p:spPr>
        <p:txBody>
          <a:bodyPr anchor="t" rtlCol="false" tIns="0" lIns="0" bIns="0" rIns="0">
            <a:spAutoFit/>
          </a:bodyPr>
          <a:lstStyle/>
          <a:p>
            <a:pPr algn="l">
              <a:lnSpc>
                <a:spcPts val="2160"/>
              </a:lnSpc>
            </a:pPr>
            <a:r>
              <a:rPr lang="en-US" sz="1800" b="true">
                <a:solidFill>
                  <a:srgbClr val="FBBF24"/>
                </a:solidFill>
                <a:latin typeface="Calibri (MS) Bold"/>
                <a:ea typeface="Calibri (MS) Bold"/>
                <a:cs typeface="Calibri (MS) Bold"/>
                <a:sym typeface="Calibri (MS) Bold"/>
              </a:rPr>
              <a:t>Goals and assists build the target, so they are not used as inputs. This avoids target leakage.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ML Workflow</a:t>
            </a:r>
          </a:p>
        </p:txBody>
      </p:sp>
      <p:grpSp>
        <p:nvGrpSpPr>
          <p:cNvPr name="Group 5" id="5"/>
          <p:cNvGrpSpPr/>
          <p:nvPr/>
        </p:nvGrpSpPr>
        <p:grpSpPr>
          <a:xfrm rot="0">
            <a:off x="822960" y="1536192"/>
            <a:ext cx="16637508" cy="480060"/>
            <a:chOff x="0" y="0"/>
            <a:chExt cx="22183344" cy="640080"/>
          </a:xfrm>
        </p:grpSpPr>
        <p:sp>
          <p:nvSpPr>
            <p:cNvPr name="Freeform 6" id="6"/>
            <p:cNvSpPr/>
            <p:nvPr/>
          </p:nvSpPr>
          <p:spPr>
            <a:xfrm flipH="false" flipV="false" rot="0">
              <a:off x="0" y="0"/>
              <a:ext cx="22183344" cy="640080"/>
            </a:xfrm>
            <a:custGeom>
              <a:avLst/>
              <a:gdLst/>
              <a:ahLst/>
              <a:cxnLst/>
              <a:rect r="r" b="b" t="t" l="l"/>
              <a:pathLst>
                <a:path h="640080" w="22183344">
                  <a:moveTo>
                    <a:pt x="0" y="0"/>
                  </a:moveTo>
                  <a:lnTo>
                    <a:pt x="22183344" y="0"/>
                  </a:lnTo>
                  <a:lnTo>
                    <a:pt x="22183344" y="640080"/>
                  </a:lnTo>
                  <a:lnTo>
                    <a:pt x="0" y="640080"/>
                  </a:lnTo>
                  <a:close/>
                </a:path>
              </a:pathLst>
            </a:custGeom>
            <a:blipFill>
              <a:blip r:embed="rId3">
                <a:alphaModFix amt="0"/>
              </a:blip>
              <a:stretch>
                <a:fillRect l="0" t="-625295" r="0" b="-625295"/>
              </a:stretch>
            </a:blipFill>
          </p:spPr>
        </p:sp>
        <p:sp>
          <p:nvSpPr>
            <p:cNvPr name="TextBox 7" id="7"/>
            <p:cNvSpPr txBox="true"/>
            <p:nvPr/>
          </p:nvSpPr>
          <p:spPr>
            <a:xfrm>
              <a:off x="0" y="-47625"/>
              <a:ext cx="22183344" cy="687705"/>
            </a:xfrm>
            <a:prstGeom prst="rect">
              <a:avLst/>
            </a:prstGeom>
          </p:spPr>
          <p:txBody>
            <a:bodyPr anchor="ctr" rtlCol="false" tIns="0" lIns="0" bIns="0" rIns="0"/>
            <a:lstStyle/>
            <a:p>
              <a:pPr algn="l">
                <a:lnSpc>
                  <a:spcPts val="2520"/>
                </a:lnSpc>
              </a:pPr>
              <a:r>
                <a:rPr lang="en-US" sz="2100">
                  <a:solidFill>
                    <a:srgbClr val="9AA4B2"/>
                  </a:solidFill>
                  <a:latin typeface="Calibri (MS)"/>
                  <a:ea typeface="Calibri (MS)"/>
                  <a:cs typeface="Calibri (MS)"/>
                  <a:sym typeface="Calibri (MS)"/>
                </a:rPr>
                <a:t>One simple pipeline used for all three tasks</a:t>
              </a:r>
            </a:p>
          </p:txBody>
        </p:sp>
      </p:grpSp>
      <p:grpSp>
        <p:nvGrpSpPr>
          <p:cNvPr name="Group 8" id="8"/>
          <p:cNvGrpSpPr/>
          <p:nvPr/>
        </p:nvGrpSpPr>
        <p:grpSpPr>
          <a:xfrm rot="0">
            <a:off x="822960" y="9710928"/>
            <a:ext cx="10972800" cy="342900"/>
            <a:chOff x="0" y="0"/>
            <a:chExt cx="14630400" cy="457200"/>
          </a:xfrm>
        </p:grpSpPr>
        <p:sp>
          <p:nvSpPr>
            <p:cNvPr name="Freeform 9" id="9"/>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10" id="10"/>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11" id="11"/>
          <p:cNvGrpSpPr/>
          <p:nvPr/>
        </p:nvGrpSpPr>
        <p:grpSpPr>
          <a:xfrm rot="0">
            <a:off x="16088868" y="9710928"/>
            <a:ext cx="1371600" cy="342900"/>
            <a:chOff x="0" y="0"/>
            <a:chExt cx="1828800" cy="457200"/>
          </a:xfrm>
        </p:grpSpPr>
        <p:sp>
          <p:nvSpPr>
            <p:cNvPr name="Freeform 12" id="12"/>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3" id="13"/>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5</a:t>
              </a:r>
            </a:p>
          </p:txBody>
        </p:sp>
      </p:grpSp>
      <p:grpSp>
        <p:nvGrpSpPr>
          <p:cNvPr name="Group 14" id="14"/>
          <p:cNvGrpSpPr/>
          <p:nvPr/>
        </p:nvGrpSpPr>
        <p:grpSpPr>
          <a:xfrm rot="0">
            <a:off x="813435" y="2596515"/>
            <a:ext cx="1939290" cy="1939290"/>
            <a:chOff x="0" y="0"/>
            <a:chExt cx="2585720" cy="2585720"/>
          </a:xfrm>
        </p:grpSpPr>
        <p:sp>
          <p:nvSpPr>
            <p:cNvPr name="Freeform 15" id="15"/>
            <p:cNvSpPr/>
            <p:nvPr/>
          </p:nvSpPr>
          <p:spPr>
            <a:xfrm flipH="false" flipV="false" rot="0">
              <a:off x="0" y="0"/>
              <a:ext cx="2585720" cy="2585720"/>
            </a:xfrm>
            <a:custGeom>
              <a:avLst/>
              <a:gdLst/>
              <a:ahLst/>
              <a:cxnLst/>
              <a:rect r="r" b="b" t="t" l="l"/>
              <a:pathLst>
                <a:path h="2585720" w="2585720">
                  <a:moveTo>
                    <a:pt x="0" y="184658"/>
                  </a:moveTo>
                  <a:cubicBezTo>
                    <a:pt x="0" y="82677"/>
                    <a:pt x="82677" y="0"/>
                    <a:pt x="184658" y="0"/>
                  </a:cubicBezTo>
                  <a:lnTo>
                    <a:pt x="2401062" y="0"/>
                  </a:lnTo>
                  <a:cubicBezTo>
                    <a:pt x="2503043" y="0"/>
                    <a:pt x="2585720" y="82677"/>
                    <a:pt x="2585720" y="184658"/>
                  </a:cubicBezTo>
                  <a:lnTo>
                    <a:pt x="2585720" y="2401062"/>
                  </a:lnTo>
                  <a:cubicBezTo>
                    <a:pt x="2585720" y="2503043"/>
                    <a:pt x="2503043" y="2585720"/>
                    <a:pt x="2401062" y="2585720"/>
                  </a:cubicBezTo>
                  <a:lnTo>
                    <a:pt x="184658" y="2585720"/>
                  </a:lnTo>
                  <a:cubicBezTo>
                    <a:pt x="82677" y="2585720"/>
                    <a:pt x="0" y="2503043"/>
                    <a:pt x="0" y="2401062"/>
                  </a:cubicBezTo>
                  <a:close/>
                </a:path>
              </a:pathLst>
            </a:custGeom>
            <a:solidFill>
              <a:srgbClr val="1D242E"/>
            </a:solidFill>
            <a:ln w="19050" cap="sq">
              <a:solidFill>
                <a:srgbClr val="2A323D"/>
              </a:solidFill>
              <a:prstDash val="solid"/>
              <a:miter/>
            </a:ln>
          </p:spPr>
        </p:sp>
        <p:sp>
          <p:nvSpPr>
            <p:cNvPr name="TextBox 16" id="16"/>
            <p:cNvSpPr txBox="true"/>
            <p:nvPr/>
          </p:nvSpPr>
          <p:spPr>
            <a:xfrm>
              <a:off x="0" y="-47625"/>
              <a:ext cx="2585720" cy="2633345"/>
            </a:xfrm>
            <a:prstGeom prst="rect">
              <a:avLst/>
            </a:prstGeom>
          </p:spPr>
          <p:txBody>
            <a:bodyPr anchor="ctr" rtlCol="false" tIns="50800" lIns="50800" bIns="50800" rIns="50800"/>
            <a:lstStyle/>
            <a:p>
              <a:pPr algn="ctr">
                <a:lnSpc>
                  <a:spcPts val="3060"/>
                </a:lnSpc>
              </a:pPr>
              <a:r>
                <a:rPr lang="en-US" sz="2550" b="true">
                  <a:solidFill>
                    <a:srgbClr val="E8ECF1"/>
                  </a:solidFill>
                  <a:latin typeface="Calibri (MS) Bold"/>
                  <a:ea typeface="Calibri (MS) Bold"/>
                  <a:cs typeface="Calibri (MS) Bold"/>
                  <a:sym typeface="Calibri (MS) Bold"/>
                </a:rPr>
                <a:t>Data</a:t>
              </a:r>
            </a:p>
          </p:txBody>
        </p:sp>
      </p:grpSp>
      <p:grpSp>
        <p:nvGrpSpPr>
          <p:cNvPr name="Group 17" id="17"/>
          <p:cNvGrpSpPr/>
          <p:nvPr/>
        </p:nvGrpSpPr>
        <p:grpSpPr>
          <a:xfrm rot="0">
            <a:off x="1536192" y="2194560"/>
            <a:ext cx="493776" cy="493776"/>
            <a:chOff x="0" y="0"/>
            <a:chExt cx="658368" cy="658368"/>
          </a:xfrm>
        </p:grpSpPr>
        <p:sp>
          <p:nvSpPr>
            <p:cNvPr name="Freeform 18" id="18"/>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22D3EE"/>
            </a:solidFill>
          </p:spPr>
        </p:sp>
        <p:sp>
          <p:nvSpPr>
            <p:cNvPr name="TextBox 19" id="19"/>
            <p:cNvSpPr txBox="true"/>
            <p:nvPr/>
          </p:nvSpPr>
          <p:spPr>
            <a:xfrm>
              <a:off x="0" y="-38100"/>
              <a:ext cx="658368" cy="696468"/>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1</a:t>
              </a:r>
            </a:p>
          </p:txBody>
        </p:sp>
      </p:grpSp>
      <p:sp>
        <p:nvSpPr>
          <p:cNvPr name="AutoShape 20" id="20"/>
          <p:cNvSpPr/>
          <p:nvPr/>
        </p:nvSpPr>
        <p:spPr>
          <a:xfrm rot="346740">
            <a:off x="2773051" y="3551872"/>
            <a:ext cx="472935" cy="0"/>
          </a:xfrm>
          <a:prstGeom prst="line">
            <a:avLst/>
          </a:prstGeom>
          <a:ln cap="rnd" w="28575">
            <a:solidFill>
              <a:srgbClr val="22D3EE"/>
            </a:solidFill>
            <a:prstDash val="solid"/>
            <a:headEnd type="none" len="sm" w="sm"/>
            <a:tailEnd type="triangle" len="med" w="lg"/>
          </a:ln>
        </p:spPr>
      </p:sp>
      <p:sp>
        <p:nvSpPr>
          <p:cNvPr name="TextBox 21" id="21"/>
          <p:cNvSpPr txBox="true"/>
          <p:nvPr/>
        </p:nvSpPr>
        <p:spPr>
          <a:xfrm rot="0">
            <a:off x="754380" y="4684395"/>
            <a:ext cx="2057400" cy="2105025"/>
          </a:xfrm>
          <a:prstGeom prst="rect">
            <a:avLst/>
          </a:prstGeom>
        </p:spPr>
        <p:txBody>
          <a:bodyPr anchor="t" rtlCol="false" tIns="0" lIns="0" bIns="0" rIns="0">
            <a:spAutoFit/>
          </a:bodyPr>
          <a:lstStyle/>
          <a:p>
            <a:pPr algn="ctr">
              <a:lnSpc>
                <a:spcPts val="2340"/>
              </a:lnSpc>
            </a:pPr>
            <a:r>
              <a:rPr lang="en-US" sz="1950">
                <a:solidFill>
                  <a:srgbClr val="9AA4B2"/>
                </a:solidFill>
                <a:latin typeface="Calibri (MS)"/>
                <a:ea typeface="Calibri (MS)"/>
                <a:cs typeface="Calibri (MS)"/>
                <a:sym typeface="Calibri (MS)"/>
              </a:rPr>
              <a:t>Load public football statistics</a:t>
            </a:r>
          </a:p>
        </p:txBody>
      </p:sp>
      <p:grpSp>
        <p:nvGrpSpPr>
          <p:cNvPr name="Group 22" id="22"/>
          <p:cNvGrpSpPr/>
          <p:nvPr/>
        </p:nvGrpSpPr>
        <p:grpSpPr>
          <a:xfrm rot="0">
            <a:off x="3266313" y="2596515"/>
            <a:ext cx="1939290" cy="1939290"/>
            <a:chOff x="0" y="0"/>
            <a:chExt cx="2585720" cy="2585720"/>
          </a:xfrm>
        </p:grpSpPr>
        <p:sp>
          <p:nvSpPr>
            <p:cNvPr name="Freeform 23" id="23"/>
            <p:cNvSpPr/>
            <p:nvPr/>
          </p:nvSpPr>
          <p:spPr>
            <a:xfrm flipH="false" flipV="false" rot="0">
              <a:off x="0" y="0"/>
              <a:ext cx="2585720" cy="2585720"/>
            </a:xfrm>
            <a:custGeom>
              <a:avLst/>
              <a:gdLst/>
              <a:ahLst/>
              <a:cxnLst/>
              <a:rect r="r" b="b" t="t" l="l"/>
              <a:pathLst>
                <a:path h="2585720" w="2585720">
                  <a:moveTo>
                    <a:pt x="0" y="184658"/>
                  </a:moveTo>
                  <a:cubicBezTo>
                    <a:pt x="0" y="82677"/>
                    <a:pt x="82677" y="0"/>
                    <a:pt x="184658" y="0"/>
                  </a:cubicBezTo>
                  <a:lnTo>
                    <a:pt x="2401062" y="0"/>
                  </a:lnTo>
                  <a:cubicBezTo>
                    <a:pt x="2503043" y="0"/>
                    <a:pt x="2585720" y="82677"/>
                    <a:pt x="2585720" y="184658"/>
                  </a:cubicBezTo>
                  <a:lnTo>
                    <a:pt x="2585720" y="2401062"/>
                  </a:lnTo>
                  <a:cubicBezTo>
                    <a:pt x="2585720" y="2503043"/>
                    <a:pt x="2503043" y="2585720"/>
                    <a:pt x="2401062" y="2585720"/>
                  </a:cubicBezTo>
                  <a:lnTo>
                    <a:pt x="184658" y="2585720"/>
                  </a:lnTo>
                  <a:cubicBezTo>
                    <a:pt x="82677" y="2585720"/>
                    <a:pt x="0" y="2503043"/>
                    <a:pt x="0" y="2401062"/>
                  </a:cubicBezTo>
                  <a:close/>
                </a:path>
              </a:pathLst>
            </a:custGeom>
            <a:solidFill>
              <a:srgbClr val="1D242E"/>
            </a:solidFill>
            <a:ln w="19050" cap="sq">
              <a:solidFill>
                <a:srgbClr val="2A323D"/>
              </a:solidFill>
              <a:prstDash val="solid"/>
              <a:miter/>
            </a:ln>
          </p:spPr>
        </p:sp>
        <p:sp>
          <p:nvSpPr>
            <p:cNvPr name="TextBox 24" id="24"/>
            <p:cNvSpPr txBox="true"/>
            <p:nvPr/>
          </p:nvSpPr>
          <p:spPr>
            <a:xfrm>
              <a:off x="0" y="-47625"/>
              <a:ext cx="2585720" cy="2633345"/>
            </a:xfrm>
            <a:prstGeom prst="rect">
              <a:avLst/>
            </a:prstGeom>
          </p:spPr>
          <p:txBody>
            <a:bodyPr anchor="ctr" rtlCol="false" tIns="50800" lIns="50800" bIns="50800" rIns="50800"/>
            <a:lstStyle/>
            <a:p>
              <a:pPr algn="ctr">
                <a:lnSpc>
                  <a:spcPts val="3060"/>
                </a:lnSpc>
              </a:pPr>
              <a:r>
                <a:rPr lang="en-US" sz="2550" b="true">
                  <a:solidFill>
                    <a:srgbClr val="E8ECF1"/>
                  </a:solidFill>
                  <a:latin typeface="Calibri (MS) Bold"/>
                  <a:ea typeface="Calibri (MS) Bold"/>
                  <a:cs typeface="Calibri (MS) Bold"/>
                  <a:sym typeface="Calibri (MS) Bold"/>
                </a:rPr>
                <a:t>Cleaning</a:t>
              </a:r>
            </a:p>
          </p:txBody>
        </p:sp>
      </p:grpSp>
      <p:grpSp>
        <p:nvGrpSpPr>
          <p:cNvPr name="Group 25" id="25"/>
          <p:cNvGrpSpPr/>
          <p:nvPr/>
        </p:nvGrpSpPr>
        <p:grpSpPr>
          <a:xfrm rot="0">
            <a:off x="3989070" y="2194560"/>
            <a:ext cx="493776" cy="493776"/>
            <a:chOff x="0" y="0"/>
            <a:chExt cx="658368" cy="658368"/>
          </a:xfrm>
        </p:grpSpPr>
        <p:sp>
          <p:nvSpPr>
            <p:cNvPr name="Freeform 26" id="26"/>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22D3EE"/>
            </a:solidFill>
          </p:spPr>
        </p:sp>
        <p:sp>
          <p:nvSpPr>
            <p:cNvPr name="TextBox 27" id="27"/>
            <p:cNvSpPr txBox="true"/>
            <p:nvPr/>
          </p:nvSpPr>
          <p:spPr>
            <a:xfrm>
              <a:off x="0" y="-38100"/>
              <a:ext cx="658368" cy="696468"/>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2</a:t>
              </a:r>
            </a:p>
          </p:txBody>
        </p:sp>
      </p:grpSp>
      <p:sp>
        <p:nvSpPr>
          <p:cNvPr name="AutoShape 28" id="28"/>
          <p:cNvSpPr/>
          <p:nvPr/>
        </p:nvSpPr>
        <p:spPr>
          <a:xfrm rot="346740">
            <a:off x="5225929" y="3551872"/>
            <a:ext cx="472935" cy="0"/>
          </a:xfrm>
          <a:prstGeom prst="line">
            <a:avLst/>
          </a:prstGeom>
          <a:ln cap="rnd" w="28575">
            <a:solidFill>
              <a:srgbClr val="22D3EE"/>
            </a:solidFill>
            <a:prstDash val="solid"/>
            <a:headEnd type="none" len="sm" w="sm"/>
            <a:tailEnd type="triangle" len="med" w="lg"/>
          </a:ln>
        </p:spPr>
      </p:sp>
      <p:sp>
        <p:nvSpPr>
          <p:cNvPr name="TextBox 29" id="29"/>
          <p:cNvSpPr txBox="true"/>
          <p:nvPr/>
        </p:nvSpPr>
        <p:spPr>
          <a:xfrm rot="0">
            <a:off x="3207258" y="4684395"/>
            <a:ext cx="2057400" cy="2105025"/>
          </a:xfrm>
          <a:prstGeom prst="rect">
            <a:avLst/>
          </a:prstGeom>
        </p:spPr>
        <p:txBody>
          <a:bodyPr anchor="t" rtlCol="false" tIns="0" lIns="0" bIns="0" rIns="0">
            <a:spAutoFit/>
          </a:bodyPr>
          <a:lstStyle/>
          <a:p>
            <a:pPr algn="ctr">
              <a:lnSpc>
                <a:spcPts val="2340"/>
              </a:lnSpc>
            </a:pPr>
            <a:r>
              <a:rPr lang="en-US" sz="1950">
                <a:solidFill>
                  <a:srgbClr val="9AA4B2"/>
                </a:solidFill>
                <a:latin typeface="Calibri (MS)"/>
                <a:ea typeface="Calibri (MS)"/>
                <a:cs typeface="Calibri (MS)"/>
                <a:sym typeface="Calibri (MS)"/>
              </a:rPr>
              <a:t>Handle missing values, remove duplicates, filter low-minute players</a:t>
            </a:r>
          </a:p>
        </p:txBody>
      </p:sp>
      <p:grpSp>
        <p:nvGrpSpPr>
          <p:cNvPr name="Group 30" id="30"/>
          <p:cNvGrpSpPr/>
          <p:nvPr/>
        </p:nvGrpSpPr>
        <p:grpSpPr>
          <a:xfrm rot="0">
            <a:off x="5719191" y="2596515"/>
            <a:ext cx="1939290" cy="1939290"/>
            <a:chOff x="0" y="0"/>
            <a:chExt cx="2585720" cy="2585720"/>
          </a:xfrm>
        </p:grpSpPr>
        <p:sp>
          <p:nvSpPr>
            <p:cNvPr name="Freeform 31" id="31"/>
            <p:cNvSpPr/>
            <p:nvPr/>
          </p:nvSpPr>
          <p:spPr>
            <a:xfrm flipH="false" flipV="false" rot="0">
              <a:off x="0" y="0"/>
              <a:ext cx="2585720" cy="2585720"/>
            </a:xfrm>
            <a:custGeom>
              <a:avLst/>
              <a:gdLst/>
              <a:ahLst/>
              <a:cxnLst/>
              <a:rect r="r" b="b" t="t" l="l"/>
              <a:pathLst>
                <a:path h="2585720" w="2585720">
                  <a:moveTo>
                    <a:pt x="0" y="184658"/>
                  </a:moveTo>
                  <a:cubicBezTo>
                    <a:pt x="0" y="82677"/>
                    <a:pt x="82677" y="0"/>
                    <a:pt x="184658" y="0"/>
                  </a:cubicBezTo>
                  <a:lnTo>
                    <a:pt x="2401062" y="0"/>
                  </a:lnTo>
                  <a:cubicBezTo>
                    <a:pt x="2503043" y="0"/>
                    <a:pt x="2585720" y="82677"/>
                    <a:pt x="2585720" y="184658"/>
                  </a:cubicBezTo>
                  <a:lnTo>
                    <a:pt x="2585720" y="2401062"/>
                  </a:lnTo>
                  <a:cubicBezTo>
                    <a:pt x="2585720" y="2503043"/>
                    <a:pt x="2503043" y="2585720"/>
                    <a:pt x="2401062" y="2585720"/>
                  </a:cubicBezTo>
                  <a:lnTo>
                    <a:pt x="184658" y="2585720"/>
                  </a:lnTo>
                  <a:cubicBezTo>
                    <a:pt x="82677" y="2585720"/>
                    <a:pt x="0" y="2503043"/>
                    <a:pt x="0" y="2401062"/>
                  </a:cubicBezTo>
                  <a:close/>
                </a:path>
              </a:pathLst>
            </a:custGeom>
            <a:solidFill>
              <a:srgbClr val="1D242E"/>
            </a:solidFill>
            <a:ln w="19050" cap="sq">
              <a:solidFill>
                <a:srgbClr val="2A323D"/>
              </a:solidFill>
              <a:prstDash val="solid"/>
              <a:miter/>
            </a:ln>
          </p:spPr>
        </p:sp>
        <p:sp>
          <p:nvSpPr>
            <p:cNvPr name="TextBox 32" id="32"/>
            <p:cNvSpPr txBox="true"/>
            <p:nvPr/>
          </p:nvSpPr>
          <p:spPr>
            <a:xfrm>
              <a:off x="0" y="-47625"/>
              <a:ext cx="2585720" cy="2633345"/>
            </a:xfrm>
            <a:prstGeom prst="rect">
              <a:avLst/>
            </a:prstGeom>
          </p:spPr>
          <p:txBody>
            <a:bodyPr anchor="ctr" rtlCol="false" tIns="50800" lIns="50800" bIns="50800" rIns="50800"/>
            <a:lstStyle/>
            <a:p>
              <a:pPr algn="ctr">
                <a:lnSpc>
                  <a:spcPts val="3060"/>
                </a:lnSpc>
              </a:pPr>
              <a:r>
                <a:rPr lang="en-US" sz="2550" b="true">
                  <a:solidFill>
                    <a:srgbClr val="E8ECF1"/>
                  </a:solidFill>
                  <a:latin typeface="Calibri (MS) Bold"/>
                  <a:ea typeface="Calibri (MS) Bold"/>
                  <a:cs typeface="Calibri (MS) Bold"/>
                  <a:sym typeface="Calibri (MS) Bold"/>
                </a:rPr>
                <a:t>Features</a:t>
              </a:r>
            </a:p>
          </p:txBody>
        </p:sp>
      </p:grpSp>
      <p:grpSp>
        <p:nvGrpSpPr>
          <p:cNvPr name="Group 33" id="33"/>
          <p:cNvGrpSpPr/>
          <p:nvPr/>
        </p:nvGrpSpPr>
        <p:grpSpPr>
          <a:xfrm rot="0">
            <a:off x="6441948" y="2194560"/>
            <a:ext cx="493776" cy="493776"/>
            <a:chOff x="0" y="0"/>
            <a:chExt cx="658368" cy="658368"/>
          </a:xfrm>
        </p:grpSpPr>
        <p:sp>
          <p:nvSpPr>
            <p:cNvPr name="Freeform 34" id="34"/>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22D3EE"/>
            </a:solidFill>
          </p:spPr>
        </p:sp>
        <p:sp>
          <p:nvSpPr>
            <p:cNvPr name="TextBox 35" id="35"/>
            <p:cNvSpPr txBox="true"/>
            <p:nvPr/>
          </p:nvSpPr>
          <p:spPr>
            <a:xfrm>
              <a:off x="0" y="-38100"/>
              <a:ext cx="658368" cy="696468"/>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3</a:t>
              </a:r>
            </a:p>
          </p:txBody>
        </p:sp>
      </p:grpSp>
      <p:sp>
        <p:nvSpPr>
          <p:cNvPr name="AutoShape 36" id="36"/>
          <p:cNvSpPr/>
          <p:nvPr/>
        </p:nvSpPr>
        <p:spPr>
          <a:xfrm rot="346740">
            <a:off x="7678807" y="3551872"/>
            <a:ext cx="472935" cy="0"/>
          </a:xfrm>
          <a:prstGeom prst="line">
            <a:avLst/>
          </a:prstGeom>
          <a:ln cap="rnd" w="28575">
            <a:solidFill>
              <a:srgbClr val="22D3EE"/>
            </a:solidFill>
            <a:prstDash val="solid"/>
            <a:headEnd type="none" len="sm" w="sm"/>
            <a:tailEnd type="triangle" len="med" w="lg"/>
          </a:ln>
        </p:spPr>
      </p:sp>
      <p:sp>
        <p:nvSpPr>
          <p:cNvPr name="TextBox 37" id="37"/>
          <p:cNvSpPr txBox="true"/>
          <p:nvPr/>
        </p:nvSpPr>
        <p:spPr>
          <a:xfrm rot="0">
            <a:off x="5660136" y="4684395"/>
            <a:ext cx="2057400" cy="2105025"/>
          </a:xfrm>
          <a:prstGeom prst="rect">
            <a:avLst/>
          </a:prstGeom>
        </p:spPr>
        <p:txBody>
          <a:bodyPr anchor="t" rtlCol="false" tIns="0" lIns="0" bIns="0" rIns="0">
            <a:spAutoFit/>
          </a:bodyPr>
          <a:lstStyle/>
          <a:p>
            <a:pPr algn="ctr">
              <a:lnSpc>
                <a:spcPts val="2340"/>
              </a:lnSpc>
            </a:pPr>
            <a:r>
              <a:rPr lang="en-US" sz="1950">
                <a:solidFill>
                  <a:srgbClr val="9AA4B2"/>
                </a:solidFill>
                <a:latin typeface="Calibri (MS)"/>
                <a:ea typeface="Calibri (MS)"/>
                <a:cs typeface="Calibri (MS)"/>
                <a:sym typeface="Calibri (MS)"/>
              </a:rPr>
              <a:t>Select stats, compute per-90 rates, build the target</a:t>
            </a:r>
          </a:p>
        </p:txBody>
      </p:sp>
      <p:grpSp>
        <p:nvGrpSpPr>
          <p:cNvPr name="Group 38" id="38"/>
          <p:cNvGrpSpPr/>
          <p:nvPr/>
        </p:nvGrpSpPr>
        <p:grpSpPr>
          <a:xfrm rot="0">
            <a:off x="8172069" y="2596515"/>
            <a:ext cx="1939290" cy="1939290"/>
            <a:chOff x="0" y="0"/>
            <a:chExt cx="2585720" cy="2585720"/>
          </a:xfrm>
        </p:grpSpPr>
        <p:sp>
          <p:nvSpPr>
            <p:cNvPr name="Freeform 39" id="39"/>
            <p:cNvSpPr/>
            <p:nvPr/>
          </p:nvSpPr>
          <p:spPr>
            <a:xfrm flipH="false" flipV="false" rot="0">
              <a:off x="0" y="0"/>
              <a:ext cx="2585720" cy="2585720"/>
            </a:xfrm>
            <a:custGeom>
              <a:avLst/>
              <a:gdLst/>
              <a:ahLst/>
              <a:cxnLst/>
              <a:rect r="r" b="b" t="t" l="l"/>
              <a:pathLst>
                <a:path h="2585720" w="2585720">
                  <a:moveTo>
                    <a:pt x="0" y="184658"/>
                  </a:moveTo>
                  <a:cubicBezTo>
                    <a:pt x="0" y="82677"/>
                    <a:pt x="82677" y="0"/>
                    <a:pt x="184658" y="0"/>
                  </a:cubicBezTo>
                  <a:lnTo>
                    <a:pt x="2401062" y="0"/>
                  </a:lnTo>
                  <a:cubicBezTo>
                    <a:pt x="2503043" y="0"/>
                    <a:pt x="2585720" y="82677"/>
                    <a:pt x="2585720" y="184658"/>
                  </a:cubicBezTo>
                  <a:lnTo>
                    <a:pt x="2585720" y="2401062"/>
                  </a:lnTo>
                  <a:cubicBezTo>
                    <a:pt x="2585720" y="2503043"/>
                    <a:pt x="2503043" y="2585720"/>
                    <a:pt x="2401062" y="2585720"/>
                  </a:cubicBezTo>
                  <a:lnTo>
                    <a:pt x="184658" y="2585720"/>
                  </a:lnTo>
                  <a:cubicBezTo>
                    <a:pt x="82677" y="2585720"/>
                    <a:pt x="0" y="2503043"/>
                    <a:pt x="0" y="2401062"/>
                  </a:cubicBezTo>
                  <a:close/>
                </a:path>
              </a:pathLst>
            </a:custGeom>
            <a:solidFill>
              <a:srgbClr val="1D242E"/>
            </a:solidFill>
            <a:ln w="19050" cap="sq">
              <a:solidFill>
                <a:srgbClr val="2A323D"/>
              </a:solidFill>
              <a:prstDash val="solid"/>
              <a:miter/>
            </a:ln>
          </p:spPr>
        </p:sp>
        <p:sp>
          <p:nvSpPr>
            <p:cNvPr name="TextBox 40" id="40"/>
            <p:cNvSpPr txBox="true"/>
            <p:nvPr/>
          </p:nvSpPr>
          <p:spPr>
            <a:xfrm>
              <a:off x="0" y="-47625"/>
              <a:ext cx="2585720" cy="2633345"/>
            </a:xfrm>
            <a:prstGeom prst="rect">
              <a:avLst/>
            </a:prstGeom>
          </p:spPr>
          <p:txBody>
            <a:bodyPr anchor="ctr" rtlCol="false" tIns="50800" lIns="50800" bIns="50800" rIns="50800"/>
            <a:lstStyle/>
            <a:p>
              <a:pPr algn="ctr">
                <a:lnSpc>
                  <a:spcPts val="3060"/>
                </a:lnSpc>
              </a:pPr>
              <a:r>
                <a:rPr lang="en-US" sz="2550" b="true">
                  <a:solidFill>
                    <a:srgbClr val="E8ECF1"/>
                  </a:solidFill>
                  <a:latin typeface="Calibri (MS) Bold"/>
                  <a:ea typeface="Calibri (MS) Bold"/>
                  <a:cs typeface="Calibri (MS) Bold"/>
                  <a:sym typeface="Calibri (MS) Bold"/>
                </a:rPr>
                <a:t>Train / Test</a:t>
              </a:r>
            </a:p>
          </p:txBody>
        </p:sp>
      </p:grpSp>
      <p:grpSp>
        <p:nvGrpSpPr>
          <p:cNvPr name="Group 41" id="41"/>
          <p:cNvGrpSpPr/>
          <p:nvPr/>
        </p:nvGrpSpPr>
        <p:grpSpPr>
          <a:xfrm rot="0">
            <a:off x="8894826" y="2194560"/>
            <a:ext cx="493776" cy="493776"/>
            <a:chOff x="0" y="0"/>
            <a:chExt cx="658368" cy="658368"/>
          </a:xfrm>
        </p:grpSpPr>
        <p:sp>
          <p:nvSpPr>
            <p:cNvPr name="Freeform 42" id="42"/>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22D3EE"/>
            </a:solidFill>
          </p:spPr>
        </p:sp>
        <p:sp>
          <p:nvSpPr>
            <p:cNvPr name="TextBox 43" id="43"/>
            <p:cNvSpPr txBox="true"/>
            <p:nvPr/>
          </p:nvSpPr>
          <p:spPr>
            <a:xfrm>
              <a:off x="0" y="-38100"/>
              <a:ext cx="658368" cy="696468"/>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4</a:t>
              </a:r>
            </a:p>
          </p:txBody>
        </p:sp>
      </p:grpSp>
      <p:sp>
        <p:nvSpPr>
          <p:cNvPr name="AutoShape 44" id="44"/>
          <p:cNvSpPr/>
          <p:nvPr/>
        </p:nvSpPr>
        <p:spPr>
          <a:xfrm rot="346740">
            <a:off x="10131685" y="3551872"/>
            <a:ext cx="472935" cy="0"/>
          </a:xfrm>
          <a:prstGeom prst="line">
            <a:avLst/>
          </a:prstGeom>
          <a:ln cap="rnd" w="28575">
            <a:solidFill>
              <a:srgbClr val="22D3EE"/>
            </a:solidFill>
            <a:prstDash val="solid"/>
            <a:headEnd type="none" len="sm" w="sm"/>
            <a:tailEnd type="triangle" len="med" w="lg"/>
          </a:ln>
        </p:spPr>
      </p:sp>
      <p:sp>
        <p:nvSpPr>
          <p:cNvPr name="TextBox 45" id="45"/>
          <p:cNvSpPr txBox="true"/>
          <p:nvPr/>
        </p:nvSpPr>
        <p:spPr>
          <a:xfrm rot="0">
            <a:off x="8113014" y="4684395"/>
            <a:ext cx="2057400" cy="2105025"/>
          </a:xfrm>
          <a:prstGeom prst="rect">
            <a:avLst/>
          </a:prstGeom>
        </p:spPr>
        <p:txBody>
          <a:bodyPr anchor="t" rtlCol="false" tIns="0" lIns="0" bIns="0" rIns="0">
            <a:spAutoFit/>
          </a:bodyPr>
          <a:lstStyle/>
          <a:p>
            <a:pPr algn="ctr">
              <a:lnSpc>
                <a:spcPts val="2340"/>
              </a:lnSpc>
            </a:pPr>
            <a:r>
              <a:rPr lang="en-US" sz="1950">
                <a:solidFill>
                  <a:srgbClr val="9AA4B2"/>
                </a:solidFill>
                <a:latin typeface="Calibri (MS)"/>
                <a:ea typeface="Calibri (MS)"/>
                <a:cs typeface="Calibri (MS)"/>
                <a:sym typeface="Calibri (MS)"/>
              </a:rPr>
              <a:t>Split rows 80% / 20% to test on unseen players</a:t>
            </a:r>
          </a:p>
        </p:txBody>
      </p:sp>
      <p:grpSp>
        <p:nvGrpSpPr>
          <p:cNvPr name="Group 46" id="46"/>
          <p:cNvGrpSpPr/>
          <p:nvPr/>
        </p:nvGrpSpPr>
        <p:grpSpPr>
          <a:xfrm rot="0">
            <a:off x="10624947" y="2596515"/>
            <a:ext cx="1939290" cy="1939290"/>
            <a:chOff x="0" y="0"/>
            <a:chExt cx="2585720" cy="2585720"/>
          </a:xfrm>
        </p:grpSpPr>
        <p:sp>
          <p:nvSpPr>
            <p:cNvPr name="Freeform 47" id="47"/>
            <p:cNvSpPr/>
            <p:nvPr/>
          </p:nvSpPr>
          <p:spPr>
            <a:xfrm flipH="false" flipV="false" rot="0">
              <a:off x="0" y="0"/>
              <a:ext cx="2585720" cy="2585720"/>
            </a:xfrm>
            <a:custGeom>
              <a:avLst/>
              <a:gdLst/>
              <a:ahLst/>
              <a:cxnLst/>
              <a:rect r="r" b="b" t="t" l="l"/>
              <a:pathLst>
                <a:path h="2585720" w="2585720">
                  <a:moveTo>
                    <a:pt x="0" y="184658"/>
                  </a:moveTo>
                  <a:cubicBezTo>
                    <a:pt x="0" y="82677"/>
                    <a:pt x="82677" y="0"/>
                    <a:pt x="184658" y="0"/>
                  </a:cubicBezTo>
                  <a:lnTo>
                    <a:pt x="2401062" y="0"/>
                  </a:lnTo>
                  <a:cubicBezTo>
                    <a:pt x="2503043" y="0"/>
                    <a:pt x="2585720" y="82677"/>
                    <a:pt x="2585720" y="184658"/>
                  </a:cubicBezTo>
                  <a:lnTo>
                    <a:pt x="2585720" y="2401062"/>
                  </a:lnTo>
                  <a:cubicBezTo>
                    <a:pt x="2585720" y="2503043"/>
                    <a:pt x="2503043" y="2585720"/>
                    <a:pt x="2401062" y="2585720"/>
                  </a:cubicBezTo>
                  <a:lnTo>
                    <a:pt x="184658" y="2585720"/>
                  </a:lnTo>
                  <a:cubicBezTo>
                    <a:pt x="82677" y="2585720"/>
                    <a:pt x="0" y="2503043"/>
                    <a:pt x="0" y="2401062"/>
                  </a:cubicBezTo>
                  <a:close/>
                </a:path>
              </a:pathLst>
            </a:custGeom>
            <a:solidFill>
              <a:srgbClr val="22D3EE"/>
            </a:solidFill>
            <a:ln w="19050" cap="sq">
              <a:solidFill>
                <a:srgbClr val="22D3EE"/>
              </a:solidFill>
              <a:prstDash val="solid"/>
              <a:miter/>
            </a:ln>
          </p:spPr>
        </p:sp>
        <p:sp>
          <p:nvSpPr>
            <p:cNvPr name="TextBox 48" id="48"/>
            <p:cNvSpPr txBox="true"/>
            <p:nvPr/>
          </p:nvSpPr>
          <p:spPr>
            <a:xfrm>
              <a:off x="0" y="-47625"/>
              <a:ext cx="2585720" cy="2633345"/>
            </a:xfrm>
            <a:prstGeom prst="rect">
              <a:avLst/>
            </a:prstGeom>
          </p:spPr>
          <p:txBody>
            <a:bodyPr anchor="ctr" rtlCol="false" tIns="50800" lIns="50800" bIns="50800" rIns="50800"/>
            <a:lstStyle/>
            <a:p>
              <a:pPr algn="ctr">
                <a:lnSpc>
                  <a:spcPts val="3060"/>
                </a:lnSpc>
              </a:pPr>
              <a:r>
                <a:rPr lang="en-US" sz="2550" b="true">
                  <a:solidFill>
                    <a:srgbClr val="0A0D12"/>
                  </a:solidFill>
                  <a:latin typeface="Calibri (MS) Bold"/>
                  <a:ea typeface="Calibri (MS) Bold"/>
                  <a:cs typeface="Calibri (MS) Bold"/>
                  <a:sym typeface="Calibri (MS) Bold"/>
                </a:rPr>
                <a:t>ML Models</a:t>
              </a:r>
            </a:p>
          </p:txBody>
        </p:sp>
      </p:grpSp>
      <p:grpSp>
        <p:nvGrpSpPr>
          <p:cNvPr name="Group 49" id="49"/>
          <p:cNvGrpSpPr/>
          <p:nvPr/>
        </p:nvGrpSpPr>
        <p:grpSpPr>
          <a:xfrm rot="0">
            <a:off x="11347704" y="2194560"/>
            <a:ext cx="493776" cy="493776"/>
            <a:chOff x="0" y="0"/>
            <a:chExt cx="658368" cy="658368"/>
          </a:xfrm>
        </p:grpSpPr>
        <p:sp>
          <p:nvSpPr>
            <p:cNvPr name="Freeform 50" id="50"/>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22D3EE"/>
            </a:solidFill>
          </p:spPr>
        </p:sp>
        <p:sp>
          <p:nvSpPr>
            <p:cNvPr name="TextBox 51" id="51"/>
            <p:cNvSpPr txBox="true"/>
            <p:nvPr/>
          </p:nvSpPr>
          <p:spPr>
            <a:xfrm>
              <a:off x="0" y="-38100"/>
              <a:ext cx="658368" cy="696468"/>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5</a:t>
              </a:r>
            </a:p>
          </p:txBody>
        </p:sp>
      </p:grpSp>
      <p:sp>
        <p:nvSpPr>
          <p:cNvPr name="AutoShape 52" id="52"/>
          <p:cNvSpPr/>
          <p:nvPr/>
        </p:nvSpPr>
        <p:spPr>
          <a:xfrm rot="346740">
            <a:off x="12584563" y="3551872"/>
            <a:ext cx="472935" cy="0"/>
          </a:xfrm>
          <a:prstGeom prst="line">
            <a:avLst/>
          </a:prstGeom>
          <a:ln cap="rnd" w="28575">
            <a:solidFill>
              <a:srgbClr val="22D3EE"/>
            </a:solidFill>
            <a:prstDash val="solid"/>
            <a:headEnd type="none" len="sm" w="sm"/>
            <a:tailEnd type="triangle" len="med" w="lg"/>
          </a:ln>
        </p:spPr>
      </p:sp>
      <p:sp>
        <p:nvSpPr>
          <p:cNvPr name="TextBox 53" id="53"/>
          <p:cNvSpPr txBox="true"/>
          <p:nvPr/>
        </p:nvSpPr>
        <p:spPr>
          <a:xfrm rot="0">
            <a:off x="10565892" y="4684395"/>
            <a:ext cx="2057400" cy="2105025"/>
          </a:xfrm>
          <a:prstGeom prst="rect">
            <a:avLst/>
          </a:prstGeom>
        </p:spPr>
        <p:txBody>
          <a:bodyPr anchor="t" rtlCol="false" tIns="0" lIns="0" bIns="0" rIns="0">
            <a:spAutoFit/>
          </a:bodyPr>
          <a:lstStyle/>
          <a:p>
            <a:pPr algn="ctr">
              <a:lnSpc>
                <a:spcPts val="2340"/>
              </a:lnSpc>
            </a:pPr>
            <a:r>
              <a:rPr lang="en-US" sz="1950">
                <a:solidFill>
                  <a:srgbClr val="9AA4B2"/>
                </a:solidFill>
                <a:latin typeface="Calibri (MS)"/>
                <a:ea typeface="Calibri (MS)"/>
                <a:cs typeface="Calibri (MS)"/>
                <a:sym typeface="Calibri (MS)"/>
              </a:rPr>
              <a:t>Regression, classification, K-Means. Scale only where needed</a:t>
            </a:r>
          </a:p>
        </p:txBody>
      </p:sp>
      <p:grpSp>
        <p:nvGrpSpPr>
          <p:cNvPr name="Group 54" id="54"/>
          <p:cNvGrpSpPr/>
          <p:nvPr/>
        </p:nvGrpSpPr>
        <p:grpSpPr>
          <a:xfrm rot="0">
            <a:off x="13077825" y="2596515"/>
            <a:ext cx="1939290" cy="1939290"/>
            <a:chOff x="0" y="0"/>
            <a:chExt cx="2585720" cy="2585720"/>
          </a:xfrm>
        </p:grpSpPr>
        <p:sp>
          <p:nvSpPr>
            <p:cNvPr name="Freeform 55" id="55"/>
            <p:cNvSpPr/>
            <p:nvPr/>
          </p:nvSpPr>
          <p:spPr>
            <a:xfrm flipH="false" flipV="false" rot="0">
              <a:off x="0" y="0"/>
              <a:ext cx="2585720" cy="2585720"/>
            </a:xfrm>
            <a:custGeom>
              <a:avLst/>
              <a:gdLst/>
              <a:ahLst/>
              <a:cxnLst/>
              <a:rect r="r" b="b" t="t" l="l"/>
              <a:pathLst>
                <a:path h="2585720" w="2585720">
                  <a:moveTo>
                    <a:pt x="0" y="184658"/>
                  </a:moveTo>
                  <a:cubicBezTo>
                    <a:pt x="0" y="82677"/>
                    <a:pt x="82677" y="0"/>
                    <a:pt x="184658" y="0"/>
                  </a:cubicBezTo>
                  <a:lnTo>
                    <a:pt x="2401062" y="0"/>
                  </a:lnTo>
                  <a:cubicBezTo>
                    <a:pt x="2503043" y="0"/>
                    <a:pt x="2585720" y="82677"/>
                    <a:pt x="2585720" y="184658"/>
                  </a:cubicBezTo>
                  <a:lnTo>
                    <a:pt x="2585720" y="2401062"/>
                  </a:lnTo>
                  <a:cubicBezTo>
                    <a:pt x="2585720" y="2503043"/>
                    <a:pt x="2503043" y="2585720"/>
                    <a:pt x="2401062" y="2585720"/>
                  </a:cubicBezTo>
                  <a:lnTo>
                    <a:pt x="184658" y="2585720"/>
                  </a:lnTo>
                  <a:cubicBezTo>
                    <a:pt x="82677" y="2585720"/>
                    <a:pt x="0" y="2503043"/>
                    <a:pt x="0" y="2401062"/>
                  </a:cubicBezTo>
                  <a:close/>
                </a:path>
              </a:pathLst>
            </a:custGeom>
            <a:solidFill>
              <a:srgbClr val="1D242E"/>
            </a:solidFill>
            <a:ln w="19050" cap="sq">
              <a:solidFill>
                <a:srgbClr val="2A323D"/>
              </a:solidFill>
              <a:prstDash val="solid"/>
              <a:miter/>
            </a:ln>
          </p:spPr>
        </p:sp>
        <p:sp>
          <p:nvSpPr>
            <p:cNvPr name="TextBox 56" id="56"/>
            <p:cNvSpPr txBox="true"/>
            <p:nvPr/>
          </p:nvSpPr>
          <p:spPr>
            <a:xfrm>
              <a:off x="0" y="-47625"/>
              <a:ext cx="2585720" cy="2633345"/>
            </a:xfrm>
            <a:prstGeom prst="rect">
              <a:avLst/>
            </a:prstGeom>
          </p:spPr>
          <p:txBody>
            <a:bodyPr anchor="ctr" rtlCol="false" tIns="50800" lIns="50800" bIns="50800" rIns="50800"/>
            <a:lstStyle/>
            <a:p>
              <a:pPr algn="ctr">
                <a:lnSpc>
                  <a:spcPts val="3060"/>
                </a:lnSpc>
              </a:pPr>
              <a:r>
                <a:rPr lang="en-US" sz="2550" b="true">
                  <a:solidFill>
                    <a:srgbClr val="E8ECF1"/>
                  </a:solidFill>
                  <a:latin typeface="Calibri (MS) Bold"/>
                  <a:ea typeface="Calibri (MS) Bold"/>
                  <a:cs typeface="Calibri (MS) Bold"/>
                  <a:sym typeface="Calibri (MS) Bold"/>
                </a:rPr>
                <a:t>Evaluation</a:t>
              </a:r>
            </a:p>
          </p:txBody>
        </p:sp>
      </p:grpSp>
      <p:grpSp>
        <p:nvGrpSpPr>
          <p:cNvPr name="Group 57" id="57"/>
          <p:cNvGrpSpPr/>
          <p:nvPr/>
        </p:nvGrpSpPr>
        <p:grpSpPr>
          <a:xfrm rot="0">
            <a:off x="13800582" y="2194560"/>
            <a:ext cx="493776" cy="493776"/>
            <a:chOff x="0" y="0"/>
            <a:chExt cx="658368" cy="658368"/>
          </a:xfrm>
        </p:grpSpPr>
        <p:sp>
          <p:nvSpPr>
            <p:cNvPr name="Freeform 58" id="58"/>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22D3EE"/>
            </a:solidFill>
          </p:spPr>
        </p:sp>
        <p:sp>
          <p:nvSpPr>
            <p:cNvPr name="TextBox 59" id="59"/>
            <p:cNvSpPr txBox="true"/>
            <p:nvPr/>
          </p:nvSpPr>
          <p:spPr>
            <a:xfrm>
              <a:off x="0" y="-38100"/>
              <a:ext cx="658368" cy="696468"/>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6</a:t>
              </a:r>
            </a:p>
          </p:txBody>
        </p:sp>
      </p:grpSp>
      <p:sp>
        <p:nvSpPr>
          <p:cNvPr name="AutoShape 60" id="60"/>
          <p:cNvSpPr/>
          <p:nvPr/>
        </p:nvSpPr>
        <p:spPr>
          <a:xfrm rot="346740">
            <a:off x="15037441" y="3551872"/>
            <a:ext cx="472935" cy="0"/>
          </a:xfrm>
          <a:prstGeom prst="line">
            <a:avLst/>
          </a:prstGeom>
          <a:ln cap="rnd" w="28575">
            <a:solidFill>
              <a:srgbClr val="22D3EE"/>
            </a:solidFill>
            <a:prstDash val="solid"/>
            <a:headEnd type="none" len="sm" w="sm"/>
            <a:tailEnd type="triangle" len="med" w="lg"/>
          </a:ln>
        </p:spPr>
      </p:sp>
      <p:sp>
        <p:nvSpPr>
          <p:cNvPr name="TextBox 61" id="61"/>
          <p:cNvSpPr txBox="true"/>
          <p:nvPr/>
        </p:nvSpPr>
        <p:spPr>
          <a:xfrm rot="0">
            <a:off x="13018770" y="4684395"/>
            <a:ext cx="2057400" cy="2105025"/>
          </a:xfrm>
          <a:prstGeom prst="rect">
            <a:avLst/>
          </a:prstGeom>
        </p:spPr>
        <p:txBody>
          <a:bodyPr anchor="t" rtlCol="false" tIns="0" lIns="0" bIns="0" rIns="0">
            <a:spAutoFit/>
          </a:bodyPr>
          <a:lstStyle/>
          <a:p>
            <a:pPr algn="ctr">
              <a:lnSpc>
                <a:spcPts val="2340"/>
              </a:lnSpc>
            </a:pPr>
            <a:r>
              <a:rPr lang="en-US" sz="1950">
                <a:solidFill>
                  <a:srgbClr val="9AA4B2"/>
                </a:solidFill>
                <a:latin typeface="Calibri (MS)"/>
                <a:ea typeface="Calibri (MS)"/>
                <a:cs typeface="Calibri (MS)"/>
                <a:sym typeface="Calibri (MS)"/>
              </a:rPr>
              <a:t>MAE · RMSE · R² · Precision · Recall · F1 · Silhouette</a:t>
            </a:r>
          </a:p>
        </p:txBody>
      </p:sp>
      <p:grpSp>
        <p:nvGrpSpPr>
          <p:cNvPr name="Group 62" id="62"/>
          <p:cNvGrpSpPr/>
          <p:nvPr/>
        </p:nvGrpSpPr>
        <p:grpSpPr>
          <a:xfrm rot="0">
            <a:off x="15530703" y="2596515"/>
            <a:ext cx="1939290" cy="1939290"/>
            <a:chOff x="0" y="0"/>
            <a:chExt cx="2585720" cy="2585720"/>
          </a:xfrm>
        </p:grpSpPr>
        <p:sp>
          <p:nvSpPr>
            <p:cNvPr name="Freeform 63" id="63"/>
            <p:cNvSpPr/>
            <p:nvPr/>
          </p:nvSpPr>
          <p:spPr>
            <a:xfrm flipH="false" flipV="false" rot="0">
              <a:off x="0" y="0"/>
              <a:ext cx="2585720" cy="2585720"/>
            </a:xfrm>
            <a:custGeom>
              <a:avLst/>
              <a:gdLst/>
              <a:ahLst/>
              <a:cxnLst/>
              <a:rect r="r" b="b" t="t" l="l"/>
              <a:pathLst>
                <a:path h="2585720" w="2585720">
                  <a:moveTo>
                    <a:pt x="0" y="184658"/>
                  </a:moveTo>
                  <a:cubicBezTo>
                    <a:pt x="0" y="82677"/>
                    <a:pt x="82677" y="0"/>
                    <a:pt x="184658" y="0"/>
                  </a:cubicBezTo>
                  <a:lnTo>
                    <a:pt x="2401062" y="0"/>
                  </a:lnTo>
                  <a:cubicBezTo>
                    <a:pt x="2503043" y="0"/>
                    <a:pt x="2585720" y="82677"/>
                    <a:pt x="2585720" y="184658"/>
                  </a:cubicBezTo>
                  <a:lnTo>
                    <a:pt x="2585720" y="2401062"/>
                  </a:lnTo>
                  <a:cubicBezTo>
                    <a:pt x="2585720" y="2503043"/>
                    <a:pt x="2503043" y="2585720"/>
                    <a:pt x="2401062" y="2585720"/>
                  </a:cubicBezTo>
                  <a:lnTo>
                    <a:pt x="184658" y="2585720"/>
                  </a:lnTo>
                  <a:cubicBezTo>
                    <a:pt x="82677" y="2585720"/>
                    <a:pt x="0" y="2503043"/>
                    <a:pt x="0" y="2401062"/>
                  </a:cubicBezTo>
                  <a:close/>
                </a:path>
              </a:pathLst>
            </a:custGeom>
            <a:solidFill>
              <a:srgbClr val="1D242E"/>
            </a:solidFill>
            <a:ln w="19050" cap="sq">
              <a:solidFill>
                <a:srgbClr val="2A323D"/>
              </a:solidFill>
              <a:prstDash val="solid"/>
              <a:miter/>
            </a:ln>
          </p:spPr>
        </p:sp>
        <p:sp>
          <p:nvSpPr>
            <p:cNvPr name="TextBox 64" id="64"/>
            <p:cNvSpPr txBox="true"/>
            <p:nvPr/>
          </p:nvSpPr>
          <p:spPr>
            <a:xfrm>
              <a:off x="0" y="-47625"/>
              <a:ext cx="2585720" cy="2633345"/>
            </a:xfrm>
            <a:prstGeom prst="rect">
              <a:avLst/>
            </a:prstGeom>
          </p:spPr>
          <p:txBody>
            <a:bodyPr anchor="ctr" rtlCol="false" tIns="50800" lIns="50800" bIns="50800" rIns="50800"/>
            <a:lstStyle/>
            <a:p>
              <a:pPr algn="ctr">
                <a:lnSpc>
                  <a:spcPts val="3060"/>
                </a:lnSpc>
              </a:pPr>
              <a:r>
                <a:rPr lang="en-US" sz="2550" b="true">
                  <a:solidFill>
                    <a:srgbClr val="E8ECF1"/>
                  </a:solidFill>
                  <a:latin typeface="Calibri (MS) Bold"/>
                  <a:ea typeface="Calibri (MS) Bold"/>
                  <a:cs typeface="Calibri (MS) Bold"/>
                  <a:sym typeface="Calibri (MS) Bold"/>
                </a:rPr>
                <a:t>Insights</a:t>
              </a:r>
            </a:p>
          </p:txBody>
        </p:sp>
      </p:grpSp>
      <p:grpSp>
        <p:nvGrpSpPr>
          <p:cNvPr name="Group 65" id="65"/>
          <p:cNvGrpSpPr/>
          <p:nvPr/>
        </p:nvGrpSpPr>
        <p:grpSpPr>
          <a:xfrm rot="0">
            <a:off x="16253460" y="2194560"/>
            <a:ext cx="493776" cy="493776"/>
            <a:chOff x="0" y="0"/>
            <a:chExt cx="658368" cy="658368"/>
          </a:xfrm>
        </p:grpSpPr>
        <p:sp>
          <p:nvSpPr>
            <p:cNvPr name="Freeform 66" id="66"/>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22D3EE"/>
            </a:solidFill>
          </p:spPr>
        </p:sp>
        <p:sp>
          <p:nvSpPr>
            <p:cNvPr name="TextBox 67" id="67"/>
            <p:cNvSpPr txBox="true"/>
            <p:nvPr/>
          </p:nvSpPr>
          <p:spPr>
            <a:xfrm>
              <a:off x="0" y="-38100"/>
              <a:ext cx="658368" cy="696468"/>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7</a:t>
              </a:r>
            </a:p>
          </p:txBody>
        </p:sp>
      </p:grpSp>
      <p:sp>
        <p:nvSpPr>
          <p:cNvPr name="TextBox 68" id="68"/>
          <p:cNvSpPr txBox="true"/>
          <p:nvPr/>
        </p:nvSpPr>
        <p:spPr>
          <a:xfrm rot="0">
            <a:off x="15471648" y="4684395"/>
            <a:ext cx="2057400" cy="2105025"/>
          </a:xfrm>
          <a:prstGeom prst="rect">
            <a:avLst/>
          </a:prstGeom>
        </p:spPr>
        <p:txBody>
          <a:bodyPr anchor="t" rtlCol="false" tIns="0" lIns="0" bIns="0" rIns="0">
            <a:spAutoFit/>
          </a:bodyPr>
          <a:lstStyle/>
          <a:p>
            <a:pPr algn="ctr">
              <a:lnSpc>
                <a:spcPts val="2340"/>
              </a:lnSpc>
            </a:pPr>
            <a:r>
              <a:rPr lang="en-US" sz="1950">
                <a:solidFill>
                  <a:srgbClr val="9AA4B2"/>
                </a:solidFill>
                <a:latin typeface="Calibri (MS)"/>
                <a:ea typeface="Calibri (MS)"/>
                <a:cs typeface="Calibri (MS)"/>
                <a:sym typeface="Calibri (MS)"/>
              </a:rPr>
              <a:t>Compare models, read feature importance, interpret clusters</a:t>
            </a:r>
          </a:p>
        </p:txBody>
      </p:sp>
      <p:grpSp>
        <p:nvGrpSpPr>
          <p:cNvPr name="Group 69" id="69"/>
          <p:cNvGrpSpPr/>
          <p:nvPr/>
        </p:nvGrpSpPr>
        <p:grpSpPr>
          <a:xfrm rot="0">
            <a:off x="815816" y="6850856"/>
            <a:ext cx="5281232" cy="1454468"/>
            <a:chOff x="0" y="0"/>
            <a:chExt cx="7041642" cy="1939290"/>
          </a:xfrm>
        </p:grpSpPr>
        <p:sp>
          <p:nvSpPr>
            <p:cNvPr name="Freeform 70" id="70"/>
            <p:cNvSpPr/>
            <p:nvPr/>
          </p:nvSpPr>
          <p:spPr>
            <a:xfrm flipH="false" flipV="false" rot="0">
              <a:off x="0" y="0"/>
              <a:ext cx="7041642" cy="1939290"/>
            </a:xfrm>
            <a:custGeom>
              <a:avLst/>
              <a:gdLst/>
              <a:ahLst/>
              <a:cxnLst/>
              <a:rect r="r" b="b" t="t" l="l"/>
              <a:pathLst>
                <a:path h="1939290" w="7041642">
                  <a:moveTo>
                    <a:pt x="0" y="147701"/>
                  </a:moveTo>
                  <a:cubicBezTo>
                    <a:pt x="0" y="66167"/>
                    <a:pt x="66167" y="0"/>
                    <a:pt x="147701" y="0"/>
                  </a:cubicBezTo>
                  <a:lnTo>
                    <a:pt x="6893941" y="0"/>
                  </a:lnTo>
                  <a:cubicBezTo>
                    <a:pt x="6975602" y="0"/>
                    <a:pt x="7041642" y="66167"/>
                    <a:pt x="7041642" y="147701"/>
                  </a:cubicBezTo>
                  <a:lnTo>
                    <a:pt x="7041642" y="1791589"/>
                  </a:lnTo>
                  <a:cubicBezTo>
                    <a:pt x="7041642" y="1873250"/>
                    <a:pt x="6975475" y="1939290"/>
                    <a:pt x="6893941" y="1939290"/>
                  </a:cubicBezTo>
                  <a:lnTo>
                    <a:pt x="147701" y="1939290"/>
                  </a:lnTo>
                  <a:cubicBezTo>
                    <a:pt x="66167" y="1939290"/>
                    <a:pt x="0" y="1873123"/>
                    <a:pt x="0" y="1791589"/>
                  </a:cubicBezTo>
                  <a:close/>
                </a:path>
              </a:pathLst>
            </a:custGeom>
            <a:solidFill>
              <a:srgbClr val="161B22"/>
            </a:solidFill>
            <a:ln w="14288" cap="sq">
              <a:solidFill>
                <a:srgbClr val="2A323D"/>
              </a:solidFill>
              <a:prstDash val="solid"/>
              <a:miter/>
            </a:ln>
          </p:spPr>
        </p:sp>
      </p:grpSp>
      <p:grpSp>
        <p:nvGrpSpPr>
          <p:cNvPr name="Group 71" id="71"/>
          <p:cNvGrpSpPr/>
          <p:nvPr/>
        </p:nvGrpSpPr>
        <p:grpSpPr>
          <a:xfrm rot="0">
            <a:off x="1165860" y="6858000"/>
            <a:ext cx="4663440" cy="1440180"/>
            <a:chOff x="0" y="0"/>
            <a:chExt cx="6217920" cy="1920240"/>
          </a:xfrm>
        </p:grpSpPr>
        <p:sp>
          <p:nvSpPr>
            <p:cNvPr name="Freeform 72" id="72"/>
            <p:cNvSpPr/>
            <p:nvPr/>
          </p:nvSpPr>
          <p:spPr>
            <a:xfrm flipH="false" flipV="false" rot="0">
              <a:off x="0" y="0"/>
              <a:ext cx="6217920" cy="1920240"/>
            </a:xfrm>
            <a:custGeom>
              <a:avLst/>
              <a:gdLst/>
              <a:ahLst/>
              <a:cxnLst/>
              <a:rect r="r" b="b" t="t" l="l"/>
              <a:pathLst>
                <a:path h="1920240" w="6217920">
                  <a:moveTo>
                    <a:pt x="0" y="0"/>
                  </a:moveTo>
                  <a:lnTo>
                    <a:pt x="6217920" y="0"/>
                  </a:lnTo>
                  <a:lnTo>
                    <a:pt x="6217920" y="1920240"/>
                  </a:lnTo>
                  <a:lnTo>
                    <a:pt x="0" y="1920240"/>
                  </a:lnTo>
                  <a:close/>
                </a:path>
              </a:pathLst>
            </a:custGeom>
            <a:blipFill>
              <a:blip r:embed="rId3">
                <a:alphaModFix amt="0"/>
              </a:blip>
              <a:stretch>
                <a:fillRect l="0" t="-13094" r="0" b="-13094"/>
              </a:stretch>
            </a:blipFill>
          </p:spPr>
        </p:sp>
        <p:sp>
          <p:nvSpPr>
            <p:cNvPr name="TextBox 73" id="73"/>
            <p:cNvSpPr txBox="true"/>
            <p:nvPr/>
          </p:nvSpPr>
          <p:spPr>
            <a:xfrm>
              <a:off x="0" y="-38100"/>
              <a:ext cx="6217920" cy="1958340"/>
            </a:xfrm>
            <a:prstGeom prst="rect">
              <a:avLst/>
            </a:prstGeom>
          </p:spPr>
          <p:txBody>
            <a:bodyPr anchor="ctr" rtlCol="false" tIns="0" lIns="0" bIns="0" rIns="0"/>
            <a:lstStyle/>
            <a:p>
              <a:pPr algn="l">
                <a:lnSpc>
                  <a:spcPts val="2879"/>
                </a:lnSpc>
              </a:pPr>
              <a:r>
                <a:rPr lang="en-US" sz="2400" b="true">
                  <a:solidFill>
                    <a:srgbClr val="22D3EE"/>
                  </a:solidFill>
                  <a:latin typeface="Calibri (MS) Bold"/>
                  <a:ea typeface="Calibri (MS) Bold"/>
                  <a:cs typeface="Calibri (MS) Bold"/>
                  <a:sym typeface="Calibri (MS) Bold"/>
                </a:rPr>
                <a:t>Regression</a:t>
              </a:r>
            </a:p>
            <a:p>
              <a:pPr algn="l">
                <a:lnSpc>
                  <a:spcPts val="2340"/>
                </a:lnSpc>
              </a:pPr>
              <a:r>
                <a:rPr lang="en-US" sz="1950">
                  <a:solidFill>
                    <a:srgbClr val="E8ECF1"/>
                  </a:solidFill>
                  <a:latin typeface="Calibri (MS)"/>
                  <a:ea typeface="Calibri (MS)"/>
                  <a:cs typeface="Calibri (MS)"/>
                  <a:sym typeface="Calibri (MS)"/>
                </a:rPr>
                <a:t>Linear Regression · Random Forest</a:t>
              </a:r>
            </a:p>
          </p:txBody>
        </p:sp>
      </p:grpSp>
      <p:grpSp>
        <p:nvGrpSpPr>
          <p:cNvPr name="Group 74" id="74"/>
          <p:cNvGrpSpPr/>
          <p:nvPr/>
        </p:nvGrpSpPr>
        <p:grpSpPr>
          <a:xfrm rot="0">
            <a:off x="6501098" y="6850856"/>
            <a:ext cx="5281232" cy="1454468"/>
            <a:chOff x="0" y="0"/>
            <a:chExt cx="7041642" cy="1939290"/>
          </a:xfrm>
        </p:grpSpPr>
        <p:sp>
          <p:nvSpPr>
            <p:cNvPr name="Freeform 75" id="75"/>
            <p:cNvSpPr/>
            <p:nvPr/>
          </p:nvSpPr>
          <p:spPr>
            <a:xfrm flipH="false" flipV="false" rot="0">
              <a:off x="0" y="0"/>
              <a:ext cx="7041642" cy="1939290"/>
            </a:xfrm>
            <a:custGeom>
              <a:avLst/>
              <a:gdLst/>
              <a:ahLst/>
              <a:cxnLst/>
              <a:rect r="r" b="b" t="t" l="l"/>
              <a:pathLst>
                <a:path h="1939290" w="7041642">
                  <a:moveTo>
                    <a:pt x="0" y="147701"/>
                  </a:moveTo>
                  <a:cubicBezTo>
                    <a:pt x="0" y="66167"/>
                    <a:pt x="66167" y="0"/>
                    <a:pt x="147701" y="0"/>
                  </a:cubicBezTo>
                  <a:lnTo>
                    <a:pt x="6893941" y="0"/>
                  </a:lnTo>
                  <a:cubicBezTo>
                    <a:pt x="6975602" y="0"/>
                    <a:pt x="7041642" y="66167"/>
                    <a:pt x="7041642" y="147701"/>
                  </a:cubicBezTo>
                  <a:lnTo>
                    <a:pt x="7041642" y="1791589"/>
                  </a:lnTo>
                  <a:cubicBezTo>
                    <a:pt x="7041642" y="1873250"/>
                    <a:pt x="6975475" y="1939290"/>
                    <a:pt x="6893941" y="1939290"/>
                  </a:cubicBezTo>
                  <a:lnTo>
                    <a:pt x="147701" y="1939290"/>
                  </a:lnTo>
                  <a:cubicBezTo>
                    <a:pt x="66167" y="1939290"/>
                    <a:pt x="0" y="1873123"/>
                    <a:pt x="0" y="1791589"/>
                  </a:cubicBezTo>
                  <a:close/>
                </a:path>
              </a:pathLst>
            </a:custGeom>
            <a:solidFill>
              <a:srgbClr val="161B22"/>
            </a:solidFill>
            <a:ln w="14288" cap="sq">
              <a:solidFill>
                <a:srgbClr val="2A323D"/>
              </a:solidFill>
              <a:prstDash val="solid"/>
              <a:miter/>
            </a:ln>
          </p:spPr>
        </p:sp>
      </p:grpSp>
      <p:grpSp>
        <p:nvGrpSpPr>
          <p:cNvPr name="Group 76" id="76"/>
          <p:cNvGrpSpPr/>
          <p:nvPr/>
        </p:nvGrpSpPr>
        <p:grpSpPr>
          <a:xfrm rot="0">
            <a:off x="6851142" y="6858000"/>
            <a:ext cx="4663440" cy="1440180"/>
            <a:chOff x="0" y="0"/>
            <a:chExt cx="6217920" cy="1920240"/>
          </a:xfrm>
        </p:grpSpPr>
        <p:sp>
          <p:nvSpPr>
            <p:cNvPr name="Freeform 77" id="77"/>
            <p:cNvSpPr/>
            <p:nvPr/>
          </p:nvSpPr>
          <p:spPr>
            <a:xfrm flipH="false" flipV="false" rot="0">
              <a:off x="0" y="0"/>
              <a:ext cx="6217920" cy="1920240"/>
            </a:xfrm>
            <a:custGeom>
              <a:avLst/>
              <a:gdLst/>
              <a:ahLst/>
              <a:cxnLst/>
              <a:rect r="r" b="b" t="t" l="l"/>
              <a:pathLst>
                <a:path h="1920240" w="6217920">
                  <a:moveTo>
                    <a:pt x="0" y="0"/>
                  </a:moveTo>
                  <a:lnTo>
                    <a:pt x="6217920" y="0"/>
                  </a:lnTo>
                  <a:lnTo>
                    <a:pt x="6217920" y="1920240"/>
                  </a:lnTo>
                  <a:lnTo>
                    <a:pt x="0" y="1920240"/>
                  </a:lnTo>
                  <a:close/>
                </a:path>
              </a:pathLst>
            </a:custGeom>
            <a:blipFill>
              <a:blip r:embed="rId3">
                <a:alphaModFix amt="0"/>
              </a:blip>
              <a:stretch>
                <a:fillRect l="0" t="-13094" r="0" b="-13094"/>
              </a:stretch>
            </a:blipFill>
          </p:spPr>
        </p:sp>
        <p:sp>
          <p:nvSpPr>
            <p:cNvPr name="TextBox 78" id="78"/>
            <p:cNvSpPr txBox="true"/>
            <p:nvPr/>
          </p:nvSpPr>
          <p:spPr>
            <a:xfrm>
              <a:off x="0" y="-38100"/>
              <a:ext cx="6217920" cy="1958340"/>
            </a:xfrm>
            <a:prstGeom prst="rect">
              <a:avLst/>
            </a:prstGeom>
          </p:spPr>
          <p:txBody>
            <a:bodyPr anchor="ctr" rtlCol="false" tIns="0" lIns="0" bIns="0" rIns="0"/>
            <a:lstStyle/>
            <a:p>
              <a:pPr algn="l">
                <a:lnSpc>
                  <a:spcPts val="2879"/>
                </a:lnSpc>
              </a:pPr>
              <a:r>
                <a:rPr lang="en-US" sz="2400" b="true">
                  <a:solidFill>
                    <a:srgbClr val="22D3EE"/>
                  </a:solidFill>
                  <a:latin typeface="Calibri (MS) Bold"/>
                  <a:ea typeface="Calibri (MS) Bold"/>
                  <a:cs typeface="Calibri (MS) Bold"/>
                  <a:sym typeface="Calibri (MS) Bold"/>
                </a:rPr>
                <a:t>Classification</a:t>
              </a:r>
            </a:p>
            <a:p>
              <a:pPr algn="l">
                <a:lnSpc>
                  <a:spcPts val="2340"/>
                </a:lnSpc>
              </a:pPr>
              <a:r>
                <a:rPr lang="en-US" sz="1950">
                  <a:solidFill>
                    <a:srgbClr val="E8ECF1"/>
                  </a:solidFill>
                  <a:latin typeface="Calibri (MS)"/>
                  <a:ea typeface="Calibri (MS)"/>
                  <a:cs typeface="Calibri (MS)"/>
                  <a:sym typeface="Calibri (MS)"/>
                </a:rPr>
                <a:t>Logistic Regression · Decision Tree</a:t>
              </a:r>
            </a:p>
          </p:txBody>
        </p:sp>
      </p:grpSp>
      <p:grpSp>
        <p:nvGrpSpPr>
          <p:cNvPr name="Group 79" id="79"/>
          <p:cNvGrpSpPr/>
          <p:nvPr/>
        </p:nvGrpSpPr>
        <p:grpSpPr>
          <a:xfrm rot="0">
            <a:off x="12186380" y="6850856"/>
            <a:ext cx="5281232" cy="1454468"/>
            <a:chOff x="0" y="0"/>
            <a:chExt cx="7041642" cy="1939290"/>
          </a:xfrm>
        </p:grpSpPr>
        <p:sp>
          <p:nvSpPr>
            <p:cNvPr name="Freeform 80" id="80"/>
            <p:cNvSpPr/>
            <p:nvPr/>
          </p:nvSpPr>
          <p:spPr>
            <a:xfrm flipH="false" flipV="false" rot="0">
              <a:off x="0" y="0"/>
              <a:ext cx="7041642" cy="1939290"/>
            </a:xfrm>
            <a:custGeom>
              <a:avLst/>
              <a:gdLst/>
              <a:ahLst/>
              <a:cxnLst/>
              <a:rect r="r" b="b" t="t" l="l"/>
              <a:pathLst>
                <a:path h="1939290" w="7041642">
                  <a:moveTo>
                    <a:pt x="0" y="147701"/>
                  </a:moveTo>
                  <a:cubicBezTo>
                    <a:pt x="0" y="66167"/>
                    <a:pt x="66167" y="0"/>
                    <a:pt x="147701" y="0"/>
                  </a:cubicBezTo>
                  <a:lnTo>
                    <a:pt x="6893941" y="0"/>
                  </a:lnTo>
                  <a:cubicBezTo>
                    <a:pt x="6975602" y="0"/>
                    <a:pt x="7041642" y="66167"/>
                    <a:pt x="7041642" y="147701"/>
                  </a:cubicBezTo>
                  <a:lnTo>
                    <a:pt x="7041642" y="1791589"/>
                  </a:lnTo>
                  <a:cubicBezTo>
                    <a:pt x="7041642" y="1873250"/>
                    <a:pt x="6975475" y="1939290"/>
                    <a:pt x="6893941" y="1939290"/>
                  </a:cubicBezTo>
                  <a:lnTo>
                    <a:pt x="147701" y="1939290"/>
                  </a:lnTo>
                  <a:cubicBezTo>
                    <a:pt x="66167" y="1939290"/>
                    <a:pt x="0" y="1873123"/>
                    <a:pt x="0" y="1791589"/>
                  </a:cubicBezTo>
                  <a:close/>
                </a:path>
              </a:pathLst>
            </a:custGeom>
            <a:solidFill>
              <a:srgbClr val="161B22"/>
            </a:solidFill>
            <a:ln w="14288" cap="sq">
              <a:solidFill>
                <a:srgbClr val="2A323D"/>
              </a:solidFill>
              <a:prstDash val="solid"/>
              <a:miter/>
            </a:ln>
          </p:spPr>
        </p:sp>
      </p:grpSp>
      <p:grpSp>
        <p:nvGrpSpPr>
          <p:cNvPr name="Group 81" id="81"/>
          <p:cNvGrpSpPr/>
          <p:nvPr/>
        </p:nvGrpSpPr>
        <p:grpSpPr>
          <a:xfrm rot="0">
            <a:off x="12536424" y="6858000"/>
            <a:ext cx="4663440" cy="1440180"/>
            <a:chOff x="0" y="0"/>
            <a:chExt cx="6217920" cy="1920240"/>
          </a:xfrm>
        </p:grpSpPr>
        <p:sp>
          <p:nvSpPr>
            <p:cNvPr name="Freeform 82" id="82"/>
            <p:cNvSpPr/>
            <p:nvPr/>
          </p:nvSpPr>
          <p:spPr>
            <a:xfrm flipH="false" flipV="false" rot="0">
              <a:off x="0" y="0"/>
              <a:ext cx="6217920" cy="1920240"/>
            </a:xfrm>
            <a:custGeom>
              <a:avLst/>
              <a:gdLst/>
              <a:ahLst/>
              <a:cxnLst/>
              <a:rect r="r" b="b" t="t" l="l"/>
              <a:pathLst>
                <a:path h="1920240" w="6217920">
                  <a:moveTo>
                    <a:pt x="0" y="0"/>
                  </a:moveTo>
                  <a:lnTo>
                    <a:pt x="6217920" y="0"/>
                  </a:lnTo>
                  <a:lnTo>
                    <a:pt x="6217920" y="1920240"/>
                  </a:lnTo>
                  <a:lnTo>
                    <a:pt x="0" y="1920240"/>
                  </a:lnTo>
                  <a:close/>
                </a:path>
              </a:pathLst>
            </a:custGeom>
            <a:blipFill>
              <a:blip r:embed="rId3">
                <a:alphaModFix amt="0"/>
              </a:blip>
              <a:stretch>
                <a:fillRect l="0" t="-13094" r="0" b="-13094"/>
              </a:stretch>
            </a:blipFill>
          </p:spPr>
        </p:sp>
        <p:sp>
          <p:nvSpPr>
            <p:cNvPr name="TextBox 83" id="83"/>
            <p:cNvSpPr txBox="true"/>
            <p:nvPr/>
          </p:nvSpPr>
          <p:spPr>
            <a:xfrm>
              <a:off x="0" y="-38100"/>
              <a:ext cx="6217920" cy="1958340"/>
            </a:xfrm>
            <a:prstGeom prst="rect">
              <a:avLst/>
            </a:prstGeom>
          </p:spPr>
          <p:txBody>
            <a:bodyPr anchor="ctr" rtlCol="false" tIns="0" lIns="0" bIns="0" rIns="0"/>
            <a:lstStyle/>
            <a:p>
              <a:pPr algn="l">
                <a:lnSpc>
                  <a:spcPts val="2879"/>
                </a:lnSpc>
              </a:pPr>
              <a:r>
                <a:rPr lang="en-US" sz="2400" b="true">
                  <a:solidFill>
                    <a:srgbClr val="22D3EE"/>
                  </a:solidFill>
                  <a:latin typeface="Calibri (MS) Bold"/>
                  <a:ea typeface="Calibri (MS) Bold"/>
                  <a:cs typeface="Calibri (MS) Bold"/>
                  <a:sym typeface="Calibri (MS) Bold"/>
                </a:rPr>
                <a:t>Clustering</a:t>
              </a:r>
            </a:p>
            <a:p>
              <a:pPr algn="l">
                <a:lnSpc>
                  <a:spcPts val="2340"/>
                </a:lnSpc>
              </a:pPr>
              <a:r>
                <a:rPr lang="en-US" sz="1950">
                  <a:solidFill>
                    <a:srgbClr val="E8ECF1"/>
                  </a:solidFill>
                  <a:latin typeface="Calibri (MS)"/>
                  <a:ea typeface="Calibri (MS)"/>
                  <a:cs typeface="Calibri (MS)"/>
                  <a:sym typeface="Calibri (MS)"/>
                </a:rPr>
                <a:t>K-Means</a:t>
              </a:r>
            </a:p>
          </p:txBody>
        </p:sp>
      </p:grpSp>
      <p:grpSp>
        <p:nvGrpSpPr>
          <p:cNvPr name="Group 84" id="84"/>
          <p:cNvGrpSpPr/>
          <p:nvPr/>
        </p:nvGrpSpPr>
        <p:grpSpPr>
          <a:xfrm rot="0">
            <a:off x="822960" y="8778240"/>
            <a:ext cx="16637508" cy="548640"/>
            <a:chOff x="0" y="0"/>
            <a:chExt cx="22183344" cy="731520"/>
          </a:xfrm>
        </p:grpSpPr>
        <p:sp>
          <p:nvSpPr>
            <p:cNvPr name="Freeform 85" id="85"/>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3">
                <a:alphaModFix amt="0"/>
              </a:blip>
              <a:stretch>
                <a:fillRect l="0" t="-540883" r="0" b="-540883"/>
              </a:stretch>
            </a:blipFill>
          </p:spPr>
        </p:sp>
        <p:sp>
          <p:nvSpPr>
            <p:cNvPr name="TextBox 86" id="86"/>
            <p:cNvSpPr txBox="true"/>
            <p:nvPr/>
          </p:nvSpPr>
          <p:spPr>
            <a:xfrm>
              <a:off x="0" y="-47625"/>
              <a:ext cx="22183344" cy="779145"/>
            </a:xfrm>
            <a:prstGeom prst="rect">
              <a:avLst/>
            </a:prstGeom>
          </p:spPr>
          <p:txBody>
            <a:bodyPr anchor="ctr" rtlCol="false" tIns="0" lIns="0" bIns="0" rIns="0"/>
            <a:lstStyle/>
            <a:p>
              <a:pPr algn="l">
                <a:lnSpc>
                  <a:spcPts val="2520"/>
                </a:lnSpc>
              </a:pPr>
              <a:r>
                <a:rPr lang="en-US" sz="2100" b="true">
                  <a:solidFill>
                    <a:srgbClr val="FBBF24"/>
                  </a:solidFill>
                  <a:latin typeface="Calibri (MS) Bold"/>
                  <a:ea typeface="Calibri (MS) Bold"/>
                  <a:cs typeface="Calibri (MS) Bold"/>
                  <a:sym typeface="Calibri (MS) Bold"/>
                </a:rPr>
                <a:t>Scaling is needed for Logistic Regression and K-Means. Decision Tree and Random Forest do not need it.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Regression: Linear Regression vs Random Forest</a:t>
            </a:r>
          </a:p>
        </p:txBody>
      </p:sp>
      <p:grpSp>
        <p:nvGrpSpPr>
          <p:cNvPr name="Group 5" id="5"/>
          <p:cNvGrpSpPr/>
          <p:nvPr/>
        </p:nvGrpSpPr>
        <p:grpSpPr>
          <a:xfrm rot="0">
            <a:off x="822960" y="1536192"/>
            <a:ext cx="16637508" cy="480060"/>
            <a:chOff x="0" y="0"/>
            <a:chExt cx="22183344" cy="640080"/>
          </a:xfrm>
        </p:grpSpPr>
        <p:sp>
          <p:nvSpPr>
            <p:cNvPr name="Freeform 6" id="6"/>
            <p:cNvSpPr/>
            <p:nvPr/>
          </p:nvSpPr>
          <p:spPr>
            <a:xfrm flipH="false" flipV="false" rot="0">
              <a:off x="0" y="0"/>
              <a:ext cx="22183344" cy="640080"/>
            </a:xfrm>
            <a:custGeom>
              <a:avLst/>
              <a:gdLst/>
              <a:ahLst/>
              <a:cxnLst/>
              <a:rect r="r" b="b" t="t" l="l"/>
              <a:pathLst>
                <a:path h="640080" w="22183344">
                  <a:moveTo>
                    <a:pt x="0" y="0"/>
                  </a:moveTo>
                  <a:lnTo>
                    <a:pt x="22183344" y="0"/>
                  </a:lnTo>
                  <a:lnTo>
                    <a:pt x="22183344" y="640080"/>
                  </a:lnTo>
                  <a:lnTo>
                    <a:pt x="0" y="640080"/>
                  </a:lnTo>
                  <a:close/>
                </a:path>
              </a:pathLst>
            </a:custGeom>
            <a:blipFill>
              <a:blip r:embed="rId3">
                <a:alphaModFix amt="0"/>
              </a:blip>
              <a:stretch>
                <a:fillRect l="0" t="-625295" r="0" b="-625295"/>
              </a:stretch>
            </a:blipFill>
          </p:spPr>
        </p:sp>
        <p:sp>
          <p:nvSpPr>
            <p:cNvPr name="TextBox 7" id="7"/>
            <p:cNvSpPr txBox="true"/>
            <p:nvPr/>
          </p:nvSpPr>
          <p:spPr>
            <a:xfrm>
              <a:off x="0" y="-47625"/>
              <a:ext cx="22183344" cy="687705"/>
            </a:xfrm>
            <a:prstGeom prst="rect">
              <a:avLst/>
            </a:prstGeom>
          </p:spPr>
          <p:txBody>
            <a:bodyPr anchor="ctr" rtlCol="false" tIns="0" lIns="0" bIns="0" rIns="0"/>
            <a:lstStyle/>
            <a:p>
              <a:pPr algn="l">
                <a:lnSpc>
                  <a:spcPts val="2520"/>
                </a:lnSpc>
              </a:pPr>
              <a:r>
                <a:rPr lang="en-US" sz="2100">
                  <a:solidFill>
                    <a:srgbClr val="9AA4B2"/>
                  </a:solidFill>
                  <a:latin typeface="Calibri (MS)"/>
                  <a:ea typeface="Calibri (MS)"/>
                  <a:cs typeface="Calibri (MS)"/>
                  <a:sym typeface="Calibri (MS)"/>
                </a:rPr>
                <a:t>Which model performs better is decided by test-set metrics (to be evaluated)</a:t>
              </a:r>
            </a:p>
          </p:txBody>
        </p:sp>
      </p:grpSp>
      <p:grpSp>
        <p:nvGrpSpPr>
          <p:cNvPr name="Group 8" id="8"/>
          <p:cNvGrpSpPr/>
          <p:nvPr/>
        </p:nvGrpSpPr>
        <p:grpSpPr>
          <a:xfrm rot="0">
            <a:off x="822960" y="9710928"/>
            <a:ext cx="10972800" cy="342900"/>
            <a:chOff x="0" y="0"/>
            <a:chExt cx="14630400" cy="457200"/>
          </a:xfrm>
        </p:grpSpPr>
        <p:sp>
          <p:nvSpPr>
            <p:cNvPr name="Freeform 9" id="9"/>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10" id="10"/>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11" id="11"/>
          <p:cNvGrpSpPr/>
          <p:nvPr/>
        </p:nvGrpSpPr>
        <p:grpSpPr>
          <a:xfrm rot="0">
            <a:off x="16088868" y="9710928"/>
            <a:ext cx="1371600" cy="342900"/>
            <a:chOff x="0" y="0"/>
            <a:chExt cx="1828800" cy="457200"/>
          </a:xfrm>
        </p:grpSpPr>
        <p:sp>
          <p:nvSpPr>
            <p:cNvPr name="Freeform 12" id="12"/>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3" id="13"/>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6</a:t>
              </a:r>
            </a:p>
          </p:txBody>
        </p:sp>
      </p:grpSp>
      <p:grpSp>
        <p:nvGrpSpPr>
          <p:cNvPr name="Group 14" id="14"/>
          <p:cNvGrpSpPr/>
          <p:nvPr/>
        </p:nvGrpSpPr>
        <p:grpSpPr>
          <a:xfrm rot="0">
            <a:off x="815816" y="2255996"/>
            <a:ext cx="5775008" cy="1248727"/>
            <a:chOff x="0" y="0"/>
            <a:chExt cx="7700010" cy="1664970"/>
          </a:xfrm>
        </p:grpSpPr>
        <p:sp>
          <p:nvSpPr>
            <p:cNvPr name="Freeform 15" id="15"/>
            <p:cNvSpPr/>
            <p:nvPr/>
          </p:nvSpPr>
          <p:spPr>
            <a:xfrm flipH="false" flipV="false" rot="0">
              <a:off x="0" y="0"/>
              <a:ext cx="7700011" cy="1664970"/>
            </a:xfrm>
            <a:custGeom>
              <a:avLst/>
              <a:gdLst/>
              <a:ahLst/>
              <a:cxnLst/>
              <a:rect r="r" b="b" t="t" l="l"/>
              <a:pathLst>
                <a:path h="1664970" w="7700011">
                  <a:moveTo>
                    <a:pt x="0" y="147955"/>
                  </a:moveTo>
                  <a:cubicBezTo>
                    <a:pt x="0" y="66294"/>
                    <a:pt x="66294" y="0"/>
                    <a:pt x="147955" y="0"/>
                  </a:cubicBezTo>
                  <a:lnTo>
                    <a:pt x="7552055" y="0"/>
                  </a:lnTo>
                  <a:cubicBezTo>
                    <a:pt x="7633843" y="0"/>
                    <a:pt x="7700011" y="66294"/>
                    <a:pt x="7700011" y="147955"/>
                  </a:cubicBezTo>
                  <a:lnTo>
                    <a:pt x="7700011" y="1517015"/>
                  </a:lnTo>
                  <a:cubicBezTo>
                    <a:pt x="7700011" y="1598803"/>
                    <a:pt x="7633716" y="1664970"/>
                    <a:pt x="7552055" y="1664970"/>
                  </a:cubicBezTo>
                  <a:lnTo>
                    <a:pt x="147955" y="1664970"/>
                  </a:lnTo>
                  <a:cubicBezTo>
                    <a:pt x="66294" y="1664970"/>
                    <a:pt x="0" y="1598676"/>
                    <a:pt x="0" y="1517015"/>
                  </a:cubicBezTo>
                  <a:close/>
                </a:path>
              </a:pathLst>
            </a:custGeom>
            <a:solidFill>
              <a:srgbClr val="161B22"/>
            </a:solidFill>
            <a:ln w="14288" cap="sq">
              <a:solidFill>
                <a:srgbClr val="2A323D"/>
              </a:solidFill>
              <a:prstDash val="solid"/>
              <a:miter/>
            </a:ln>
          </p:spPr>
        </p:sp>
        <p:sp>
          <p:nvSpPr>
            <p:cNvPr name="TextBox 16" id="16"/>
            <p:cNvSpPr txBox="true"/>
            <p:nvPr/>
          </p:nvSpPr>
          <p:spPr>
            <a:xfrm>
              <a:off x="0" y="-47625"/>
              <a:ext cx="7700010" cy="1712595"/>
            </a:xfrm>
            <a:prstGeom prst="rect">
              <a:avLst/>
            </a:prstGeom>
          </p:spPr>
          <p:txBody>
            <a:bodyPr anchor="ctr" rtlCol="false" tIns="50800" lIns="50800" bIns="50800" rIns="50800"/>
            <a:lstStyle/>
            <a:p>
              <a:pPr algn="l">
                <a:lnSpc>
                  <a:spcPts val="2520"/>
                </a:lnSpc>
              </a:pPr>
              <a:r>
                <a:rPr lang="en-US" sz="2100" b="true">
                  <a:solidFill>
                    <a:srgbClr val="E8ECF1"/>
                  </a:solidFill>
                  <a:latin typeface="Calibri (MS) Bold"/>
                  <a:ea typeface="Calibri (MS) Bold"/>
                  <a:cs typeface="Calibri (MS) Bold"/>
                  <a:sym typeface="Calibri (MS) Bold"/>
                </a:rPr>
                <a:t>Input features</a:t>
              </a:r>
            </a:p>
            <a:p>
              <a:pPr algn="l">
                <a:lnSpc>
                  <a:spcPts val="2070"/>
                </a:lnSpc>
              </a:pPr>
              <a:r>
                <a:rPr lang="en-US" sz="1725">
                  <a:solidFill>
                    <a:srgbClr val="9AA4B2"/>
                  </a:solidFill>
                  <a:latin typeface="Calibri (MS)"/>
                  <a:ea typeface="Calibri (MS)"/>
                  <a:cs typeface="Calibri (MS)"/>
                  <a:sym typeface="Calibri (MS)"/>
                </a:rPr>
                <a:t>Shots · Passes · Pass accuracy · Tackles · Interceptions</a:t>
              </a:r>
            </a:p>
          </p:txBody>
        </p:sp>
      </p:grpSp>
      <p:sp>
        <p:nvSpPr>
          <p:cNvPr name="AutoShape 17" id="17"/>
          <p:cNvSpPr/>
          <p:nvPr/>
        </p:nvSpPr>
        <p:spPr>
          <a:xfrm rot="170040">
            <a:off x="6630295" y="2870835"/>
            <a:ext cx="866880" cy="0"/>
          </a:xfrm>
          <a:prstGeom prst="line">
            <a:avLst/>
          </a:prstGeom>
          <a:ln cap="rnd" w="19050">
            <a:solidFill>
              <a:srgbClr val="22D3EE"/>
            </a:solidFill>
            <a:prstDash val="solid"/>
            <a:headEnd type="none" len="sm" w="sm"/>
            <a:tailEnd type="triangle" len="med" w="lg"/>
          </a:ln>
        </p:spPr>
      </p:sp>
      <p:grpSp>
        <p:nvGrpSpPr>
          <p:cNvPr name="Group 18" id="18"/>
          <p:cNvGrpSpPr/>
          <p:nvPr/>
        </p:nvGrpSpPr>
        <p:grpSpPr>
          <a:xfrm rot="0">
            <a:off x="7536656" y="2255996"/>
            <a:ext cx="3991928" cy="1248727"/>
            <a:chOff x="0" y="0"/>
            <a:chExt cx="5322570" cy="1664970"/>
          </a:xfrm>
        </p:grpSpPr>
        <p:sp>
          <p:nvSpPr>
            <p:cNvPr name="Freeform 19" id="19"/>
            <p:cNvSpPr/>
            <p:nvPr/>
          </p:nvSpPr>
          <p:spPr>
            <a:xfrm flipH="false" flipV="false" rot="0">
              <a:off x="0" y="0"/>
              <a:ext cx="5322570" cy="1664970"/>
            </a:xfrm>
            <a:custGeom>
              <a:avLst/>
              <a:gdLst/>
              <a:ahLst/>
              <a:cxnLst/>
              <a:rect r="r" b="b" t="t" l="l"/>
              <a:pathLst>
                <a:path h="1664970" w="5322570">
                  <a:moveTo>
                    <a:pt x="0" y="147955"/>
                  </a:moveTo>
                  <a:cubicBezTo>
                    <a:pt x="0" y="66294"/>
                    <a:pt x="66294" y="0"/>
                    <a:pt x="147955" y="0"/>
                  </a:cubicBezTo>
                  <a:lnTo>
                    <a:pt x="5174615" y="0"/>
                  </a:lnTo>
                  <a:cubicBezTo>
                    <a:pt x="5256403" y="0"/>
                    <a:pt x="5322570" y="66294"/>
                    <a:pt x="5322570" y="147955"/>
                  </a:cubicBezTo>
                  <a:lnTo>
                    <a:pt x="5322570" y="1517015"/>
                  </a:lnTo>
                  <a:cubicBezTo>
                    <a:pt x="5322570" y="1598803"/>
                    <a:pt x="5256276" y="1664970"/>
                    <a:pt x="5174615" y="1664970"/>
                  </a:cubicBezTo>
                  <a:lnTo>
                    <a:pt x="147955" y="1664970"/>
                  </a:lnTo>
                  <a:cubicBezTo>
                    <a:pt x="66294" y="1664970"/>
                    <a:pt x="0" y="1598676"/>
                    <a:pt x="0" y="1517015"/>
                  </a:cubicBezTo>
                  <a:close/>
                </a:path>
              </a:pathLst>
            </a:custGeom>
            <a:solidFill>
              <a:srgbClr val="161B22"/>
            </a:solidFill>
            <a:ln w="14288" cap="sq">
              <a:solidFill>
                <a:srgbClr val="2A323D"/>
              </a:solidFill>
              <a:prstDash val="solid"/>
              <a:miter/>
            </a:ln>
          </p:spPr>
        </p:sp>
        <p:sp>
          <p:nvSpPr>
            <p:cNvPr name="TextBox 20" id="20"/>
            <p:cNvSpPr txBox="true"/>
            <p:nvPr/>
          </p:nvSpPr>
          <p:spPr>
            <a:xfrm>
              <a:off x="0" y="-47625"/>
              <a:ext cx="5322570" cy="1712595"/>
            </a:xfrm>
            <a:prstGeom prst="rect">
              <a:avLst/>
            </a:prstGeom>
          </p:spPr>
          <p:txBody>
            <a:bodyPr anchor="ctr" rtlCol="false" tIns="50800" lIns="50800" bIns="50800" rIns="50800"/>
            <a:lstStyle/>
            <a:p>
              <a:pPr algn="l">
                <a:lnSpc>
                  <a:spcPts val="2520"/>
                </a:lnSpc>
              </a:pPr>
              <a:r>
                <a:rPr lang="en-US" sz="2100" b="true">
                  <a:solidFill>
                    <a:srgbClr val="E8ECF1"/>
                  </a:solidFill>
                  <a:latin typeface="Calibri (MS) Bold"/>
                  <a:ea typeface="Calibri (MS) Bold"/>
                  <a:cs typeface="Calibri (MS) Bold"/>
                  <a:sym typeface="Calibri (MS) Bold"/>
                </a:rPr>
                <a:t>Model</a:t>
              </a:r>
            </a:p>
            <a:p>
              <a:pPr algn="l">
                <a:lnSpc>
                  <a:spcPts val="2070"/>
                </a:lnSpc>
              </a:pPr>
              <a:r>
                <a:rPr lang="en-US" sz="1725">
                  <a:solidFill>
                    <a:srgbClr val="9AA4B2"/>
                  </a:solidFill>
                  <a:latin typeface="Calibri (MS)"/>
                  <a:ea typeface="Calibri (MS)"/>
                  <a:cs typeface="Calibri (MS)"/>
                  <a:sym typeface="Calibri (MS)"/>
                </a:rPr>
                <a:t>Linear Regression or Random Forest</a:t>
              </a:r>
            </a:p>
          </p:txBody>
        </p:sp>
      </p:grpSp>
      <p:sp>
        <p:nvSpPr>
          <p:cNvPr name="AutoShape 21" id="21"/>
          <p:cNvSpPr/>
          <p:nvPr/>
        </p:nvSpPr>
        <p:spPr>
          <a:xfrm rot="170040">
            <a:off x="11568055" y="2870835"/>
            <a:ext cx="866880" cy="0"/>
          </a:xfrm>
          <a:prstGeom prst="line">
            <a:avLst/>
          </a:prstGeom>
          <a:ln cap="rnd" w="19050">
            <a:solidFill>
              <a:srgbClr val="22D3EE"/>
            </a:solidFill>
            <a:prstDash val="solid"/>
            <a:headEnd type="none" len="sm" w="sm"/>
            <a:tailEnd type="triangle" len="med" w="lg"/>
          </a:ln>
        </p:spPr>
      </p:sp>
      <p:grpSp>
        <p:nvGrpSpPr>
          <p:cNvPr name="Group 22" id="22"/>
          <p:cNvGrpSpPr/>
          <p:nvPr/>
        </p:nvGrpSpPr>
        <p:grpSpPr>
          <a:xfrm rot="0">
            <a:off x="12474416" y="2255996"/>
            <a:ext cx="4993196" cy="1248727"/>
            <a:chOff x="0" y="0"/>
            <a:chExt cx="6657594" cy="1664970"/>
          </a:xfrm>
        </p:grpSpPr>
        <p:sp>
          <p:nvSpPr>
            <p:cNvPr name="Freeform 23" id="23"/>
            <p:cNvSpPr/>
            <p:nvPr/>
          </p:nvSpPr>
          <p:spPr>
            <a:xfrm flipH="false" flipV="false" rot="0">
              <a:off x="0" y="0"/>
              <a:ext cx="6657594" cy="1664970"/>
            </a:xfrm>
            <a:custGeom>
              <a:avLst/>
              <a:gdLst/>
              <a:ahLst/>
              <a:cxnLst/>
              <a:rect r="r" b="b" t="t" l="l"/>
              <a:pathLst>
                <a:path h="1664970" w="6657594">
                  <a:moveTo>
                    <a:pt x="0" y="147955"/>
                  </a:moveTo>
                  <a:cubicBezTo>
                    <a:pt x="0" y="66294"/>
                    <a:pt x="66294" y="0"/>
                    <a:pt x="147955" y="0"/>
                  </a:cubicBezTo>
                  <a:lnTo>
                    <a:pt x="6509639" y="0"/>
                  </a:lnTo>
                  <a:cubicBezTo>
                    <a:pt x="6591427" y="0"/>
                    <a:pt x="6657594" y="66294"/>
                    <a:pt x="6657594" y="147955"/>
                  </a:cubicBezTo>
                  <a:lnTo>
                    <a:pt x="6657594" y="1517015"/>
                  </a:lnTo>
                  <a:cubicBezTo>
                    <a:pt x="6657594" y="1598803"/>
                    <a:pt x="6591300" y="1664970"/>
                    <a:pt x="6509639" y="1664970"/>
                  </a:cubicBezTo>
                  <a:lnTo>
                    <a:pt x="147955" y="1664970"/>
                  </a:lnTo>
                  <a:cubicBezTo>
                    <a:pt x="66294" y="1664970"/>
                    <a:pt x="0" y="1598676"/>
                    <a:pt x="0" y="1517015"/>
                  </a:cubicBezTo>
                  <a:close/>
                </a:path>
              </a:pathLst>
            </a:custGeom>
            <a:solidFill>
              <a:srgbClr val="1D242E"/>
            </a:solidFill>
            <a:ln w="14288" cap="sq">
              <a:solidFill>
                <a:srgbClr val="22D3EE"/>
              </a:solidFill>
              <a:prstDash val="solid"/>
              <a:miter/>
            </a:ln>
          </p:spPr>
        </p:sp>
        <p:sp>
          <p:nvSpPr>
            <p:cNvPr name="TextBox 24" id="24"/>
            <p:cNvSpPr txBox="true"/>
            <p:nvPr/>
          </p:nvSpPr>
          <p:spPr>
            <a:xfrm>
              <a:off x="0" y="-47625"/>
              <a:ext cx="6657594" cy="1712595"/>
            </a:xfrm>
            <a:prstGeom prst="rect">
              <a:avLst/>
            </a:prstGeom>
          </p:spPr>
          <p:txBody>
            <a:bodyPr anchor="ctr" rtlCol="false" tIns="50800" lIns="50800" bIns="50800" rIns="50800"/>
            <a:lstStyle/>
            <a:p>
              <a:pPr algn="l">
                <a:lnSpc>
                  <a:spcPts val="2520"/>
                </a:lnSpc>
              </a:pPr>
              <a:r>
                <a:rPr lang="en-US" sz="2100" b="true">
                  <a:solidFill>
                    <a:srgbClr val="22D3EE"/>
                  </a:solidFill>
                  <a:latin typeface="Calibri (MS) Bold"/>
                  <a:ea typeface="Calibri (MS) Bold"/>
                  <a:cs typeface="Calibri (MS) Bold"/>
                  <a:sym typeface="Calibri (MS) Bold"/>
                </a:rPr>
                <a:t>Predicted Performance Score</a:t>
              </a:r>
            </a:p>
            <a:p>
              <a:pPr algn="l">
                <a:lnSpc>
                  <a:spcPts val="2070"/>
                </a:lnSpc>
              </a:pPr>
              <a:r>
                <a:rPr lang="en-US" sz="1725">
                  <a:solidFill>
                    <a:srgbClr val="9AA4B2"/>
                  </a:solidFill>
                  <a:latin typeface="Calibri (MS)"/>
                  <a:ea typeface="Calibri (MS)"/>
                  <a:cs typeface="Calibri (MS)"/>
                  <a:sym typeface="Calibri (MS)"/>
                </a:rPr>
                <a:t>project-defined, not an official rating</a:t>
              </a:r>
            </a:p>
          </p:txBody>
        </p:sp>
      </p:grpSp>
      <p:grpSp>
        <p:nvGrpSpPr>
          <p:cNvPr name="Group 25" id="25"/>
          <p:cNvGrpSpPr/>
          <p:nvPr/>
        </p:nvGrpSpPr>
        <p:grpSpPr>
          <a:xfrm rot="0">
            <a:off x="815816" y="3833336"/>
            <a:ext cx="8175307" cy="4060508"/>
            <a:chOff x="0" y="0"/>
            <a:chExt cx="10900410" cy="5414010"/>
          </a:xfrm>
        </p:grpSpPr>
        <p:sp>
          <p:nvSpPr>
            <p:cNvPr name="Freeform 26" id="26"/>
            <p:cNvSpPr/>
            <p:nvPr/>
          </p:nvSpPr>
          <p:spPr>
            <a:xfrm flipH="false" flipV="false" rot="0">
              <a:off x="0" y="0"/>
              <a:ext cx="10900410" cy="5414010"/>
            </a:xfrm>
            <a:custGeom>
              <a:avLst/>
              <a:gdLst/>
              <a:ahLst/>
              <a:cxnLst/>
              <a:rect r="r" b="b" t="t" l="l"/>
              <a:pathLst>
                <a:path h="5414010" w="10900410">
                  <a:moveTo>
                    <a:pt x="0" y="146812"/>
                  </a:moveTo>
                  <a:cubicBezTo>
                    <a:pt x="0" y="65786"/>
                    <a:pt x="65786" y="0"/>
                    <a:pt x="146812" y="0"/>
                  </a:cubicBezTo>
                  <a:lnTo>
                    <a:pt x="10753598" y="0"/>
                  </a:lnTo>
                  <a:cubicBezTo>
                    <a:pt x="10834751" y="0"/>
                    <a:pt x="10900410" y="65786"/>
                    <a:pt x="10900410" y="146812"/>
                  </a:cubicBezTo>
                  <a:lnTo>
                    <a:pt x="10900410" y="5267198"/>
                  </a:lnTo>
                  <a:cubicBezTo>
                    <a:pt x="10900410" y="5348351"/>
                    <a:pt x="10834624" y="5414010"/>
                    <a:pt x="10753598" y="5414010"/>
                  </a:cubicBezTo>
                  <a:lnTo>
                    <a:pt x="146812" y="5414010"/>
                  </a:lnTo>
                  <a:cubicBezTo>
                    <a:pt x="65786" y="5414010"/>
                    <a:pt x="0" y="5348224"/>
                    <a:pt x="0" y="5267198"/>
                  </a:cubicBezTo>
                  <a:close/>
                </a:path>
              </a:pathLst>
            </a:custGeom>
            <a:solidFill>
              <a:srgbClr val="161B22"/>
            </a:solidFill>
            <a:ln w="14288" cap="sq">
              <a:solidFill>
                <a:srgbClr val="2A323D"/>
              </a:solidFill>
              <a:prstDash val="solid"/>
              <a:miter/>
            </a:ln>
          </p:spPr>
        </p:sp>
      </p:grpSp>
      <p:grpSp>
        <p:nvGrpSpPr>
          <p:cNvPr name="Group 27" id="27"/>
          <p:cNvGrpSpPr/>
          <p:nvPr/>
        </p:nvGrpSpPr>
        <p:grpSpPr>
          <a:xfrm rot="0">
            <a:off x="1234440" y="4046220"/>
            <a:ext cx="7269480" cy="548640"/>
            <a:chOff x="0" y="0"/>
            <a:chExt cx="9692640" cy="731520"/>
          </a:xfrm>
        </p:grpSpPr>
        <p:sp>
          <p:nvSpPr>
            <p:cNvPr name="Freeform 28" id="28"/>
            <p:cNvSpPr/>
            <p:nvPr/>
          </p:nvSpPr>
          <p:spPr>
            <a:xfrm flipH="false" flipV="false" rot="0">
              <a:off x="0" y="0"/>
              <a:ext cx="9692640" cy="731520"/>
            </a:xfrm>
            <a:custGeom>
              <a:avLst/>
              <a:gdLst/>
              <a:ahLst/>
              <a:cxnLst/>
              <a:rect r="r" b="b" t="t" l="l"/>
              <a:pathLst>
                <a:path h="731520" w="9692640">
                  <a:moveTo>
                    <a:pt x="0" y="0"/>
                  </a:moveTo>
                  <a:lnTo>
                    <a:pt x="9692640" y="0"/>
                  </a:lnTo>
                  <a:lnTo>
                    <a:pt x="9692640" y="731520"/>
                  </a:lnTo>
                  <a:lnTo>
                    <a:pt x="0" y="731520"/>
                  </a:lnTo>
                  <a:close/>
                </a:path>
              </a:pathLst>
            </a:custGeom>
            <a:blipFill>
              <a:blip r:embed="rId3">
                <a:alphaModFix amt="0"/>
              </a:blip>
              <a:stretch>
                <a:fillRect l="0" t="-208176" r="0" b="-208176"/>
              </a:stretch>
            </a:blipFill>
          </p:spPr>
        </p:sp>
        <p:sp>
          <p:nvSpPr>
            <p:cNvPr name="TextBox 29" id="29"/>
            <p:cNvSpPr txBox="true"/>
            <p:nvPr/>
          </p:nvSpPr>
          <p:spPr>
            <a:xfrm>
              <a:off x="0" y="-57150"/>
              <a:ext cx="9692640" cy="788670"/>
            </a:xfrm>
            <a:prstGeom prst="rect">
              <a:avLst/>
            </a:prstGeom>
          </p:spPr>
          <p:txBody>
            <a:bodyPr anchor="ctr" rtlCol="false" tIns="0" lIns="0" bIns="0" rIns="0"/>
            <a:lstStyle/>
            <a:p>
              <a:pPr algn="l">
                <a:lnSpc>
                  <a:spcPts val="3240"/>
                </a:lnSpc>
              </a:pPr>
              <a:r>
                <a:rPr lang="en-US" sz="2700" b="true">
                  <a:solidFill>
                    <a:srgbClr val="22D3EE"/>
                  </a:solidFill>
                  <a:latin typeface="Calibri (MS) Bold"/>
                  <a:ea typeface="Calibri (MS) Bold"/>
                  <a:cs typeface="Calibri (MS) Bold"/>
                  <a:sym typeface="Calibri (MS) Bold"/>
                </a:rPr>
                <a:t>Linear Regression</a:t>
              </a:r>
            </a:p>
          </p:txBody>
        </p:sp>
      </p:grpSp>
      <p:grpSp>
        <p:nvGrpSpPr>
          <p:cNvPr name="Group 30" id="30"/>
          <p:cNvGrpSpPr/>
          <p:nvPr/>
        </p:nvGrpSpPr>
        <p:grpSpPr>
          <a:xfrm rot="0">
            <a:off x="1227296" y="4793456"/>
            <a:ext cx="3443288" cy="2688908"/>
            <a:chOff x="0" y="0"/>
            <a:chExt cx="4591050" cy="3585210"/>
          </a:xfrm>
        </p:grpSpPr>
        <p:sp>
          <p:nvSpPr>
            <p:cNvPr name="Freeform 31" id="31"/>
            <p:cNvSpPr/>
            <p:nvPr/>
          </p:nvSpPr>
          <p:spPr>
            <a:xfrm flipH="false" flipV="false" rot="0">
              <a:off x="0" y="0"/>
              <a:ext cx="4591050" cy="3585210"/>
            </a:xfrm>
            <a:custGeom>
              <a:avLst/>
              <a:gdLst/>
              <a:ahLst/>
              <a:cxnLst/>
              <a:rect r="r" b="b" t="t" l="l"/>
              <a:pathLst>
                <a:path h="3585210" w="4591050">
                  <a:moveTo>
                    <a:pt x="0" y="0"/>
                  </a:moveTo>
                  <a:lnTo>
                    <a:pt x="4591050" y="0"/>
                  </a:lnTo>
                  <a:lnTo>
                    <a:pt x="4591050" y="3585210"/>
                  </a:lnTo>
                  <a:lnTo>
                    <a:pt x="0" y="3585210"/>
                  </a:lnTo>
                  <a:close/>
                </a:path>
              </a:pathLst>
            </a:custGeom>
            <a:solidFill>
              <a:srgbClr val="0A0D12"/>
            </a:solidFill>
            <a:ln w="14288" cap="sq">
              <a:solidFill>
                <a:srgbClr val="2A323D"/>
              </a:solidFill>
              <a:prstDash val="solid"/>
              <a:miter/>
            </a:ln>
          </p:spPr>
        </p:sp>
      </p:grpSp>
      <p:grpSp>
        <p:nvGrpSpPr>
          <p:cNvPr name="Group 32" id="32"/>
          <p:cNvGrpSpPr/>
          <p:nvPr/>
        </p:nvGrpSpPr>
        <p:grpSpPr>
          <a:xfrm rot="0">
            <a:off x="1430655" y="6914445"/>
            <a:ext cx="156210" cy="156210"/>
            <a:chOff x="0" y="0"/>
            <a:chExt cx="208280" cy="208280"/>
          </a:xfrm>
        </p:grpSpPr>
        <p:sp>
          <p:nvSpPr>
            <p:cNvPr name="Freeform 33" id="3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34" id="34"/>
          <p:cNvGrpSpPr/>
          <p:nvPr/>
        </p:nvGrpSpPr>
        <p:grpSpPr>
          <a:xfrm rot="0">
            <a:off x="1600086" y="7069522"/>
            <a:ext cx="156210" cy="156210"/>
            <a:chOff x="0" y="0"/>
            <a:chExt cx="208280" cy="208280"/>
          </a:xfrm>
        </p:grpSpPr>
        <p:sp>
          <p:nvSpPr>
            <p:cNvPr name="Freeform 35" id="3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36" id="36"/>
          <p:cNvGrpSpPr/>
          <p:nvPr/>
        </p:nvGrpSpPr>
        <p:grpSpPr>
          <a:xfrm rot="0">
            <a:off x="1769526" y="6688846"/>
            <a:ext cx="156210" cy="156210"/>
            <a:chOff x="0" y="0"/>
            <a:chExt cx="208280" cy="208280"/>
          </a:xfrm>
        </p:grpSpPr>
        <p:sp>
          <p:nvSpPr>
            <p:cNvPr name="Freeform 37" id="3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38" id="38"/>
          <p:cNvGrpSpPr/>
          <p:nvPr/>
        </p:nvGrpSpPr>
        <p:grpSpPr>
          <a:xfrm rot="0">
            <a:off x="1938957" y="6780133"/>
            <a:ext cx="156210" cy="156210"/>
            <a:chOff x="0" y="0"/>
            <a:chExt cx="208280" cy="208280"/>
          </a:xfrm>
        </p:grpSpPr>
        <p:sp>
          <p:nvSpPr>
            <p:cNvPr name="Freeform 39" id="3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0" id="40"/>
          <p:cNvGrpSpPr/>
          <p:nvPr/>
        </p:nvGrpSpPr>
        <p:grpSpPr>
          <a:xfrm rot="0">
            <a:off x="2108387" y="6437728"/>
            <a:ext cx="156210" cy="156210"/>
            <a:chOff x="0" y="0"/>
            <a:chExt cx="208280" cy="208280"/>
          </a:xfrm>
        </p:grpSpPr>
        <p:sp>
          <p:nvSpPr>
            <p:cNvPr name="Freeform 41" id="4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2" id="42"/>
          <p:cNvGrpSpPr/>
          <p:nvPr/>
        </p:nvGrpSpPr>
        <p:grpSpPr>
          <a:xfrm rot="0">
            <a:off x="2277818" y="6643821"/>
            <a:ext cx="156210" cy="156210"/>
            <a:chOff x="0" y="0"/>
            <a:chExt cx="208280" cy="208280"/>
          </a:xfrm>
        </p:grpSpPr>
        <p:sp>
          <p:nvSpPr>
            <p:cNvPr name="Freeform 43" id="4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4" id="44"/>
          <p:cNvGrpSpPr/>
          <p:nvPr/>
        </p:nvGrpSpPr>
        <p:grpSpPr>
          <a:xfrm rot="0">
            <a:off x="2447249" y="6339688"/>
            <a:ext cx="156210" cy="156210"/>
            <a:chOff x="0" y="0"/>
            <a:chExt cx="208280" cy="208280"/>
          </a:xfrm>
        </p:grpSpPr>
        <p:sp>
          <p:nvSpPr>
            <p:cNvPr name="Freeform 45" id="4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6" id="46"/>
          <p:cNvGrpSpPr/>
          <p:nvPr/>
        </p:nvGrpSpPr>
        <p:grpSpPr>
          <a:xfrm rot="0">
            <a:off x="2616689" y="6494755"/>
            <a:ext cx="156210" cy="156210"/>
            <a:chOff x="0" y="0"/>
            <a:chExt cx="208280" cy="208280"/>
          </a:xfrm>
        </p:grpSpPr>
        <p:sp>
          <p:nvSpPr>
            <p:cNvPr name="Freeform 47" id="4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48" id="48"/>
          <p:cNvGrpSpPr/>
          <p:nvPr/>
        </p:nvGrpSpPr>
        <p:grpSpPr>
          <a:xfrm rot="0">
            <a:off x="2786120" y="6063053"/>
            <a:ext cx="156210" cy="156210"/>
            <a:chOff x="0" y="0"/>
            <a:chExt cx="208280" cy="208280"/>
          </a:xfrm>
        </p:grpSpPr>
        <p:sp>
          <p:nvSpPr>
            <p:cNvPr name="Freeform 49" id="4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50" id="50"/>
          <p:cNvGrpSpPr/>
          <p:nvPr/>
        </p:nvGrpSpPr>
        <p:grpSpPr>
          <a:xfrm rot="0">
            <a:off x="2955550" y="6192612"/>
            <a:ext cx="156210" cy="156210"/>
            <a:chOff x="0" y="0"/>
            <a:chExt cx="208280" cy="208280"/>
          </a:xfrm>
        </p:grpSpPr>
        <p:sp>
          <p:nvSpPr>
            <p:cNvPr name="Freeform 51" id="5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52" id="52"/>
          <p:cNvGrpSpPr/>
          <p:nvPr/>
        </p:nvGrpSpPr>
        <p:grpSpPr>
          <a:xfrm rot="0">
            <a:off x="3124981" y="5901233"/>
            <a:ext cx="156210" cy="156210"/>
            <a:chOff x="0" y="0"/>
            <a:chExt cx="208280" cy="208280"/>
          </a:xfrm>
        </p:grpSpPr>
        <p:sp>
          <p:nvSpPr>
            <p:cNvPr name="Freeform 53" id="5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54" id="54"/>
          <p:cNvGrpSpPr/>
          <p:nvPr/>
        </p:nvGrpSpPr>
        <p:grpSpPr>
          <a:xfrm rot="0">
            <a:off x="3294421" y="6056300"/>
            <a:ext cx="156210" cy="156210"/>
            <a:chOff x="0" y="0"/>
            <a:chExt cx="208280" cy="208280"/>
          </a:xfrm>
        </p:grpSpPr>
        <p:sp>
          <p:nvSpPr>
            <p:cNvPr name="Freeform 55" id="5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56" id="56"/>
          <p:cNvGrpSpPr/>
          <p:nvPr/>
        </p:nvGrpSpPr>
        <p:grpSpPr>
          <a:xfrm rot="0">
            <a:off x="3463852" y="5726649"/>
            <a:ext cx="156210" cy="156210"/>
            <a:chOff x="0" y="0"/>
            <a:chExt cx="208280" cy="208280"/>
          </a:xfrm>
        </p:grpSpPr>
        <p:sp>
          <p:nvSpPr>
            <p:cNvPr name="Freeform 57" id="5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58" id="58"/>
          <p:cNvGrpSpPr/>
          <p:nvPr/>
        </p:nvGrpSpPr>
        <p:grpSpPr>
          <a:xfrm rot="0">
            <a:off x="3633283" y="5817946"/>
            <a:ext cx="156210" cy="156210"/>
            <a:chOff x="0" y="0"/>
            <a:chExt cx="208280" cy="208280"/>
          </a:xfrm>
        </p:grpSpPr>
        <p:sp>
          <p:nvSpPr>
            <p:cNvPr name="Freeform 59" id="5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60" id="60"/>
          <p:cNvGrpSpPr/>
          <p:nvPr/>
        </p:nvGrpSpPr>
        <p:grpSpPr>
          <a:xfrm rot="0">
            <a:off x="3802713" y="5450024"/>
            <a:ext cx="156210" cy="156210"/>
            <a:chOff x="0" y="0"/>
            <a:chExt cx="208280" cy="208280"/>
          </a:xfrm>
        </p:grpSpPr>
        <p:sp>
          <p:nvSpPr>
            <p:cNvPr name="Freeform 61" id="6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62" id="62"/>
          <p:cNvGrpSpPr/>
          <p:nvPr/>
        </p:nvGrpSpPr>
        <p:grpSpPr>
          <a:xfrm rot="0">
            <a:off x="3972144" y="5643362"/>
            <a:ext cx="156210" cy="156210"/>
            <a:chOff x="0" y="0"/>
            <a:chExt cx="208280" cy="208280"/>
          </a:xfrm>
        </p:grpSpPr>
        <p:sp>
          <p:nvSpPr>
            <p:cNvPr name="Freeform 63" id="6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64" id="64"/>
          <p:cNvGrpSpPr/>
          <p:nvPr/>
        </p:nvGrpSpPr>
        <p:grpSpPr>
          <a:xfrm rot="0">
            <a:off x="4141584" y="5351983"/>
            <a:ext cx="156210" cy="156210"/>
            <a:chOff x="0" y="0"/>
            <a:chExt cx="208280" cy="208280"/>
          </a:xfrm>
        </p:grpSpPr>
        <p:sp>
          <p:nvSpPr>
            <p:cNvPr name="Freeform 65" id="6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66" id="66"/>
          <p:cNvGrpSpPr/>
          <p:nvPr/>
        </p:nvGrpSpPr>
        <p:grpSpPr>
          <a:xfrm rot="0">
            <a:off x="4311015" y="5404999"/>
            <a:ext cx="156210" cy="156210"/>
            <a:chOff x="0" y="0"/>
            <a:chExt cx="208280" cy="208280"/>
          </a:xfrm>
        </p:grpSpPr>
        <p:sp>
          <p:nvSpPr>
            <p:cNvPr name="Freeform 67" id="6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sp>
        <p:nvSpPr>
          <p:cNvPr name="AutoShape 68" id="68"/>
          <p:cNvSpPr/>
          <p:nvPr/>
        </p:nvSpPr>
        <p:spPr>
          <a:xfrm rot="-1832100">
            <a:off x="1249223" y="6198032"/>
            <a:ext cx="3399434" cy="0"/>
          </a:xfrm>
          <a:prstGeom prst="line">
            <a:avLst/>
          </a:prstGeom>
          <a:ln cap="rnd" w="28575">
            <a:solidFill>
              <a:srgbClr val="22D3EE"/>
            </a:solidFill>
            <a:prstDash val="solid"/>
            <a:headEnd type="none" len="sm" w="sm"/>
            <a:tailEnd type="none" len="sm" w="sm"/>
          </a:ln>
        </p:spPr>
      </p:sp>
      <p:sp>
        <p:nvSpPr>
          <p:cNvPr name="TextBox 69" id="69"/>
          <p:cNvSpPr txBox="true"/>
          <p:nvPr/>
        </p:nvSpPr>
        <p:spPr>
          <a:xfrm rot="0">
            <a:off x="5006340" y="4762500"/>
            <a:ext cx="3771900" cy="2712720"/>
          </a:xfrm>
          <a:prstGeom prst="rect">
            <a:avLst/>
          </a:prstGeom>
        </p:spPr>
        <p:txBody>
          <a:bodyPr anchor="t" rtlCol="false" tIns="0" lIns="0" bIns="0" rIns="0">
            <a:spAutoFit/>
          </a:bodyPr>
          <a:lstStyle/>
          <a:p>
            <a:pPr algn="l" marL="366474" indent="-183237" lvl="1">
              <a:lnSpc>
                <a:spcPts val="2430"/>
              </a:lnSpc>
              <a:buFont typeface="Arial"/>
              <a:buChar char="•"/>
            </a:pPr>
            <a:r>
              <a:rPr lang="en-US" sz="2025">
                <a:solidFill>
                  <a:srgbClr val="E8ECF1"/>
                </a:solidFill>
                <a:latin typeface="Calibri (MS)"/>
                <a:ea typeface="Calibri (MS)"/>
                <a:cs typeface="Calibri (MS)"/>
                <a:sym typeface="Calibri (MS)"/>
              </a:rPr>
              <a:t>Fits a straight-line relationship</a:t>
            </a:r>
          </a:p>
          <a:p>
            <a:pPr algn="l" marL="366474" indent="-183237" lvl="1">
              <a:lnSpc>
                <a:spcPts val="2430"/>
              </a:lnSpc>
              <a:buFont typeface="Arial"/>
              <a:buChar char="•"/>
            </a:pPr>
            <a:r>
              <a:rPr lang="en-US" sz="2025">
                <a:solidFill>
                  <a:srgbClr val="E8ECF1"/>
                </a:solidFill>
                <a:latin typeface="Calibri (MS)"/>
                <a:ea typeface="Calibri (MS)"/>
                <a:cs typeface="Calibri (MS)"/>
                <a:sym typeface="Calibri (MS)"/>
              </a:rPr>
              <a:t>Coefficients show each feature's effect</a:t>
            </a:r>
          </a:p>
          <a:p>
            <a:pPr algn="l" marL="366474" indent="-183237" lvl="1">
              <a:lnSpc>
                <a:spcPts val="2430"/>
              </a:lnSpc>
              <a:buFont typeface="Arial"/>
              <a:buChar char="•"/>
            </a:pPr>
            <a:r>
              <a:rPr lang="en-US" sz="2025">
                <a:solidFill>
                  <a:srgbClr val="E8ECF1"/>
                </a:solidFill>
                <a:latin typeface="Calibri (MS)"/>
                <a:ea typeface="Calibri (MS)"/>
                <a:cs typeface="Calibri (MS)"/>
                <a:sym typeface="Calibri (MS)"/>
              </a:rPr>
              <a:t>Simple, easy-to-explain baseline</a:t>
            </a:r>
          </a:p>
        </p:txBody>
      </p:sp>
      <p:grpSp>
        <p:nvGrpSpPr>
          <p:cNvPr name="Group 70" id="70"/>
          <p:cNvGrpSpPr/>
          <p:nvPr/>
        </p:nvGrpSpPr>
        <p:grpSpPr>
          <a:xfrm rot="0">
            <a:off x="9292304" y="3833336"/>
            <a:ext cx="8175307" cy="4060508"/>
            <a:chOff x="0" y="0"/>
            <a:chExt cx="10900410" cy="5414010"/>
          </a:xfrm>
        </p:grpSpPr>
        <p:sp>
          <p:nvSpPr>
            <p:cNvPr name="Freeform 71" id="71"/>
            <p:cNvSpPr/>
            <p:nvPr/>
          </p:nvSpPr>
          <p:spPr>
            <a:xfrm flipH="false" flipV="false" rot="0">
              <a:off x="0" y="0"/>
              <a:ext cx="10900410" cy="5414010"/>
            </a:xfrm>
            <a:custGeom>
              <a:avLst/>
              <a:gdLst/>
              <a:ahLst/>
              <a:cxnLst/>
              <a:rect r="r" b="b" t="t" l="l"/>
              <a:pathLst>
                <a:path h="5414010" w="10900410">
                  <a:moveTo>
                    <a:pt x="0" y="146812"/>
                  </a:moveTo>
                  <a:cubicBezTo>
                    <a:pt x="0" y="65786"/>
                    <a:pt x="65786" y="0"/>
                    <a:pt x="146812" y="0"/>
                  </a:cubicBezTo>
                  <a:lnTo>
                    <a:pt x="10753598" y="0"/>
                  </a:lnTo>
                  <a:cubicBezTo>
                    <a:pt x="10834751" y="0"/>
                    <a:pt x="10900410" y="65786"/>
                    <a:pt x="10900410" y="146812"/>
                  </a:cubicBezTo>
                  <a:lnTo>
                    <a:pt x="10900410" y="5267198"/>
                  </a:lnTo>
                  <a:cubicBezTo>
                    <a:pt x="10900410" y="5348351"/>
                    <a:pt x="10834624" y="5414010"/>
                    <a:pt x="10753598" y="5414010"/>
                  </a:cubicBezTo>
                  <a:lnTo>
                    <a:pt x="146812" y="5414010"/>
                  </a:lnTo>
                  <a:cubicBezTo>
                    <a:pt x="65786" y="5414010"/>
                    <a:pt x="0" y="5348224"/>
                    <a:pt x="0" y="5267198"/>
                  </a:cubicBezTo>
                  <a:close/>
                </a:path>
              </a:pathLst>
            </a:custGeom>
            <a:solidFill>
              <a:srgbClr val="161B22"/>
            </a:solidFill>
            <a:ln w="14288" cap="sq">
              <a:solidFill>
                <a:srgbClr val="2A323D"/>
              </a:solidFill>
              <a:prstDash val="solid"/>
              <a:miter/>
            </a:ln>
          </p:spPr>
        </p:sp>
      </p:grpSp>
      <p:grpSp>
        <p:nvGrpSpPr>
          <p:cNvPr name="Group 72" id="72"/>
          <p:cNvGrpSpPr/>
          <p:nvPr/>
        </p:nvGrpSpPr>
        <p:grpSpPr>
          <a:xfrm rot="0">
            <a:off x="9710928" y="4046220"/>
            <a:ext cx="7269480" cy="548640"/>
            <a:chOff x="0" y="0"/>
            <a:chExt cx="9692640" cy="731520"/>
          </a:xfrm>
        </p:grpSpPr>
        <p:sp>
          <p:nvSpPr>
            <p:cNvPr name="Freeform 73" id="73"/>
            <p:cNvSpPr/>
            <p:nvPr/>
          </p:nvSpPr>
          <p:spPr>
            <a:xfrm flipH="false" flipV="false" rot="0">
              <a:off x="0" y="0"/>
              <a:ext cx="9692640" cy="731520"/>
            </a:xfrm>
            <a:custGeom>
              <a:avLst/>
              <a:gdLst/>
              <a:ahLst/>
              <a:cxnLst/>
              <a:rect r="r" b="b" t="t" l="l"/>
              <a:pathLst>
                <a:path h="731520" w="9692640">
                  <a:moveTo>
                    <a:pt x="0" y="0"/>
                  </a:moveTo>
                  <a:lnTo>
                    <a:pt x="9692640" y="0"/>
                  </a:lnTo>
                  <a:lnTo>
                    <a:pt x="9692640" y="731520"/>
                  </a:lnTo>
                  <a:lnTo>
                    <a:pt x="0" y="731520"/>
                  </a:lnTo>
                  <a:close/>
                </a:path>
              </a:pathLst>
            </a:custGeom>
            <a:blipFill>
              <a:blip r:embed="rId3">
                <a:alphaModFix amt="0"/>
              </a:blip>
              <a:stretch>
                <a:fillRect l="0" t="-208176" r="0" b="-208176"/>
              </a:stretch>
            </a:blipFill>
          </p:spPr>
        </p:sp>
        <p:sp>
          <p:nvSpPr>
            <p:cNvPr name="TextBox 74" id="74"/>
            <p:cNvSpPr txBox="true"/>
            <p:nvPr/>
          </p:nvSpPr>
          <p:spPr>
            <a:xfrm>
              <a:off x="0" y="-57150"/>
              <a:ext cx="9692640" cy="788670"/>
            </a:xfrm>
            <a:prstGeom prst="rect">
              <a:avLst/>
            </a:prstGeom>
          </p:spPr>
          <p:txBody>
            <a:bodyPr anchor="ctr" rtlCol="false" tIns="0" lIns="0" bIns="0" rIns="0"/>
            <a:lstStyle/>
            <a:p>
              <a:pPr algn="l">
                <a:lnSpc>
                  <a:spcPts val="3240"/>
                </a:lnSpc>
              </a:pPr>
              <a:r>
                <a:rPr lang="en-US" sz="2700" b="true">
                  <a:solidFill>
                    <a:srgbClr val="4ADE80"/>
                  </a:solidFill>
                  <a:latin typeface="Calibri (MS) Bold"/>
                  <a:ea typeface="Calibri (MS) Bold"/>
                  <a:cs typeface="Calibri (MS) Bold"/>
                  <a:sym typeface="Calibri (MS) Bold"/>
                </a:rPr>
                <a:t>Random Forest Regression</a:t>
              </a:r>
            </a:p>
          </p:txBody>
        </p:sp>
      </p:grpSp>
      <p:grpSp>
        <p:nvGrpSpPr>
          <p:cNvPr name="Group 75" id="75"/>
          <p:cNvGrpSpPr/>
          <p:nvPr/>
        </p:nvGrpSpPr>
        <p:grpSpPr>
          <a:xfrm rot="0">
            <a:off x="9703784" y="4793456"/>
            <a:ext cx="3443288" cy="2688908"/>
            <a:chOff x="0" y="0"/>
            <a:chExt cx="4591050" cy="3585210"/>
          </a:xfrm>
        </p:grpSpPr>
        <p:sp>
          <p:nvSpPr>
            <p:cNvPr name="Freeform 76" id="76"/>
            <p:cNvSpPr/>
            <p:nvPr/>
          </p:nvSpPr>
          <p:spPr>
            <a:xfrm flipH="false" flipV="false" rot="0">
              <a:off x="0" y="0"/>
              <a:ext cx="4591050" cy="3585210"/>
            </a:xfrm>
            <a:custGeom>
              <a:avLst/>
              <a:gdLst/>
              <a:ahLst/>
              <a:cxnLst/>
              <a:rect r="r" b="b" t="t" l="l"/>
              <a:pathLst>
                <a:path h="3585210" w="4591050">
                  <a:moveTo>
                    <a:pt x="0" y="0"/>
                  </a:moveTo>
                  <a:lnTo>
                    <a:pt x="4591050" y="0"/>
                  </a:lnTo>
                  <a:lnTo>
                    <a:pt x="4591050" y="3585210"/>
                  </a:lnTo>
                  <a:lnTo>
                    <a:pt x="0" y="3585210"/>
                  </a:lnTo>
                  <a:close/>
                </a:path>
              </a:pathLst>
            </a:custGeom>
            <a:solidFill>
              <a:srgbClr val="0A0D12"/>
            </a:solidFill>
            <a:ln w="14288" cap="sq">
              <a:solidFill>
                <a:srgbClr val="2A323D"/>
              </a:solidFill>
              <a:prstDash val="solid"/>
              <a:miter/>
            </a:ln>
          </p:spPr>
        </p:sp>
      </p:grpSp>
      <p:grpSp>
        <p:nvGrpSpPr>
          <p:cNvPr name="Group 77" id="77"/>
          <p:cNvGrpSpPr/>
          <p:nvPr/>
        </p:nvGrpSpPr>
        <p:grpSpPr>
          <a:xfrm rot="0">
            <a:off x="9907143" y="6914445"/>
            <a:ext cx="156210" cy="156210"/>
            <a:chOff x="0" y="0"/>
            <a:chExt cx="208280" cy="208280"/>
          </a:xfrm>
        </p:grpSpPr>
        <p:sp>
          <p:nvSpPr>
            <p:cNvPr name="Freeform 78" id="7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79" id="79"/>
          <p:cNvGrpSpPr/>
          <p:nvPr/>
        </p:nvGrpSpPr>
        <p:grpSpPr>
          <a:xfrm rot="0">
            <a:off x="10076574" y="7069522"/>
            <a:ext cx="156210" cy="156210"/>
            <a:chOff x="0" y="0"/>
            <a:chExt cx="208280" cy="208280"/>
          </a:xfrm>
        </p:grpSpPr>
        <p:sp>
          <p:nvSpPr>
            <p:cNvPr name="Freeform 80" id="8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81" id="81"/>
          <p:cNvGrpSpPr/>
          <p:nvPr/>
        </p:nvGrpSpPr>
        <p:grpSpPr>
          <a:xfrm rot="0">
            <a:off x="10246014" y="6688846"/>
            <a:ext cx="156210" cy="156210"/>
            <a:chOff x="0" y="0"/>
            <a:chExt cx="208280" cy="208280"/>
          </a:xfrm>
        </p:grpSpPr>
        <p:sp>
          <p:nvSpPr>
            <p:cNvPr name="Freeform 82" id="8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83" id="83"/>
          <p:cNvGrpSpPr/>
          <p:nvPr/>
        </p:nvGrpSpPr>
        <p:grpSpPr>
          <a:xfrm rot="0">
            <a:off x="10415445" y="6780133"/>
            <a:ext cx="156210" cy="156210"/>
            <a:chOff x="0" y="0"/>
            <a:chExt cx="208280" cy="208280"/>
          </a:xfrm>
        </p:grpSpPr>
        <p:sp>
          <p:nvSpPr>
            <p:cNvPr name="Freeform 84" id="8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85" id="85"/>
          <p:cNvGrpSpPr/>
          <p:nvPr/>
        </p:nvGrpSpPr>
        <p:grpSpPr>
          <a:xfrm rot="0">
            <a:off x="10584875" y="6437728"/>
            <a:ext cx="156210" cy="156210"/>
            <a:chOff x="0" y="0"/>
            <a:chExt cx="208280" cy="208280"/>
          </a:xfrm>
        </p:grpSpPr>
        <p:sp>
          <p:nvSpPr>
            <p:cNvPr name="Freeform 86" id="8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87" id="87"/>
          <p:cNvGrpSpPr/>
          <p:nvPr/>
        </p:nvGrpSpPr>
        <p:grpSpPr>
          <a:xfrm rot="0">
            <a:off x="10754306" y="6643821"/>
            <a:ext cx="156210" cy="156210"/>
            <a:chOff x="0" y="0"/>
            <a:chExt cx="208280" cy="208280"/>
          </a:xfrm>
        </p:grpSpPr>
        <p:sp>
          <p:nvSpPr>
            <p:cNvPr name="Freeform 88" id="8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89" id="89"/>
          <p:cNvGrpSpPr/>
          <p:nvPr/>
        </p:nvGrpSpPr>
        <p:grpSpPr>
          <a:xfrm rot="0">
            <a:off x="10923737" y="6339688"/>
            <a:ext cx="156210" cy="156210"/>
            <a:chOff x="0" y="0"/>
            <a:chExt cx="208280" cy="208280"/>
          </a:xfrm>
        </p:grpSpPr>
        <p:sp>
          <p:nvSpPr>
            <p:cNvPr name="Freeform 90" id="9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91" id="91"/>
          <p:cNvGrpSpPr/>
          <p:nvPr/>
        </p:nvGrpSpPr>
        <p:grpSpPr>
          <a:xfrm rot="0">
            <a:off x="11093177" y="6494755"/>
            <a:ext cx="156210" cy="156210"/>
            <a:chOff x="0" y="0"/>
            <a:chExt cx="208280" cy="208280"/>
          </a:xfrm>
        </p:grpSpPr>
        <p:sp>
          <p:nvSpPr>
            <p:cNvPr name="Freeform 92" id="9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93" id="93"/>
          <p:cNvGrpSpPr/>
          <p:nvPr/>
        </p:nvGrpSpPr>
        <p:grpSpPr>
          <a:xfrm rot="0">
            <a:off x="11262608" y="6063053"/>
            <a:ext cx="156210" cy="156210"/>
            <a:chOff x="0" y="0"/>
            <a:chExt cx="208280" cy="208280"/>
          </a:xfrm>
        </p:grpSpPr>
        <p:sp>
          <p:nvSpPr>
            <p:cNvPr name="Freeform 94" id="9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95" id="95"/>
          <p:cNvGrpSpPr/>
          <p:nvPr/>
        </p:nvGrpSpPr>
        <p:grpSpPr>
          <a:xfrm rot="0">
            <a:off x="11432038" y="6192612"/>
            <a:ext cx="156210" cy="156210"/>
            <a:chOff x="0" y="0"/>
            <a:chExt cx="208280" cy="208280"/>
          </a:xfrm>
        </p:grpSpPr>
        <p:sp>
          <p:nvSpPr>
            <p:cNvPr name="Freeform 96" id="9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97" id="97"/>
          <p:cNvGrpSpPr/>
          <p:nvPr/>
        </p:nvGrpSpPr>
        <p:grpSpPr>
          <a:xfrm rot="0">
            <a:off x="11601469" y="5901233"/>
            <a:ext cx="156210" cy="156210"/>
            <a:chOff x="0" y="0"/>
            <a:chExt cx="208280" cy="208280"/>
          </a:xfrm>
        </p:grpSpPr>
        <p:sp>
          <p:nvSpPr>
            <p:cNvPr name="Freeform 98" id="9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99" id="99"/>
          <p:cNvGrpSpPr/>
          <p:nvPr/>
        </p:nvGrpSpPr>
        <p:grpSpPr>
          <a:xfrm rot="0">
            <a:off x="11770909" y="6056300"/>
            <a:ext cx="156210" cy="156210"/>
            <a:chOff x="0" y="0"/>
            <a:chExt cx="208280" cy="208280"/>
          </a:xfrm>
        </p:grpSpPr>
        <p:sp>
          <p:nvSpPr>
            <p:cNvPr name="Freeform 100" id="10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01" id="101"/>
          <p:cNvGrpSpPr/>
          <p:nvPr/>
        </p:nvGrpSpPr>
        <p:grpSpPr>
          <a:xfrm rot="0">
            <a:off x="11940340" y="5726649"/>
            <a:ext cx="156210" cy="156210"/>
            <a:chOff x="0" y="0"/>
            <a:chExt cx="208280" cy="208280"/>
          </a:xfrm>
        </p:grpSpPr>
        <p:sp>
          <p:nvSpPr>
            <p:cNvPr name="Freeform 102" id="10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03" id="103"/>
          <p:cNvGrpSpPr/>
          <p:nvPr/>
        </p:nvGrpSpPr>
        <p:grpSpPr>
          <a:xfrm rot="0">
            <a:off x="12109771" y="5817946"/>
            <a:ext cx="156210" cy="156210"/>
            <a:chOff x="0" y="0"/>
            <a:chExt cx="208280" cy="208280"/>
          </a:xfrm>
        </p:grpSpPr>
        <p:sp>
          <p:nvSpPr>
            <p:cNvPr name="Freeform 104" id="10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05" id="105"/>
          <p:cNvGrpSpPr/>
          <p:nvPr/>
        </p:nvGrpSpPr>
        <p:grpSpPr>
          <a:xfrm rot="0">
            <a:off x="12279201" y="5450024"/>
            <a:ext cx="156210" cy="156210"/>
            <a:chOff x="0" y="0"/>
            <a:chExt cx="208280" cy="208280"/>
          </a:xfrm>
        </p:grpSpPr>
        <p:sp>
          <p:nvSpPr>
            <p:cNvPr name="Freeform 106" id="10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07" id="107"/>
          <p:cNvGrpSpPr/>
          <p:nvPr/>
        </p:nvGrpSpPr>
        <p:grpSpPr>
          <a:xfrm rot="0">
            <a:off x="12448632" y="5643362"/>
            <a:ext cx="156210" cy="156210"/>
            <a:chOff x="0" y="0"/>
            <a:chExt cx="208280" cy="208280"/>
          </a:xfrm>
        </p:grpSpPr>
        <p:sp>
          <p:nvSpPr>
            <p:cNvPr name="Freeform 108" id="10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09" id="109"/>
          <p:cNvGrpSpPr/>
          <p:nvPr/>
        </p:nvGrpSpPr>
        <p:grpSpPr>
          <a:xfrm rot="0">
            <a:off x="12618072" y="5351983"/>
            <a:ext cx="156210" cy="156210"/>
            <a:chOff x="0" y="0"/>
            <a:chExt cx="208280" cy="208280"/>
          </a:xfrm>
        </p:grpSpPr>
        <p:sp>
          <p:nvSpPr>
            <p:cNvPr name="Freeform 110" id="11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grpSp>
        <p:nvGrpSpPr>
          <p:cNvPr name="Group 111" id="111"/>
          <p:cNvGrpSpPr/>
          <p:nvPr/>
        </p:nvGrpSpPr>
        <p:grpSpPr>
          <a:xfrm rot="0">
            <a:off x="12787503" y="5404999"/>
            <a:ext cx="156210" cy="156210"/>
            <a:chOff x="0" y="0"/>
            <a:chExt cx="208280" cy="208280"/>
          </a:xfrm>
        </p:grpSpPr>
        <p:sp>
          <p:nvSpPr>
            <p:cNvPr name="Freeform 112" id="11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9AA4B2"/>
            </a:solidFill>
            <a:ln w="19050" cap="sq">
              <a:solidFill>
                <a:srgbClr val="9AA4B2"/>
              </a:solidFill>
              <a:prstDash val="solid"/>
              <a:miter/>
            </a:ln>
          </p:spPr>
        </p:sp>
      </p:grpSp>
      <p:sp>
        <p:nvSpPr>
          <p:cNvPr name="AutoShape 113" id="113"/>
          <p:cNvSpPr/>
          <p:nvPr/>
        </p:nvSpPr>
        <p:spPr>
          <a:xfrm rot="213000">
            <a:off x="9960702" y="6888975"/>
            <a:ext cx="769191" cy="0"/>
          </a:xfrm>
          <a:prstGeom prst="line">
            <a:avLst/>
          </a:prstGeom>
          <a:ln cap="rnd" w="28575">
            <a:solidFill>
              <a:srgbClr val="4ADE80"/>
            </a:solidFill>
            <a:prstDash val="solid"/>
            <a:headEnd type="none" len="sm" w="sm"/>
            <a:tailEnd type="none" len="sm" w="sm"/>
          </a:ln>
        </p:spPr>
      </p:sp>
      <p:sp>
        <p:nvSpPr>
          <p:cNvPr name="AutoShape 114" id="114"/>
          <p:cNvSpPr/>
          <p:nvPr/>
        </p:nvSpPr>
        <p:spPr>
          <a:xfrm rot="-5107200">
            <a:off x="10425389" y="6633858"/>
            <a:ext cx="559889" cy="0"/>
          </a:xfrm>
          <a:prstGeom prst="line">
            <a:avLst/>
          </a:prstGeom>
          <a:ln cap="rnd" w="28575">
            <a:solidFill>
              <a:srgbClr val="4ADE80"/>
            </a:solidFill>
            <a:prstDash val="solid"/>
            <a:headEnd type="none" len="sm" w="sm"/>
            <a:tailEnd type="none" len="sm" w="sm"/>
          </a:ln>
        </p:spPr>
      </p:sp>
      <p:sp>
        <p:nvSpPr>
          <p:cNvPr name="AutoShape 115" id="115"/>
          <p:cNvSpPr/>
          <p:nvPr/>
        </p:nvSpPr>
        <p:spPr>
          <a:xfrm rot="213000">
            <a:off x="10680792" y="6378740"/>
            <a:ext cx="769191" cy="0"/>
          </a:xfrm>
          <a:prstGeom prst="line">
            <a:avLst/>
          </a:prstGeom>
          <a:ln cap="rnd" w="28575">
            <a:solidFill>
              <a:srgbClr val="4ADE80"/>
            </a:solidFill>
            <a:prstDash val="solid"/>
            <a:headEnd type="none" len="sm" w="sm"/>
            <a:tailEnd type="none" len="sm" w="sm"/>
          </a:ln>
        </p:spPr>
      </p:sp>
      <p:sp>
        <p:nvSpPr>
          <p:cNvPr name="AutoShape 116" id="116"/>
          <p:cNvSpPr/>
          <p:nvPr/>
        </p:nvSpPr>
        <p:spPr>
          <a:xfrm rot="-5107200">
            <a:off x="11145479" y="6123622"/>
            <a:ext cx="559889" cy="0"/>
          </a:xfrm>
          <a:prstGeom prst="line">
            <a:avLst/>
          </a:prstGeom>
          <a:ln cap="rnd" w="28575">
            <a:solidFill>
              <a:srgbClr val="4ADE80"/>
            </a:solidFill>
            <a:prstDash val="solid"/>
            <a:headEnd type="none" len="sm" w="sm"/>
            <a:tailEnd type="none" len="sm" w="sm"/>
          </a:ln>
        </p:spPr>
      </p:sp>
      <p:sp>
        <p:nvSpPr>
          <p:cNvPr name="AutoShape 117" id="117"/>
          <p:cNvSpPr/>
          <p:nvPr/>
        </p:nvSpPr>
        <p:spPr>
          <a:xfrm rot="213000">
            <a:off x="11400882" y="5868505"/>
            <a:ext cx="769191" cy="0"/>
          </a:xfrm>
          <a:prstGeom prst="line">
            <a:avLst/>
          </a:prstGeom>
          <a:ln cap="rnd" w="28575">
            <a:solidFill>
              <a:srgbClr val="4ADE80"/>
            </a:solidFill>
            <a:prstDash val="solid"/>
            <a:headEnd type="none" len="sm" w="sm"/>
            <a:tailEnd type="none" len="sm" w="sm"/>
          </a:ln>
        </p:spPr>
      </p:sp>
      <p:sp>
        <p:nvSpPr>
          <p:cNvPr name="AutoShape 118" id="118"/>
          <p:cNvSpPr/>
          <p:nvPr/>
        </p:nvSpPr>
        <p:spPr>
          <a:xfrm rot="-5083200">
            <a:off x="11886752" y="5634647"/>
            <a:ext cx="517531" cy="0"/>
          </a:xfrm>
          <a:prstGeom prst="line">
            <a:avLst/>
          </a:prstGeom>
          <a:ln cap="rnd" w="28575">
            <a:solidFill>
              <a:srgbClr val="4ADE80"/>
            </a:solidFill>
            <a:prstDash val="solid"/>
            <a:headEnd type="none" len="sm" w="sm"/>
            <a:tailEnd type="none" len="sm" w="sm"/>
          </a:ln>
        </p:spPr>
      </p:sp>
      <p:sp>
        <p:nvSpPr>
          <p:cNvPr name="AutoShape 119" id="119"/>
          <p:cNvSpPr/>
          <p:nvPr/>
        </p:nvSpPr>
        <p:spPr>
          <a:xfrm rot="213000">
            <a:off x="12120972" y="5400789"/>
            <a:ext cx="769191" cy="0"/>
          </a:xfrm>
          <a:prstGeom prst="line">
            <a:avLst/>
          </a:prstGeom>
          <a:ln cap="rnd" w="28575">
            <a:solidFill>
              <a:srgbClr val="4ADE80"/>
            </a:solidFill>
            <a:prstDash val="solid"/>
            <a:headEnd type="none" len="sm" w="sm"/>
            <a:tailEnd type="none" len="sm" w="sm"/>
          </a:ln>
        </p:spPr>
      </p:sp>
      <p:sp>
        <p:nvSpPr>
          <p:cNvPr name="TextBox 120" id="120"/>
          <p:cNvSpPr txBox="true"/>
          <p:nvPr/>
        </p:nvSpPr>
        <p:spPr>
          <a:xfrm rot="0">
            <a:off x="13482828" y="4762500"/>
            <a:ext cx="3771900" cy="2712720"/>
          </a:xfrm>
          <a:prstGeom prst="rect">
            <a:avLst/>
          </a:prstGeom>
        </p:spPr>
        <p:txBody>
          <a:bodyPr anchor="t" rtlCol="false" tIns="0" lIns="0" bIns="0" rIns="0">
            <a:spAutoFit/>
          </a:bodyPr>
          <a:lstStyle/>
          <a:p>
            <a:pPr algn="l" marL="366474" indent="-183237" lvl="1">
              <a:lnSpc>
                <a:spcPts val="2430"/>
              </a:lnSpc>
              <a:buFont typeface="Arial"/>
              <a:buChar char="•"/>
            </a:pPr>
            <a:r>
              <a:rPr lang="en-US" sz="2025">
                <a:solidFill>
                  <a:srgbClr val="E8ECF1"/>
                </a:solidFill>
                <a:latin typeface="Calibri (MS)"/>
                <a:ea typeface="Calibri (MS)"/>
                <a:cs typeface="Calibri (MS)"/>
                <a:sym typeface="Calibri (MS)"/>
              </a:rPr>
              <a:t>Many decision trees, predictions averaged</a:t>
            </a:r>
          </a:p>
          <a:p>
            <a:pPr algn="l" marL="366474" indent="-183237" lvl="1">
              <a:lnSpc>
                <a:spcPts val="2430"/>
              </a:lnSpc>
              <a:buFont typeface="Arial"/>
              <a:buChar char="•"/>
            </a:pPr>
            <a:r>
              <a:rPr lang="en-US" sz="2025">
                <a:solidFill>
                  <a:srgbClr val="E8ECF1"/>
                </a:solidFill>
                <a:latin typeface="Calibri (MS)"/>
                <a:ea typeface="Calibri (MS)"/>
                <a:cs typeface="Calibri (MS)"/>
                <a:sym typeface="Calibri (MS)"/>
              </a:rPr>
              <a:t>Can capture non-linear patterns</a:t>
            </a:r>
          </a:p>
          <a:p>
            <a:pPr algn="l" marL="366474" indent="-183237" lvl="1">
              <a:lnSpc>
                <a:spcPts val="2430"/>
              </a:lnSpc>
              <a:buFont typeface="Arial"/>
              <a:buChar char="•"/>
            </a:pPr>
            <a:r>
              <a:rPr lang="en-US" sz="2025">
                <a:solidFill>
                  <a:srgbClr val="E8ECF1"/>
                </a:solidFill>
                <a:latin typeface="Calibri (MS)"/>
                <a:ea typeface="Calibri (MS)"/>
                <a:cs typeface="Calibri (MS)"/>
                <a:sym typeface="Calibri (MS)"/>
              </a:rPr>
              <a:t>Gives feature importance</a:t>
            </a:r>
          </a:p>
        </p:txBody>
      </p:sp>
      <p:grpSp>
        <p:nvGrpSpPr>
          <p:cNvPr name="Group 121" id="121"/>
          <p:cNvGrpSpPr/>
          <p:nvPr/>
        </p:nvGrpSpPr>
        <p:grpSpPr>
          <a:xfrm rot="0">
            <a:off x="815816" y="8153876"/>
            <a:ext cx="5281232" cy="1180148"/>
            <a:chOff x="0" y="0"/>
            <a:chExt cx="7041642" cy="1573530"/>
          </a:xfrm>
        </p:grpSpPr>
        <p:sp>
          <p:nvSpPr>
            <p:cNvPr name="Freeform 122" id="122"/>
            <p:cNvSpPr/>
            <p:nvPr/>
          </p:nvSpPr>
          <p:spPr>
            <a:xfrm flipH="false" flipV="false" rot="0">
              <a:off x="0" y="0"/>
              <a:ext cx="7041642" cy="1573530"/>
            </a:xfrm>
            <a:custGeom>
              <a:avLst/>
              <a:gdLst/>
              <a:ahLst/>
              <a:cxnLst/>
              <a:rect r="r" b="b" t="t" l="l"/>
              <a:pathLst>
                <a:path h="1573530" w="7041642">
                  <a:moveTo>
                    <a:pt x="0" y="148082"/>
                  </a:moveTo>
                  <a:cubicBezTo>
                    <a:pt x="0" y="66294"/>
                    <a:pt x="66294" y="0"/>
                    <a:pt x="148082" y="0"/>
                  </a:cubicBezTo>
                  <a:lnTo>
                    <a:pt x="6893560" y="0"/>
                  </a:lnTo>
                  <a:cubicBezTo>
                    <a:pt x="6975348" y="0"/>
                    <a:pt x="7041642" y="66294"/>
                    <a:pt x="7041642" y="148082"/>
                  </a:cubicBezTo>
                  <a:lnTo>
                    <a:pt x="7041642" y="1425448"/>
                  </a:lnTo>
                  <a:cubicBezTo>
                    <a:pt x="7041642" y="1507236"/>
                    <a:pt x="6975348" y="1573530"/>
                    <a:pt x="6893560" y="1573530"/>
                  </a:cubicBezTo>
                  <a:lnTo>
                    <a:pt x="148082" y="1573530"/>
                  </a:lnTo>
                  <a:cubicBezTo>
                    <a:pt x="66294" y="1573530"/>
                    <a:pt x="0" y="1507236"/>
                    <a:pt x="0" y="1425448"/>
                  </a:cubicBezTo>
                  <a:close/>
                </a:path>
              </a:pathLst>
            </a:custGeom>
            <a:solidFill>
              <a:srgbClr val="1D242E"/>
            </a:solidFill>
            <a:ln w="14288" cap="sq">
              <a:solidFill>
                <a:srgbClr val="2A323D"/>
              </a:solidFill>
              <a:prstDash val="solid"/>
              <a:miter/>
            </a:ln>
          </p:spPr>
        </p:sp>
        <p:sp>
          <p:nvSpPr>
            <p:cNvPr name="TextBox 123" id="123"/>
            <p:cNvSpPr txBox="true"/>
            <p:nvPr/>
          </p:nvSpPr>
          <p:spPr>
            <a:xfrm>
              <a:off x="0" y="-47625"/>
              <a:ext cx="7041642" cy="1621155"/>
            </a:xfrm>
            <a:prstGeom prst="rect">
              <a:avLst/>
            </a:prstGeom>
          </p:spPr>
          <p:txBody>
            <a:bodyPr anchor="ctr" rtlCol="false" tIns="50800" lIns="50800" bIns="50800" rIns="50800"/>
            <a:lstStyle/>
            <a:p>
              <a:pPr algn="l">
                <a:lnSpc>
                  <a:spcPts val="2340"/>
                </a:lnSpc>
              </a:pPr>
              <a:r>
                <a:rPr lang="en-US" sz="1950" b="true">
                  <a:solidFill>
                    <a:srgbClr val="22D3EE"/>
                  </a:solidFill>
                  <a:latin typeface="Calibri (MS) Bold"/>
                  <a:ea typeface="Calibri (MS) Bold"/>
                  <a:cs typeface="Calibri (MS) Bold"/>
                  <a:sym typeface="Calibri (MS) Bold"/>
                </a:rPr>
                <a:t>MAE   </a:t>
              </a:r>
              <a:r>
                <a:rPr lang="en-US" sz="1950">
                  <a:solidFill>
                    <a:srgbClr val="E8ECF1"/>
                  </a:solidFill>
                  <a:latin typeface="Calibri (MS)"/>
                  <a:ea typeface="Calibri (MS)"/>
                  <a:cs typeface="Calibri (MS)"/>
                  <a:sym typeface="Calibri (MS)"/>
                </a:rPr>
                <a:t>average size of the error</a:t>
              </a:r>
            </a:p>
          </p:txBody>
        </p:sp>
      </p:grpSp>
      <p:grpSp>
        <p:nvGrpSpPr>
          <p:cNvPr name="Group 124" id="124"/>
          <p:cNvGrpSpPr/>
          <p:nvPr/>
        </p:nvGrpSpPr>
        <p:grpSpPr>
          <a:xfrm rot="0">
            <a:off x="6501098" y="8153876"/>
            <a:ext cx="5281232" cy="1180148"/>
            <a:chOff x="0" y="0"/>
            <a:chExt cx="7041642" cy="1573530"/>
          </a:xfrm>
        </p:grpSpPr>
        <p:sp>
          <p:nvSpPr>
            <p:cNvPr name="Freeform 125" id="125"/>
            <p:cNvSpPr/>
            <p:nvPr/>
          </p:nvSpPr>
          <p:spPr>
            <a:xfrm flipH="false" flipV="false" rot="0">
              <a:off x="0" y="0"/>
              <a:ext cx="7041642" cy="1573530"/>
            </a:xfrm>
            <a:custGeom>
              <a:avLst/>
              <a:gdLst/>
              <a:ahLst/>
              <a:cxnLst/>
              <a:rect r="r" b="b" t="t" l="l"/>
              <a:pathLst>
                <a:path h="1573530" w="7041642">
                  <a:moveTo>
                    <a:pt x="0" y="148082"/>
                  </a:moveTo>
                  <a:cubicBezTo>
                    <a:pt x="0" y="66294"/>
                    <a:pt x="66294" y="0"/>
                    <a:pt x="148082" y="0"/>
                  </a:cubicBezTo>
                  <a:lnTo>
                    <a:pt x="6893560" y="0"/>
                  </a:lnTo>
                  <a:cubicBezTo>
                    <a:pt x="6975348" y="0"/>
                    <a:pt x="7041642" y="66294"/>
                    <a:pt x="7041642" y="148082"/>
                  </a:cubicBezTo>
                  <a:lnTo>
                    <a:pt x="7041642" y="1425448"/>
                  </a:lnTo>
                  <a:cubicBezTo>
                    <a:pt x="7041642" y="1507236"/>
                    <a:pt x="6975348" y="1573530"/>
                    <a:pt x="6893560" y="1573530"/>
                  </a:cubicBezTo>
                  <a:lnTo>
                    <a:pt x="148082" y="1573530"/>
                  </a:lnTo>
                  <a:cubicBezTo>
                    <a:pt x="66294" y="1573530"/>
                    <a:pt x="0" y="1507236"/>
                    <a:pt x="0" y="1425448"/>
                  </a:cubicBezTo>
                  <a:close/>
                </a:path>
              </a:pathLst>
            </a:custGeom>
            <a:solidFill>
              <a:srgbClr val="1D242E"/>
            </a:solidFill>
            <a:ln w="14288" cap="sq">
              <a:solidFill>
                <a:srgbClr val="2A323D"/>
              </a:solidFill>
              <a:prstDash val="solid"/>
              <a:miter/>
            </a:ln>
          </p:spPr>
        </p:sp>
        <p:sp>
          <p:nvSpPr>
            <p:cNvPr name="TextBox 126" id="126"/>
            <p:cNvSpPr txBox="true"/>
            <p:nvPr/>
          </p:nvSpPr>
          <p:spPr>
            <a:xfrm>
              <a:off x="0" y="-47625"/>
              <a:ext cx="7041642" cy="1621155"/>
            </a:xfrm>
            <a:prstGeom prst="rect">
              <a:avLst/>
            </a:prstGeom>
          </p:spPr>
          <p:txBody>
            <a:bodyPr anchor="ctr" rtlCol="false" tIns="50800" lIns="50800" bIns="50800" rIns="50800"/>
            <a:lstStyle/>
            <a:p>
              <a:pPr algn="l">
                <a:lnSpc>
                  <a:spcPts val="2340"/>
                </a:lnSpc>
              </a:pPr>
              <a:r>
                <a:rPr lang="en-US" sz="1950" b="true">
                  <a:solidFill>
                    <a:srgbClr val="22D3EE"/>
                  </a:solidFill>
                  <a:latin typeface="Calibri (MS) Bold"/>
                  <a:ea typeface="Calibri (MS) Bold"/>
                  <a:cs typeface="Calibri (MS) Bold"/>
                  <a:sym typeface="Calibri (MS) Bold"/>
                </a:rPr>
                <a:t>RMSE   </a:t>
              </a:r>
              <a:r>
                <a:rPr lang="en-US" sz="1950">
                  <a:solidFill>
                    <a:srgbClr val="E8ECF1"/>
                  </a:solidFill>
                  <a:latin typeface="Calibri (MS)"/>
                  <a:ea typeface="Calibri (MS)"/>
                  <a:cs typeface="Calibri (MS)"/>
                  <a:sym typeface="Calibri (MS)"/>
                </a:rPr>
                <a:t>like MAE, but large errors count more</a:t>
              </a:r>
            </a:p>
          </p:txBody>
        </p:sp>
      </p:grpSp>
      <p:grpSp>
        <p:nvGrpSpPr>
          <p:cNvPr name="Group 127" id="127"/>
          <p:cNvGrpSpPr/>
          <p:nvPr/>
        </p:nvGrpSpPr>
        <p:grpSpPr>
          <a:xfrm rot="0">
            <a:off x="12186380" y="8153876"/>
            <a:ext cx="5281232" cy="1180148"/>
            <a:chOff x="0" y="0"/>
            <a:chExt cx="7041642" cy="1573530"/>
          </a:xfrm>
        </p:grpSpPr>
        <p:sp>
          <p:nvSpPr>
            <p:cNvPr name="Freeform 128" id="128"/>
            <p:cNvSpPr/>
            <p:nvPr/>
          </p:nvSpPr>
          <p:spPr>
            <a:xfrm flipH="false" flipV="false" rot="0">
              <a:off x="0" y="0"/>
              <a:ext cx="7041642" cy="1573530"/>
            </a:xfrm>
            <a:custGeom>
              <a:avLst/>
              <a:gdLst/>
              <a:ahLst/>
              <a:cxnLst/>
              <a:rect r="r" b="b" t="t" l="l"/>
              <a:pathLst>
                <a:path h="1573530" w="7041642">
                  <a:moveTo>
                    <a:pt x="0" y="148082"/>
                  </a:moveTo>
                  <a:cubicBezTo>
                    <a:pt x="0" y="66294"/>
                    <a:pt x="66294" y="0"/>
                    <a:pt x="148082" y="0"/>
                  </a:cubicBezTo>
                  <a:lnTo>
                    <a:pt x="6893560" y="0"/>
                  </a:lnTo>
                  <a:cubicBezTo>
                    <a:pt x="6975348" y="0"/>
                    <a:pt x="7041642" y="66294"/>
                    <a:pt x="7041642" y="148082"/>
                  </a:cubicBezTo>
                  <a:lnTo>
                    <a:pt x="7041642" y="1425448"/>
                  </a:lnTo>
                  <a:cubicBezTo>
                    <a:pt x="7041642" y="1507236"/>
                    <a:pt x="6975348" y="1573530"/>
                    <a:pt x="6893560" y="1573530"/>
                  </a:cubicBezTo>
                  <a:lnTo>
                    <a:pt x="148082" y="1573530"/>
                  </a:lnTo>
                  <a:cubicBezTo>
                    <a:pt x="66294" y="1573530"/>
                    <a:pt x="0" y="1507236"/>
                    <a:pt x="0" y="1425448"/>
                  </a:cubicBezTo>
                  <a:close/>
                </a:path>
              </a:pathLst>
            </a:custGeom>
            <a:solidFill>
              <a:srgbClr val="1D242E"/>
            </a:solidFill>
            <a:ln w="14288" cap="sq">
              <a:solidFill>
                <a:srgbClr val="2A323D"/>
              </a:solidFill>
              <a:prstDash val="solid"/>
              <a:miter/>
            </a:ln>
          </p:spPr>
        </p:sp>
        <p:sp>
          <p:nvSpPr>
            <p:cNvPr name="TextBox 129" id="129"/>
            <p:cNvSpPr txBox="true"/>
            <p:nvPr/>
          </p:nvSpPr>
          <p:spPr>
            <a:xfrm>
              <a:off x="0" y="-47625"/>
              <a:ext cx="7041642" cy="1621155"/>
            </a:xfrm>
            <a:prstGeom prst="rect">
              <a:avLst/>
            </a:prstGeom>
          </p:spPr>
          <p:txBody>
            <a:bodyPr anchor="ctr" rtlCol="false" tIns="50800" lIns="50800" bIns="50800" rIns="50800"/>
            <a:lstStyle/>
            <a:p>
              <a:pPr algn="l">
                <a:lnSpc>
                  <a:spcPts val="2340"/>
                </a:lnSpc>
              </a:pPr>
              <a:r>
                <a:rPr lang="en-US" sz="1950" b="true">
                  <a:solidFill>
                    <a:srgbClr val="22D3EE"/>
                  </a:solidFill>
                  <a:latin typeface="Calibri (MS) Bold"/>
                  <a:ea typeface="Calibri (MS) Bold"/>
                  <a:cs typeface="Calibri (MS) Bold"/>
                  <a:sym typeface="Calibri (MS) Bold"/>
                </a:rPr>
                <a:t>R²   </a:t>
              </a:r>
              <a:r>
                <a:rPr lang="en-US" sz="1950">
                  <a:solidFill>
                    <a:srgbClr val="E8ECF1"/>
                  </a:solidFill>
                  <a:latin typeface="Calibri (MS)"/>
                  <a:ea typeface="Calibri (MS)"/>
                  <a:cs typeface="Calibri (MS)"/>
                  <a:sym typeface="Calibri (MS)"/>
                </a:rPr>
                <a:t>share of the variation the model explains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Classification: Logistic Regression vs Decision Tree</a:t>
            </a:r>
          </a:p>
        </p:txBody>
      </p:sp>
      <p:grpSp>
        <p:nvGrpSpPr>
          <p:cNvPr name="Group 5" id="5"/>
          <p:cNvGrpSpPr/>
          <p:nvPr/>
        </p:nvGrpSpPr>
        <p:grpSpPr>
          <a:xfrm rot="0">
            <a:off x="822960" y="1536192"/>
            <a:ext cx="16637508" cy="480060"/>
            <a:chOff x="0" y="0"/>
            <a:chExt cx="22183344" cy="640080"/>
          </a:xfrm>
        </p:grpSpPr>
        <p:sp>
          <p:nvSpPr>
            <p:cNvPr name="Freeform 6" id="6"/>
            <p:cNvSpPr/>
            <p:nvPr/>
          </p:nvSpPr>
          <p:spPr>
            <a:xfrm flipH="false" flipV="false" rot="0">
              <a:off x="0" y="0"/>
              <a:ext cx="22183344" cy="640080"/>
            </a:xfrm>
            <a:custGeom>
              <a:avLst/>
              <a:gdLst/>
              <a:ahLst/>
              <a:cxnLst/>
              <a:rect r="r" b="b" t="t" l="l"/>
              <a:pathLst>
                <a:path h="640080" w="22183344">
                  <a:moveTo>
                    <a:pt x="0" y="0"/>
                  </a:moveTo>
                  <a:lnTo>
                    <a:pt x="22183344" y="0"/>
                  </a:lnTo>
                  <a:lnTo>
                    <a:pt x="22183344" y="640080"/>
                  </a:lnTo>
                  <a:lnTo>
                    <a:pt x="0" y="640080"/>
                  </a:lnTo>
                  <a:close/>
                </a:path>
              </a:pathLst>
            </a:custGeom>
            <a:blipFill>
              <a:blip r:embed="rId3">
                <a:alphaModFix amt="0"/>
              </a:blip>
              <a:stretch>
                <a:fillRect l="0" t="-625295" r="0" b="-625295"/>
              </a:stretch>
            </a:blipFill>
          </p:spPr>
        </p:sp>
        <p:sp>
          <p:nvSpPr>
            <p:cNvPr name="TextBox 7" id="7"/>
            <p:cNvSpPr txBox="true"/>
            <p:nvPr/>
          </p:nvSpPr>
          <p:spPr>
            <a:xfrm>
              <a:off x="0" y="-47625"/>
              <a:ext cx="22183344" cy="687705"/>
            </a:xfrm>
            <a:prstGeom prst="rect">
              <a:avLst/>
            </a:prstGeom>
          </p:spPr>
          <p:txBody>
            <a:bodyPr anchor="ctr" rtlCol="false" tIns="0" lIns="0" bIns="0" rIns="0"/>
            <a:lstStyle/>
            <a:p>
              <a:pPr algn="l">
                <a:lnSpc>
                  <a:spcPts val="2520"/>
                </a:lnSpc>
              </a:pPr>
              <a:r>
                <a:rPr lang="en-US" sz="2100">
                  <a:solidFill>
                    <a:srgbClr val="9AA4B2"/>
                  </a:solidFill>
                  <a:latin typeface="Calibri (MS)"/>
                  <a:ea typeface="Calibri (MS)"/>
                  <a:cs typeface="Calibri (MS)"/>
                  <a:sym typeface="Calibri (MS)"/>
                </a:rPr>
                <a:t>Which model performs better is decided by test-set metrics (to be evaluated)</a:t>
              </a:r>
            </a:p>
          </p:txBody>
        </p:sp>
      </p:grpSp>
      <p:grpSp>
        <p:nvGrpSpPr>
          <p:cNvPr name="Group 8" id="8"/>
          <p:cNvGrpSpPr/>
          <p:nvPr/>
        </p:nvGrpSpPr>
        <p:grpSpPr>
          <a:xfrm rot="0">
            <a:off x="822960" y="9710928"/>
            <a:ext cx="10972800" cy="342900"/>
            <a:chOff x="0" y="0"/>
            <a:chExt cx="14630400" cy="457200"/>
          </a:xfrm>
        </p:grpSpPr>
        <p:sp>
          <p:nvSpPr>
            <p:cNvPr name="Freeform 9" id="9"/>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10" id="10"/>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11" id="11"/>
          <p:cNvGrpSpPr/>
          <p:nvPr/>
        </p:nvGrpSpPr>
        <p:grpSpPr>
          <a:xfrm rot="0">
            <a:off x="16088868" y="9710928"/>
            <a:ext cx="1371600" cy="342900"/>
            <a:chOff x="0" y="0"/>
            <a:chExt cx="1828800" cy="457200"/>
          </a:xfrm>
        </p:grpSpPr>
        <p:sp>
          <p:nvSpPr>
            <p:cNvPr name="Freeform 12" id="12"/>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3" id="13"/>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7</a:t>
              </a:r>
            </a:p>
          </p:txBody>
        </p:sp>
      </p:grpSp>
      <p:grpSp>
        <p:nvGrpSpPr>
          <p:cNvPr name="Group 14" id="14"/>
          <p:cNvGrpSpPr/>
          <p:nvPr/>
        </p:nvGrpSpPr>
        <p:grpSpPr>
          <a:xfrm rot="0">
            <a:off x="815816" y="2255996"/>
            <a:ext cx="3580447" cy="1111568"/>
            <a:chOff x="0" y="0"/>
            <a:chExt cx="4773930" cy="1482090"/>
          </a:xfrm>
        </p:grpSpPr>
        <p:sp>
          <p:nvSpPr>
            <p:cNvPr name="Freeform 15" id="15"/>
            <p:cNvSpPr/>
            <p:nvPr/>
          </p:nvSpPr>
          <p:spPr>
            <a:xfrm flipH="false" flipV="false" rot="0">
              <a:off x="0" y="0"/>
              <a:ext cx="4773930" cy="1482090"/>
            </a:xfrm>
            <a:custGeom>
              <a:avLst/>
              <a:gdLst/>
              <a:ahLst/>
              <a:cxnLst/>
              <a:rect r="r" b="b" t="t" l="l"/>
              <a:pathLst>
                <a:path h="1482090" w="4773930">
                  <a:moveTo>
                    <a:pt x="0" y="148209"/>
                  </a:moveTo>
                  <a:cubicBezTo>
                    <a:pt x="0" y="66294"/>
                    <a:pt x="66294" y="0"/>
                    <a:pt x="148209" y="0"/>
                  </a:cubicBezTo>
                  <a:lnTo>
                    <a:pt x="4625721" y="0"/>
                  </a:lnTo>
                  <a:cubicBezTo>
                    <a:pt x="4707636" y="0"/>
                    <a:pt x="4773930" y="66294"/>
                    <a:pt x="4773930" y="148209"/>
                  </a:cubicBezTo>
                  <a:lnTo>
                    <a:pt x="4773930" y="1333881"/>
                  </a:lnTo>
                  <a:cubicBezTo>
                    <a:pt x="4773930" y="1415796"/>
                    <a:pt x="4707636" y="1482090"/>
                    <a:pt x="4625721" y="1482090"/>
                  </a:cubicBezTo>
                  <a:lnTo>
                    <a:pt x="148209" y="1482090"/>
                  </a:lnTo>
                  <a:cubicBezTo>
                    <a:pt x="66294" y="1482090"/>
                    <a:pt x="0" y="1415796"/>
                    <a:pt x="0" y="1333881"/>
                  </a:cubicBezTo>
                  <a:close/>
                </a:path>
              </a:pathLst>
            </a:custGeom>
            <a:solidFill>
              <a:srgbClr val="161B22"/>
            </a:solidFill>
            <a:ln w="14288" cap="sq">
              <a:solidFill>
                <a:srgbClr val="2A323D"/>
              </a:solidFill>
              <a:prstDash val="solid"/>
              <a:miter/>
            </a:ln>
          </p:spPr>
        </p:sp>
        <p:sp>
          <p:nvSpPr>
            <p:cNvPr name="TextBox 16" id="16"/>
            <p:cNvSpPr txBox="true"/>
            <p:nvPr/>
          </p:nvSpPr>
          <p:spPr>
            <a:xfrm>
              <a:off x="0" y="-57150"/>
              <a:ext cx="4773930" cy="1539240"/>
            </a:xfrm>
            <a:prstGeom prst="rect">
              <a:avLst/>
            </a:prstGeom>
          </p:spPr>
          <p:txBody>
            <a:bodyPr anchor="ctr" rtlCol="false" tIns="50800" lIns="50800" bIns="50800" rIns="50800"/>
            <a:lstStyle/>
            <a:p>
              <a:pPr algn="l">
                <a:lnSpc>
                  <a:spcPts val="2700"/>
                </a:lnSpc>
              </a:pPr>
              <a:r>
                <a:rPr lang="en-US" sz="2250" b="true">
                  <a:solidFill>
                    <a:srgbClr val="E8ECF1"/>
                  </a:solidFill>
                  <a:latin typeface="Calibri (MS) Bold"/>
                  <a:ea typeface="Calibri (MS) Bold"/>
                  <a:cs typeface="Calibri (MS) Bold"/>
                  <a:sym typeface="Calibri (MS) Bold"/>
                </a:rPr>
                <a:t>Performance Score</a:t>
              </a:r>
            </a:p>
          </p:txBody>
        </p:sp>
      </p:grpSp>
      <p:sp>
        <p:nvSpPr>
          <p:cNvPr name="AutoShape 17" id="17"/>
          <p:cNvSpPr/>
          <p:nvPr/>
        </p:nvSpPr>
        <p:spPr>
          <a:xfrm rot="170040">
            <a:off x="4435735" y="2802255"/>
            <a:ext cx="866880" cy="0"/>
          </a:xfrm>
          <a:prstGeom prst="line">
            <a:avLst/>
          </a:prstGeom>
          <a:ln cap="rnd" w="19050">
            <a:solidFill>
              <a:srgbClr val="22D3EE"/>
            </a:solidFill>
            <a:prstDash val="solid"/>
            <a:headEnd type="none" len="sm" w="sm"/>
            <a:tailEnd type="triangle" len="med" w="lg"/>
          </a:ln>
        </p:spPr>
      </p:sp>
      <p:grpSp>
        <p:nvGrpSpPr>
          <p:cNvPr name="Group 18" id="18"/>
          <p:cNvGrpSpPr/>
          <p:nvPr/>
        </p:nvGrpSpPr>
        <p:grpSpPr>
          <a:xfrm rot="0">
            <a:off x="5342096" y="2255996"/>
            <a:ext cx="4677728" cy="1111568"/>
            <a:chOff x="0" y="0"/>
            <a:chExt cx="6236970" cy="1482090"/>
          </a:xfrm>
        </p:grpSpPr>
        <p:sp>
          <p:nvSpPr>
            <p:cNvPr name="Freeform 19" id="19"/>
            <p:cNvSpPr/>
            <p:nvPr/>
          </p:nvSpPr>
          <p:spPr>
            <a:xfrm flipH="false" flipV="false" rot="0">
              <a:off x="0" y="0"/>
              <a:ext cx="6236970" cy="1482090"/>
            </a:xfrm>
            <a:custGeom>
              <a:avLst/>
              <a:gdLst/>
              <a:ahLst/>
              <a:cxnLst/>
              <a:rect r="r" b="b" t="t" l="l"/>
              <a:pathLst>
                <a:path h="1482090" w="6236970">
                  <a:moveTo>
                    <a:pt x="0" y="148209"/>
                  </a:moveTo>
                  <a:cubicBezTo>
                    <a:pt x="0" y="66294"/>
                    <a:pt x="66294" y="0"/>
                    <a:pt x="148209" y="0"/>
                  </a:cubicBezTo>
                  <a:lnTo>
                    <a:pt x="6088761" y="0"/>
                  </a:lnTo>
                  <a:cubicBezTo>
                    <a:pt x="6170676" y="0"/>
                    <a:pt x="6236970" y="66294"/>
                    <a:pt x="6236970" y="148209"/>
                  </a:cubicBezTo>
                  <a:lnTo>
                    <a:pt x="6236970" y="1333881"/>
                  </a:lnTo>
                  <a:cubicBezTo>
                    <a:pt x="6236970" y="1415796"/>
                    <a:pt x="6170676" y="1482090"/>
                    <a:pt x="6088761" y="1482090"/>
                  </a:cubicBezTo>
                  <a:lnTo>
                    <a:pt x="148209" y="1482090"/>
                  </a:lnTo>
                  <a:cubicBezTo>
                    <a:pt x="66294" y="1482090"/>
                    <a:pt x="0" y="1415796"/>
                    <a:pt x="0" y="1333881"/>
                  </a:cubicBezTo>
                  <a:close/>
                </a:path>
              </a:pathLst>
            </a:custGeom>
            <a:solidFill>
              <a:srgbClr val="161B22"/>
            </a:solidFill>
            <a:ln w="14288" cap="sq">
              <a:solidFill>
                <a:srgbClr val="2A323D"/>
              </a:solidFill>
              <a:prstDash val="solid"/>
              <a:miter/>
            </a:ln>
          </p:spPr>
        </p:sp>
        <p:sp>
          <p:nvSpPr>
            <p:cNvPr name="TextBox 20" id="20"/>
            <p:cNvSpPr txBox="true"/>
            <p:nvPr/>
          </p:nvSpPr>
          <p:spPr>
            <a:xfrm>
              <a:off x="0" y="-57150"/>
              <a:ext cx="6236970" cy="1539240"/>
            </a:xfrm>
            <a:prstGeom prst="rect">
              <a:avLst/>
            </a:prstGeom>
          </p:spPr>
          <p:txBody>
            <a:bodyPr anchor="ctr" rtlCol="false" tIns="50800" lIns="50800" bIns="50800" rIns="50800"/>
            <a:lstStyle/>
            <a:p>
              <a:pPr algn="l">
                <a:lnSpc>
                  <a:spcPts val="2700"/>
                </a:lnSpc>
              </a:pPr>
              <a:r>
                <a:rPr lang="en-US" sz="2250" b="true">
                  <a:solidFill>
                    <a:srgbClr val="E8ECF1"/>
                  </a:solidFill>
                  <a:latin typeface="Calibri (MS) Bold"/>
                  <a:ea typeface="Calibri (MS) Bold"/>
                  <a:cs typeface="Calibri (MS) Bold"/>
                  <a:sym typeface="Calibri (MS) Bold"/>
                </a:rPr>
                <a:t>Above the threshold?</a:t>
              </a:r>
            </a:p>
            <a:p>
              <a:pPr algn="l">
                <a:lnSpc>
                  <a:spcPts val="2250"/>
                </a:lnSpc>
              </a:pPr>
              <a:r>
                <a:rPr lang="en-US" sz="1875">
                  <a:solidFill>
                    <a:srgbClr val="9AA4B2"/>
                  </a:solidFill>
                  <a:latin typeface="Calibri (MS)"/>
                  <a:ea typeface="Calibri (MS)"/>
                  <a:cs typeface="Calibri (MS)"/>
                  <a:sym typeface="Calibri (MS)"/>
                </a:rPr>
                <a:t>e.g. the median score</a:t>
              </a:r>
            </a:p>
          </p:txBody>
        </p:sp>
      </p:grpSp>
      <p:sp>
        <p:nvSpPr>
          <p:cNvPr name="AutoShape 21" id="21"/>
          <p:cNvSpPr/>
          <p:nvPr/>
        </p:nvSpPr>
        <p:spPr>
          <a:xfrm rot="137460">
            <a:off x="10059400" y="2527935"/>
            <a:ext cx="1072420" cy="0"/>
          </a:xfrm>
          <a:prstGeom prst="line">
            <a:avLst/>
          </a:prstGeom>
          <a:ln cap="rnd" w="19050">
            <a:solidFill>
              <a:srgbClr val="4ADE80"/>
            </a:solidFill>
            <a:prstDash val="solid"/>
            <a:headEnd type="none" len="sm" w="sm"/>
            <a:tailEnd type="triangle" len="med" w="lg"/>
          </a:ln>
        </p:spPr>
      </p:sp>
      <p:sp>
        <p:nvSpPr>
          <p:cNvPr name="AutoShape 22" id="22"/>
          <p:cNvSpPr/>
          <p:nvPr/>
        </p:nvSpPr>
        <p:spPr>
          <a:xfrm rot="137460">
            <a:off x="10059400" y="3076575"/>
            <a:ext cx="1072420" cy="0"/>
          </a:xfrm>
          <a:prstGeom prst="line">
            <a:avLst/>
          </a:prstGeom>
          <a:ln cap="rnd" w="19050">
            <a:solidFill>
              <a:srgbClr val="9AA4B2"/>
            </a:solidFill>
            <a:prstDash val="solid"/>
            <a:headEnd type="none" len="sm" w="sm"/>
            <a:tailEnd type="triangle" len="med" w="lg"/>
          </a:ln>
        </p:spPr>
      </p:sp>
      <p:grpSp>
        <p:nvGrpSpPr>
          <p:cNvPr name="Group 23" id="23"/>
          <p:cNvGrpSpPr/>
          <p:nvPr/>
        </p:nvGrpSpPr>
        <p:grpSpPr>
          <a:xfrm rot="0">
            <a:off x="11169015" y="2212467"/>
            <a:ext cx="3173730" cy="567690"/>
            <a:chOff x="0" y="0"/>
            <a:chExt cx="4231640" cy="756920"/>
          </a:xfrm>
        </p:grpSpPr>
        <p:sp>
          <p:nvSpPr>
            <p:cNvPr name="Freeform 24" id="24"/>
            <p:cNvSpPr/>
            <p:nvPr/>
          </p:nvSpPr>
          <p:spPr>
            <a:xfrm flipH="false" flipV="false" rot="0">
              <a:off x="0" y="0"/>
              <a:ext cx="4231640" cy="756920"/>
            </a:xfrm>
            <a:custGeom>
              <a:avLst/>
              <a:gdLst/>
              <a:ahLst/>
              <a:cxnLst/>
              <a:rect r="r" b="b" t="t" l="l"/>
              <a:pathLst>
                <a:path h="756920" w="4231640">
                  <a:moveTo>
                    <a:pt x="0" y="189230"/>
                  </a:moveTo>
                  <a:cubicBezTo>
                    <a:pt x="0" y="84709"/>
                    <a:pt x="84709" y="0"/>
                    <a:pt x="189230" y="0"/>
                  </a:cubicBezTo>
                  <a:lnTo>
                    <a:pt x="4042410" y="0"/>
                  </a:lnTo>
                  <a:cubicBezTo>
                    <a:pt x="4146931" y="0"/>
                    <a:pt x="4231640" y="84709"/>
                    <a:pt x="4231640" y="189230"/>
                  </a:cubicBezTo>
                  <a:lnTo>
                    <a:pt x="4231640" y="567690"/>
                  </a:lnTo>
                  <a:cubicBezTo>
                    <a:pt x="4231640" y="672211"/>
                    <a:pt x="4146931" y="756920"/>
                    <a:pt x="4042410" y="756920"/>
                  </a:cubicBezTo>
                  <a:lnTo>
                    <a:pt x="189230" y="756920"/>
                  </a:lnTo>
                  <a:cubicBezTo>
                    <a:pt x="84709" y="756920"/>
                    <a:pt x="0" y="672211"/>
                    <a:pt x="0" y="567690"/>
                  </a:cubicBezTo>
                  <a:close/>
                </a:path>
              </a:pathLst>
            </a:custGeom>
            <a:solidFill>
              <a:srgbClr val="1D242E"/>
            </a:solidFill>
            <a:ln w="19050" cap="sq">
              <a:solidFill>
                <a:srgbClr val="4ADE80"/>
              </a:solidFill>
              <a:prstDash val="solid"/>
              <a:miter/>
            </a:ln>
          </p:spPr>
        </p:sp>
        <p:sp>
          <p:nvSpPr>
            <p:cNvPr name="TextBox 25" id="25"/>
            <p:cNvSpPr txBox="true"/>
            <p:nvPr/>
          </p:nvSpPr>
          <p:spPr>
            <a:xfrm>
              <a:off x="0" y="-47625"/>
              <a:ext cx="4231640" cy="804545"/>
            </a:xfrm>
            <a:prstGeom prst="rect">
              <a:avLst/>
            </a:prstGeom>
          </p:spPr>
          <p:txBody>
            <a:bodyPr anchor="ctr" rtlCol="false" tIns="50800" lIns="50800" bIns="50800" rIns="50800"/>
            <a:lstStyle/>
            <a:p>
              <a:pPr algn="ctr">
                <a:lnSpc>
                  <a:spcPts val="2340"/>
                </a:lnSpc>
              </a:pPr>
              <a:r>
                <a:rPr lang="en-US" sz="1950" b="true">
                  <a:solidFill>
                    <a:srgbClr val="4ADE80"/>
                  </a:solidFill>
                  <a:latin typeface="Calibri (MS) Bold"/>
                  <a:ea typeface="Calibri (MS) Bold"/>
                  <a:cs typeface="Calibri (MS) Bold"/>
                  <a:sym typeface="Calibri (MS) Bold"/>
                </a:rPr>
                <a:t>High performance = 1</a:t>
              </a:r>
            </a:p>
          </p:txBody>
        </p:sp>
      </p:grpSp>
      <p:grpSp>
        <p:nvGrpSpPr>
          <p:cNvPr name="Group 26" id="26"/>
          <p:cNvGrpSpPr/>
          <p:nvPr/>
        </p:nvGrpSpPr>
        <p:grpSpPr>
          <a:xfrm rot="0">
            <a:off x="11169015" y="2870835"/>
            <a:ext cx="3173730" cy="567690"/>
            <a:chOff x="0" y="0"/>
            <a:chExt cx="4231640" cy="756920"/>
          </a:xfrm>
        </p:grpSpPr>
        <p:sp>
          <p:nvSpPr>
            <p:cNvPr name="Freeform 27" id="27"/>
            <p:cNvSpPr/>
            <p:nvPr/>
          </p:nvSpPr>
          <p:spPr>
            <a:xfrm flipH="false" flipV="false" rot="0">
              <a:off x="0" y="0"/>
              <a:ext cx="4231640" cy="756920"/>
            </a:xfrm>
            <a:custGeom>
              <a:avLst/>
              <a:gdLst/>
              <a:ahLst/>
              <a:cxnLst/>
              <a:rect r="r" b="b" t="t" l="l"/>
              <a:pathLst>
                <a:path h="756920" w="4231640">
                  <a:moveTo>
                    <a:pt x="0" y="189230"/>
                  </a:moveTo>
                  <a:cubicBezTo>
                    <a:pt x="0" y="84709"/>
                    <a:pt x="84709" y="0"/>
                    <a:pt x="189230" y="0"/>
                  </a:cubicBezTo>
                  <a:lnTo>
                    <a:pt x="4042410" y="0"/>
                  </a:lnTo>
                  <a:cubicBezTo>
                    <a:pt x="4146931" y="0"/>
                    <a:pt x="4231640" y="84709"/>
                    <a:pt x="4231640" y="189230"/>
                  </a:cubicBezTo>
                  <a:lnTo>
                    <a:pt x="4231640" y="567690"/>
                  </a:lnTo>
                  <a:cubicBezTo>
                    <a:pt x="4231640" y="672211"/>
                    <a:pt x="4146931" y="756920"/>
                    <a:pt x="4042410" y="756920"/>
                  </a:cubicBezTo>
                  <a:lnTo>
                    <a:pt x="189230" y="756920"/>
                  </a:lnTo>
                  <a:cubicBezTo>
                    <a:pt x="84709" y="756920"/>
                    <a:pt x="0" y="672211"/>
                    <a:pt x="0" y="567690"/>
                  </a:cubicBezTo>
                  <a:close/>
                </a:path>
              </a:pathLst>
            </a:custGeom>
            <a:solidFill>
              <a:srgbClr val="1D242E"/>
            </a:solidFill>
            <a:ln w="19050" cap="sq">
              <a:solidFill>
                <a:srgbClr val="9AA4B2"/>
              </a:solidFill>
              <a:prstDash val="solid"/>
              <a:miter/>
            </a:ln>
          </p:spPr>
        </p:sp>
        <p:sp>
          <p:nvSpPr>
            <p:cNvPr name="TextBox 28" id="28"/>
            <p:cNvSpPr txBox="true"/>
            <p:nvPr/>
          </p:nvSpPr>
          <p:spPr>
            <a:xfrm>
              <a:off x="0" y="-47625"/>
              <a:ext cx="4231640" cy="804545"/>
            </a:xfrm>
            <a:prstGeom prst="rect">
              <a:avLst/>
            </a:prstGeom>
          </p:spPr>
          <p:txBody>
            <a:bodyPr anchor="ctr" rtlCol="false" tIns="50800" lIns="50800" bIns="50800" rIns="50800"/>
            <a:lstStyle/>
            <a:p>
              <a:pPr algn="ctr">
                <a:lnSpc>
                  <a:spcPts val="2340"/>
                </a:lnSpc>
              </a:pPr>
              <a:r>
                <a:rPr lang="en-US" sz="1950" b="true">
                  <a:solidFill>
                    <a:srgbClr val="9AA4B2"/>
                  </a:solidFill>
                  <a:latin typeface="Calibri (MS) Bold"/>
                  <a:ea typeface="Calibri (MS) Bold"/>
                  <a:cs typeface="Calibri (MS) Bold"/>
                  <a:sym typeface="Calibri (MS) Bold"/>
                </a:rPr>
                <a:t>Low performance = 0</a:t>
              </a:r>
            </a:p>
          </p:txBody>
        </p:sp>
      </p:grpSp>
      <p:grpSp>
        <p:nvGrpSpPr>
          <p:cNvPr name="Group 29" id="29"/>
          <p:cNvGrpSpPr/>
          <p:nvPr/>
        </p:nvGrpSpPr>
        <p:grpSpPr>
          <a:xfrm rot="0">
            <a:off x="14538960" y="2221992"/>
            <a:ext cx="2921508" cy="1234440"/>
            <a:chOff x="0" y="0"/>
            <a:chExt cx="3895344" cy="1645920"/>
          </a:xfrm>
        </p:grpSpPr>
        <p:sp>
          <p:nvSpPr>
            <p:cNvPr name="Freeform 30" id="30"/>
            <p:cNvSpPr/>
            <p:nvPr/>
          </p:nvSpPr>
          <p:spPr>
            <a:xfrm flipH="false" flipV="false" rot="0">
              <a:off x="0" y="0"/>
              <a:ext cx="3895344" cy="1645920"/>
            </a:xfrm>
            <a:custGeom>
              <a:avLst/>
              <a:gdLst/>
              <a:ahLst/>
              <a:cxnLst/>
              <a:rect r="r" b="b" t="t" l="l"/>
              <a:pathLst>
                <a:path h="1645920" w="3895344">
                  <a:moveTo>
                    <a:pt x="0" y="0"/>
                  </a:moveTo>
                  <a:lnTo>
                    <a:pt x="3895344" y="0"/>
                  </a:lnTo>
                  <a:lnTo>
                    <a:pt x="3895344" y="1645920"/>
                  </a:lnTo>
                  <a:lnTo>
                    <a:pt x="0" y="1645920"/>
                  </a:lnTo>
                  <a:close/>
                </a:path>
              </a:pathLst>
            </a:custGeom>
            <a:blipFill>
              <a:blip r:embed="rId3">
                <a:alphaModFix amt="0"/>
              </a:blip>
              <a:stretch>
                <a:fillRect l="-4212" t="0" r="-4212" b="0"/>
              </a:stretch>
            </a:blipFill>
          </p:spPr>
        </p:sp>
        <p:sp>
          <p:nvSpPr>
            <p:cNvPr name="TextBox 31" id="31"/>
            <p:cNvSpPr txBox="true"/>
            <p:nvPr/>
          </p:nvSpPr>
          <p:spPr>
            <a:xfrm>
              <a:off x="0" y="-38100"/>
              <a:ext cx="3895344" cy="1684020"/>
            </a:xfrm>
            <a:prstGeom prst="rect">
              <a:avLst/>
            </a:prstGeom>
          </p:spPr>
          <p:txBody>
            <a:bodyPr anchor="ctr" rtlCol="false" tIns="0" lIns="0" bIns="0" rIns="0"/>
            <a:lstStyle/>
            <a:p>
              <a:pPr algn="l">
                <a:lnSpc>
                  <a:spcPts val="2070"/>
                </a:lnSpc>
              </a:pPr>
              <a:r>
                <a:rPr lang="en-US" sz="1725" i="true">
                  <a:solidFill>
                    <a:srgbClr val="9AA4B2"/>
                  </a:solidFill>
                  <a:latin typeface="Calibri (MS) Italics"/>
                  <a:ea typeface="Calibri (MS) Italics"/>
                  <a:cs typeface="Calibri (MS) Italics"/>
                  <a:sym typeface="Calibri (MS) Italics"/>
                </a:rPr>
                <a:t>Both models predict this label from the same input features.</a:t>
              </a:r>
            </a:p>
          </p:txBody>
        </p:sp>
      </p:grpSp>
      <p:grpSp>
        <p:nvGrpSpPr>
          <p:cNvPr name="Group 32" id="32"/>
          <p:cNvGrpSpPr/>
          <p:nvPr/>
        </p:nvGrpSpPr>
        <p:grpSpPr>
          <a:xfrm rot="0">
            <a:off x="815816" y="3764756"/>
            <a:ext cx="5157788" cy="4403408"/>
            <a:chOff x="0" y="0"/>
            <a:chExt cx="6877050" cy="5871210"/>
          </a:xfrm>
        </p:grpSpPr>
        <p:sp>
          <p:nvSpPr>
            <p:cNvPr name="Freeform 33" id="33"/>
            <p:cNvSpPr/>
            <p:nvPr/>
          </p:nvSpPr>
          <p:spPr>
            <a:xfrm flipH="false" flipV="false" rot="0">
              <a:off x="0" y="0"/>
              <a:ext cx="6877050" cy="5871210"/>
            </a:xfrm>
            <a:custGeom>
              <a:avLst/>
              <a:gdLst/>
              <a:ahLst/>
              <a:cxnLst/>
              <a:rect r="r" b="b" t="t" l="l"/>
              <a:pathLst>
                <a:path h="5871210" w="6877050">
                  <a:moveTo>
                    <a:pt x="0" y="146812"/>
                  </a:moveTo>
                  <a:cubicBezTo>
                    <a:pt x="0" y="65659"/>
                    <a:pt x="65659" y="0"/>
                    <a:pt x="146812" y="0"/>
                  </a:cubicBezTo>
                  <a:lnTo>
                    <a:pt x="6730238" y="0"/>
                  </a:lnTo>
                  <a:cubicBezTo>
                    <a:pt x="6811264" y="0"/>
                    <a:pt x="6877050" y="65659"/>
                    <a:pt x="6877050" y="146812"/>
                  </a:cubicBezTo>
                  <a:lnTo>
                    <a:pt x="6877050" y="5724398"/>
                  </a:lnTo>
                  <a:cubicBezTo>
                    <a:pt x="6877050" y="5805424"/>
                    <a:pt x="6811391" y="5871210"/>
                    <a:pt x="6730238" y="5871210"/>
                  </a:cubicBezTo>
                  <a:lnTo>
                    <a:pt x="146812" y="5871210"/>
                  </a:lnTo>
                  <a:cubicBezTo>
                    <a:pt x="65659" y="5871210"/>
                    <a:pt x="0" y="5805551"/>
                    <a:pt x="0" y="5724398"/>
                  </a:cubicBezTo>
                  <a:close/>
                </a:path>
              </a:pathLst>
            </a:custGeom>
            <a:solidFill>
              <a:srgbClr val="161B22"/>
            </a:solidFill>
            <a:ln w="14288" cap="sq">
              <a:solidFill>
                <a:srgbClr val="2A323D"/>
              </a:solidFill>
              <a:prstDash val="solid"/>
              <a:miter/>
            </a:ln>
          </p:spPr>
        </p:sp>
      </p:grpSp>
      <p:grpSp>
        <p:nvGrpSpPr>
          <p:cNvPr name="Group 34" id="34"/>
          <p:cNvGrpSpPr/>
          <p:nvPr/>
        </p:nvGrpSpPr>
        <p:grpSpPr>
          <a:xfrm rot="0">
            <a:off x="1165860" y="3950208"/>
            <a:ext cx="4526280" cy="480060"/>
            <a:chOff x="0" y="0"/>
            <a:chExt cx="6035040" cy="640080"/>
          </a:xfrm>
        </p:grpSpPr>
        <p:sp>
          <p:nvSpPr>
            <p:cNvPr name="Freeform 35" id="35"/>
            <p:cNvSpPr/>
            <p:nvPr/>
          </p:nvSpPr>
          <p:spPr>
            <a:xfrm flipH="false" flipV="false" rot="0">
              <a:off x="0" y="0"/>
              <a:ext cx="6035040" cy="640080"/>
            </a:xfrm>
            <a:custGeom>
              <a:avLst/>
              <a:gdLst/>
              <a:ahLst/>
              <a:cxnLst/>
              <a:rect r="r" b="b" t="t" l="l"/>
              <a:pathLst>
                <a:path h="640080" w="6035040">
                  <a:moveTo>
                    <a:pt x="0" y="0"/>
                  </a:moveTo>
                  <a:lnTo>
                    <a:pt x="6035040" y="0"/>
                  </a:lnTo>
                  <a:lnTo>
                    <a:pt x="6035040" y="640080"/>
                  </a:lnTo>
                  <a:lnTo>
                    <a:pt x="0" y="640080"/>
                  </a:lnTo>
                  <a:close/>
                </a:path>
              </a:pathLst>
            </a:custGeom>
            <a:blipFill>
              <a:blip r:embed="rId3">
                <a:alphaModFix amt="0"/>
              </a:blip>
              <a:stretch>
                <a:fillRect l="0" t="-133716" r="0" b="-133716"/>
              </a:stretch>
            </a:blipFill>
          </p:spPr>
        </p:sp>
        <p:sp>
          <p:nvSpPr>
            <p:cNvPr name="TextBox 36" id="36"/>
            <p:cNvSpPr txBox="true"/>
            <p:nvPr/>
          </p:nvSpPr>
          <p:spPr>
            <a:xfrm>
              <a:off x="0" y="-47625"/>
              <a:ext cx="6035040" cy="687705"/>
            </a:xfrm>
            <a:prstGeom prst="rect">
              <a:avLst/>
            </a:prstGeom>
          </p:spPr>
          <p:txBody>
            <a:bodyPr anchor="ctr" rtlCol="false" tIns="0" lIns="0" bIns="0" rIns="0"/>
            <a:lstStyle/>
            <a:p>
              <a:pPr algn="l">
                <a:lnSpc>
                  <a:spcPts val="3060"/>
                </a:lnSpc>
              </a:pPr>
              <a:r>
                <a:rPr lang="en-US" sz="2550" b="true">
                  <a:solidFill>
                    <a:srgbClr val="22D3EE"/>
                  </a:solidFill>
                  <a:latin typeface="Calibri (MS) Bold"/>
                  <a:ea typeface="Calibri (MS) Bold"/>
                  <a:cs typeface="Calibri (MS) Bold"/>
                  <a:sym typeface="Calibri (MS) Bold"/>
                </a:rPr>
                <a:t>Logistic Regression</a:t>
              </a:r>
            </a:p>
          </p:txBody>
        </p:sp>
      </p:grpSp>
      <p:grpSp>
        <p:nvGrpSpPr>
          <p:cNvPr name="Group 37" id="37"/>
          <p:cNvGrpSpPr/>
          <p:nvPr/>
        </p:nvGrpSpPr>
        <p:grpSpPr>
          <a:xfrm rot="0">
            <a:off x="1158716" y="4519136"/>
            <a:ext cx="4471988" cy="1797367"/>
            <a:chOff x="0" y="0"/>
            <a:chExt cx="5962650" cy="2396490"/>
          </a:xfrm>
        </p:grpSpPr>
        <p:sp>
          <p:nvSpPr>
            <p:cNvPr name="Freeform 38" id="38"/>
            <p:cNvSpPr/>
            <p:nvPr/>
          </p:nvSpPr>
          <p:spPr>
            <a:xfrm flipH="false" flipV="false" rot="0">
              <a:off x="0" y="0"/>
              <a:ext cx="5962650" cy="2396490"/>
            </a:xfrm>
            <a:custGeom>
              <a:avLst/>
              <a:gdLst/>
              <a:ahLst/>
              <a:cxnLst/>
              <a:rect r="r" b="b" t="t" l="l"/>
              <a:pathLst>
                <a:path h="2396490" w="5962650">
                  <a:moveTo>
                    <a:pt x="0" y="0"/>
                  </a:moveTo>
                  <a:lnTo>
                    <a:pt x="5962650" y="0"/>
                  </a:lnTo>
                  <a:lnTo>
                    <a:pt x="5962650" y="2396490"/>
                  </a:lnTo>
                  <a:lnTo>
                    <a:pt x="0" y="2396490"/>
                  </a:lnTo>
                  <a:close/>
                </a:path>
              </a:pathLst>
            </a:custGeom>
            <a:solidFill>
              <a:srgbClr val="0A0D12"/>
            </a:solidFill>
            <a:ln w="14288" cap="sq">
              <a:solidFill>
                <a:srgbClr val="2A323D"/>
              </a:solidFill>
              <a:prstDash val="solid"/>
              <a:miter/>
            </a:ln>
          </p:spPr>
        </p:sp>
      </p:grpSp>
      <p:sp>
        <p:nvSpPr>
          <p:cNvPr name="AutoShape 39" id="39"/>
          <p:cNvSpPr/>
          <p:nvPr/>
        </p:nvSpPr>
        <p:spPr>
          <a:xfrm rot="-795480">
            <a:off x="1413481" y="6016714"/>
            <a:ext cx="216265" cy="0"/>
          </a:xfrm>
          <a:prstGeom prst="line">
            <a:avLst/>
          </a:prstGeom>
          <a:ln cap="rnd" w="28575">
            <a:solidFill>
              <a:srgbClr val="22D3EE"/>
            </a:solidFill>
            <a:prstDash val="solid"/>
            <a:headEnd type="none" len="sm" w="sm"/>
            <a:tailEnd type="none" len="sm" w="sm"/>
          </a:ln>
        </p:spPr>
      </p:sp>
      <p:sp>
        <p:nvSpPr>
          <p:cNvPr name="AutoShape 40" id="40"/>
          <p:cNvSpPr/>
          <p:nvPr/>
        </p:nvSpPr>
        <p:spPr>
          <a:xfrm rot="-815040">
            <a:off x="1576216" y="6014114"/>
            <a:ext cx="216560" cy="0"/>
          </a:xfrm>
          <a:prstGeom prst="line">
            <a:avLst/>
          </a:prstGeom>
          <a:ln cap="rnd" w="28575">
            <a:solidFill>
              <a:srgbClr val="22D3EE"/>
            </a:solidFill>
            <a:prstDash val="solid"/>
            <a:headEnd type="none" len="sm" w="sm"/>
            <a:tailEnd type="none" len="sm" w="sm"/>
          </a:ln>
        </p:spPr>
      </p:sp>
      <p:sp>
        <p:nvSpPr>
          <p:cNvPr name="AutoShape 41" id="41"/>
          <p:cNvSpPr/>
          <p:nvPr/>
        </p:nvSpPr>
        <p:spPr>
          <a:xfrm rot="-846780">
            <a:off x="1738846" y="6009837"/>
            <a:ext cx="217056" cy="0"/>
          </a:xfrm>
          <a:prstGeom prst="line">
            <a:avLst/>
          </a:prstGeom>
          <a:ln cap="rnd" w="28575">
            <a:solidFill>
              <a:srgbClr val="22D3EE"/>
            </a:solidFill>
            <a:prstDash val="solid"/>
            <a:headEnd type="none" len="sm" w="sm"/>
            <a:tailEnd type="none" len="sm" w="sm"/>
          </a:ln>
        </p:spPr>
      </p:sp>
      <p:sp>
        <p:nvSpPr>
          <p:cNvPr name="AutoShape 42" id="42"/>
          <p:cNvSpPr/>
          <p:nvPr/>
        </p:nvSpPr>
        <p:spPr>
          <a:xfrm rot="-897900">
            <a:off x="1901304" y="6002874"/>
            <a:ext cx="217894" cy="0"/>
          </a:xfrm>
          <a:prstGeom prst="line">
            <a:avLst/>
          </a:prstGeom>
          <a:ln cap="rnd" w="28575">
            <a:solidFill>
              <a:srgbClr val="22D3EE"/>
            </a:solidFill>
            <a:prstDash val="solid"/>
            <a:headEnd type="none" len="sm" w="sm"/>
            <a:tailEnd type="none" len="sm" w="sm"/>
          </a:ln>
        </p:spPr>
      </p:sp>
      <p:sp>
        <p:nvSpPr>
          <p:cNvPr name="AutoShape 43" id="43"/>
          <p:cNvSpPr/>
          <p:nvPr/>
        </p:nvSpPr>
        <p:spPr>
          <a:xfrm rot="-978779">
            <a:off x="2063458" y="5991558"/>
            <a:ext cx="219332" cy="0"/>
          </a:xfrm>
          <a:prstGeom prst="line">
            <a:avLst/>
          </a:prstGeom>
          <a:ln cap="rnd" w="28575">
            <a:solidFill>
              <a:srgbClr val="22D3EE"/>
            </a:solidFill>
            <a:prstDash val="solid"/>
            <a:headEnd type="none" len="sm" w="sm"/>
            <a:tailEnd type="none" len="sm" w="sm"/>
          </a:ln>
        </p:spPr>
      </p:sp>
      <p:sp>
        <p:nvSpPr>
          <p:cNvPr name="AutoShape 44" id="44"/>
          <p:cNvSpPr/>
          <p:nvPr/>
        </p:nvSpPr>
        <p:spPr>
          <a:xfrm rot="-1103400">
            <a:off x="2225088" y="5973385"/>
            <a:ext cx="221828" cy="0"/>
          </a:xfrm>
          <a:prstGeom prst="line">
            <a:avLst/>
          </a:prstGeom>
          <a:ln cap="rnd" w="28575">
            <a:solidFill>
              <a:srgbClr val="22D3EE"/>
            </a:solidFill>
            <a:prstDash val="solid"/>
            <a:headEnd type="none" len="sm" w="sm"/>
            <a:tailEnd type="none" len="sm" w="sm"/>
          </a:ln>
        </p:spPr>
      </p:sp>
      <p:sp>
        <p:nvSpPr>
          <p:cNvPr name="AutoShape 45" id="45"/>
          <p:cNvSpPr/>
          <p:nvPr/>
        </p:nvSpPr>
        <p:spPr>
          <a:xfrm rot="-1287240">
            <a:off x="2385793" y="5944657"/>
            <a:ext cx="226171" cy="0"/>
          </a:xfrm>
          <a:prstGeom prst="line">
            <a:avLst/>
          </a:prstGeom>
          <a:ln cap="rnd" w="28575">
            <a:solidFill>
              <a:srgbClr val="22D3EE"/>
            </a:solidFill>
            <a:prstDash val="solid"/>
            <a:headEnd type="none" len="sm" w="sm"/>
            <a:tailEnd type="none" len="sm" w="sm"/>
          </a:ln>
        </p:spPr>
      </p:sp>
      <p:sp>
        <p:nvSpPr>
          <p:cNvPr name="AutoShape 46" id="46"/>
          <p:cNvSpPr/>
          <p:nvPr/>
        </p:nvSpPr>
        <p:spPr>
          <a:xfrm rot="-1539660">
            <a:off x="2544994" y="5900356"/>
            <a:ext cx="233534" cy="0"/>
          </a:xfrm>
          <a:prstGeom prst="line">
            <a:avLst/>
          </a:prstGeom>
          <a:ln cap="rnd" w="28575">
            <a:solidFill>
              <a:srgbClr val="22D3EE"/>
            </a:solidFill>
            <a:prstDash val="solid"/>
            <a:headEnd type="none" len="sm" w="sm"/>
            <a:tailEnd type="none" len="sm" w="sm"/>
          </a:ln>
        </p:spPr>
      </p:sp>
      <p:sp>
        <p:nvSpPr>
          <p:cNvPr name="AutoShape 47" id="47"/>
          <p:cNvSpPr/>
          <p:nvPr/>
        </p:nvSpPr>
        <p:spPr>
          <a:xfrm rot="-1850220">
            <a:off x="2702062" y="5834577"/>
            <a:ext cx="245164" cy="0"/>
          </a:xfrm>
          <a:prstGeom prst="line">
            <a:avLst/>
          </a:prstGeom>
          <a:ln cap="rnd" w="28575">
            <a:solidFill>
              <a:srgbClr val="22D3EE"/>
            </a:solidFill>
            <a:prstDash val="solid"/>
            <a:headEnd type="none" len="sm" w="sm"/>
            <a:tailEnd type="none" len="sm" w="sm"/>
          </a:ln>
        </p:spPr>
      </p:sp>
      <p:sp>
        <p:nvSpPr>
          <p:cNvPr name="AutoShape 48" id="48"/>
          <p:cNvSpPr/>
          <p:nvPr/>
        </p:nvSpPr>
        <p:spPr>
          <a:xfrm rot="-2175840">
            <a:off x="2856986" y="5742156"/>
            <a:ext cx="261071" cy="0"/>
          </a:xfrm>
          <a:prstGeom prst="line">
            <a:avLst/>
          </a:prstGeom>
          <a:ln cap="rnd" w="28575">
            <a:solidFill>
              <a:srgbClr val="22D3EE"/>
            </a:solidFill>
            <a:prstDash val="solid"/>
            <a:headEnd type="none" len="sm" w="sm"/>
            <a:tailEnd type="none" len="sm" w="sm"/>
          </a:ln>
        </p:spPr>
      </p:sp>
      <p:sp>
        <p:nvSpPr>
          <p:cNvPr name="AutoShape 49" id="49"/>
          <p:cNvSpPr/>
          <p:nvPr/>
        </p:nvSpPr>
        <p:spPr>
          <a:xfrm rot="-2447820">
            <a:off x="3011357" y="5621731"/>
            <a:ext cx="278063" cy="0"/>
          </a:xfrm>
          <a:prstGeom prst="line">
            <a:avLst/>
          </a:prstGeom>
          <a:ln cap="rnd" w="28575">
            <a:solidFill>
              <a:srgbClr val="22D3EE"/>
            </a:solidFill>
            <a:prstDash val="solid"/>
            <a:headEnd type="none" len="sm" w="sm"/>
            <a:tailEnd type="none" len="sm" w="sm"/>
          </a:ln>
        </p:spPr>
      </p:sp>
      <p:sp>
        <p:nvSpPr>
          <p:cNvPr name="AutoShape 50" id="50"/>
          <p:cNvSpPr/>
          <p:nvPr/>
        </p:nvSpPr>
        <p:spPr>
          <a:xfrm rot="-2601660">
            <a:off x="3168501" y="5479113"/>
            <a:ext cx="289531" cy="0"/>
          </a:xfrm>
          <a:prstGeom prst="line">
            <a:avLst/>
          </a:prstGeom>
          <a:ln cap="rnd" w="28575">
            <a:solidFill>
              <a:srgbClr val="22D3EE"/>
            </a:solidFill>
            <a:prstDash val="solid"/>
            <a:headEnd type="none" len="sm" w="sm"/>
            <a:tailEnd type="none" len="sm" w="sm"/>
          </a:ln>
        </p:spPr>
      </p:sp>
      <p:sp>
        <p:nvSpPr>
          <p:cNvPr name="AutoShape 51" id="51"/>
          <p:cNvSpPr/>
          <p:nvPr/>
        </p:nvSpPr>
        <p:spPr>
          <a:xfrm rot="-2601660">
            <a:off x="3331378" y="5327952"/>
            <a:ext cx="289531" cy="0"/>
          </a:xfrm>
          <a:prstGeom prst="line">
            <a:avLst/>
          </a:prstGeom>
          <a:ln cap="rnd" w="28575">
            <a:solidFill>
              <a:srgbClr val="22D3EE"/>
            </a:solidFill>
            <a:prstDash val="solid"/>
            <a:headEnd type="none" len="sm" w="sm"/>
            <a:tailEnd type="none" len="sm" w="sm"/>
          </a:ln>
        </p:spPr>
      </p:sp>
      <p:sp>
        <p:nvSpPr>
          <p:cNvPr name="AutoShape 52" id="52"/>
          <p:cNvSpPr/>
          <p:nvPr/>
        </p:nvSpPr>
        <p:spPr>
          <a:xfrm rot="-2447820">
            <a:off x="3499990" y="5185334"/>
            <a:ext cx="278063" cy="0"/>
          </a:xfrm>
          <a:prstGeom prst="line">
            <a:avLst/>
          </a:prstGeom>
          <a:ln cap="rnd" w="28575">
            <a:solidFill>
              <a:srgbClr val="22D3EE"/>
            </a:solidFill>
            <a:prstDash val="solid"/>
            <a:headEnd type="none" len="sm" w="sm"/>
            <a:tailEnd type="none" len="sm" w="sm"/>
          </a:ln>
        </p:spPr>
      </p:sp>
      <p:sp>
        <p:nvSpPr>
          <p:cNvPr name="AutoShape 53" id="53"/>
          <p:cNvSpPr/>
          <p:nvPr/>
        </p:nvSpPr>
        <p:spPr>
          <a:xfrm rot="-2175840">
            <a:off x="3671373" y="5064909"/>
            <a:ext cx="261071" cy="0"/>
          </a:xfrm>
          <a:prstGeom prst="line">
            <a:avLst/>
          </a:prstGeom>
          <a:ln cap="rnd" w="28575">
            <a:solidFill>
              <a:srgbClr val="22D3EE"/>
            </a:solidFill>
            <a:prstDash val="solid"/>
            <a:headEnd type="none" len="sm" w="sm"/>
            <a:tailEnd type="none" len="sm" w="sm"/>
          </a:ln>
        </p:spPr>
      </p:sp>
      <p:sp>
        <p:nvSpPr>
          <p:cNvPr name="AutoShape 54" id="54"/>
          <p:cNvSpPr/>
          <p:nvPr/>
        </p:nvSpPr>
        <p:spPr>
          <a:xfrm rot="-1850220">
            <a:off x="3842204" y="4972488"/>
            <a:ext cx="245164" cy="0"/>
          </a:xfrm>
          <a:prstGeom prst="line">
            <a:avLst/>
          </a:prstGeom>
          <a:ln cap="rnd" w="28575">
            <a:solidFill>
              <a:srgbClr val="22D3EE"/>
            </a:solidFill>
            <a:prstDash val="solid"/>
            <a:headEnd type="none" len="sm" w="sm"/>
            <a:tailEnd type="none" len="sm" w="sm"/>
          </a:ln>
        </p:spPr>
      </p:sp>
      <p:sp>
        <p:nvSpPr>
          <p:cNvPr name="AutoShape 55" id="55"/>
          <p:cNvSpPr/>
          <p:nvPr/>
        </p:nvSpPr>
        <p:spPr>
          <a:xfrm rot="-1539660">
            <a:off x="4010892" y="4906708"/>
            <a:ext cx="233534" cy="0"/>
          </a:xfrm>
          <a:prstGeom prst="line">
            <a:avLst/>
          </a:prstGeom>
          <a:ln cap="rnd" w="28575">
            <a:solidFill>
              <a:srgbClr val="22D3EE"/>
            </a:solidFill>
            <a:prstDash val="solid"/>
            <a:headEnd type="none" len="sm" w="sm"/>
            <a:tailEnd type="none" len="sm" w="sm"/>
          </a:ln>
        </p:spPr>
      </p:sp>
      <p:sp>
        <p:nvSpPr>
          <p:cNvPr name="AutoShape 56" id="56"/>
          <p:cNvSpPr/>
          <p:nvPr/>
        </p:nvSpPr>
        <p:spPr>
          <a:xfrm rot="-1287240">
            <a:off x="4177446" y="4862408"/>
            <a:ext cx="226171" cy="0"/>
          </a:xfrm>
          <a:prstGeom prst="line">
            <a:avLst/>
          </a:prstGeom>
          <a:ln cap="rnd" w="28575">
            <a:solidFill>
              <a:srgbClr val="22D3EE"/>
            </a:solidFill>
            <a:prstDash val="solid"/>
            <a:headEnd type="none" len="sm" w="sm"/>
            <a:tailEnd type="none" len="sm" w="sm"/>
          </a:ln>
        </p:spPr>
      </p:sp>
      <p:sp>
        <p:nvSpPr>
          <p:cNvPr name="AutoShape 57" id="57"/>
          <p:cNvSpPr/>
          <p:nvPr/>
        </p:nvSpPr>
        <p:spPr>
          <a:xfrm rot="-1103400">
            <a:off x="4342495" y="4833680"/>
            <a:ext cx="221828" cy="0"/>
          </a:xfrm>
          <a:prstGeom prst="line">
            <a:avLst/>
          </a:prstGeom>
          <a:ln cap="rnd" w="28575">
            <a:solidFill>
              <a:srgbClr val="22D3EE"/>
            </a:solidFill>
            <a:prstDash val="solid"/>
            <a:headEnd type="none" len="sm" w="sm"/>
            <a:tailEnd type="none" len="sm" w="sm"/>
          </a:ln>
        </p:spPr>
      </p:sp>
      <p:sp>
        <p:nvSpPr>
          <p:cNvPr name="AutoShape 58" id="58"/>
          <p:cNvSpPr/>
          <p:nvPr/>
        </p:nvSpPr>
        <p:spPr>
          <a:xfrm rot="-978779">
            <a:off x="4506620" y="4815507"/>
            <a:ext cx="219332" cy="0"/>
          </a:xfrm>
          <a:prstGeom prst="line">
            <a:avLst/>
          </a:prstGeom>
          <a:ln cap="rnd" w="28575">
            <a:solidFill>
              <a:srgbClr val="22D3EE"/>
            </a:solidFill>
            <a:prstDash val="solid"/>
            <a:headEnd type="none" len="sm" w="sm"/>
            <a:tailEnd type="none" len="sm" w="sm"/>
          </a:ln>
        </p:spPr>
      </p:sp>
      <p:sp>
        <p:nvSpPr>
          <p:cNvPr name="AutoShape 59" id="59"/>
          <p:cNvSpPr/>
          <p:nvPr/>
        </p:nvSpPr>
        <p:spPr>
          <a:xfrm rot="-897900">
            <a:off x="4670222" y="4804191"/>
            <a:ext cx="217894" cy="0"/>
          </a:xfrm>
          <a:prstGeom prst="line">
            <a:avLst/>
          </a:prstGeom>
          <a:ln cap="rnd" w="28575">
            <a:solidFill>
              <a:srgbClr val="22D3EE"/>
            </a:solidFill>
            <a:prstDash val="solid"/>
            <a:headEnd type="none" len="sm" w="sm"/>
            <a:tailEnd type="none" len="sm" w="sm"/>
          </a:ln>
        </p:spPr>
      </p:sp>
      <p:sp>
        <p:nvSpPr>
          <p:cNvPr name="AutoShape 60" id="60"/>
          <p:cNvSpPr/>
          <p:nvPr/>
        </p:nvSpPr>
        <p:spPr>
          <a:xfrm rot="-846780">
            <a:off x="4833518" y="4797228"/>
            <a:ext cx="217056" cy="0"/>
          </a:xfrm>
          <a:prstGeom prst="line">
            <a:avLst/>
          </a:prstGeom>
          <a:ln cap="rnd" w="28575">
            <a:solidFill>
              <a:srgbClr val="22D3EE"/>
            </a:solidFill>
            <a:prstDash val="solid"/>
            <a:headEnd type="none" len="sm" w="sm"/>
            <a:tailEnd type="none" len="sm" w="sm"/>
          </a:ln>
        </p:spPr>
      </p:sp>
      <p:sp>
        <p:nvSpPr>
          <p:cNvPr name="AutoShape 61" id="61"/>
          <p:cNvSpPr/>
          <p:nvPr/>
        </p:nvSpPr>
        <p:spPr>
          <a:xfrm rot="-815040">
            <a:off x="4996644" y="4792951"/>
            <a:ext cx="216560" cy="0"/>
          </a:xfrm>
          <a:prstGeom prst="line">
            <a:avLst/>
          </a:prstGeom>
          <a:ln cap="rnd" w="28575">
            <a:solidFill>
              <a:srgbClr val="22D3EE"/>
            </a:solidFill>
            <a:prstDash val="solid"/>
            <a:headEnd type="none" len="sm" w="sm"/>
            <a:tailEnd type="none" len="sm" w="sm"/>
          </a:ln>
        </p:spPr>
      </p:sp>
      <p:sp>
        <p:nvSpPr>
          <p:cNvPr name="AutoShape 62" id="62"/>
          <p:cNvSpPr/>
          <p:nvPr/>
        </p:nvSpPr>
        <p:spPr>
          <a:xfrm rot="-795480">
            <a:off x="5159664" y="4790351"/>
            <a:ext cx="216265" cy="0"/>
          </a:xfrm>
          <a:prstGeom prst="line">
            <a:avLst/>
          </a:prstGeom>
          <a:ln cap="rnd" w="28575">
            <a:solidFill>
              <a:srgbClr val="22D3EE"/>
            </a:solidFill>
            <a:prstDash val="solid"/>
            <a:headEnd type="none" len="sm" w="sm"/>
            <a:tailEnd type="none" len="sm" w="sm"/>
          </a:ln>
        </p:spPr>
      </p:sp>
      <p:sp>
        <p:nvSpPr>
          <p:cNvPr name="AutoShape 63" id="63"/>
          <p:cNvSpPr/>
          <p:nvPr/>
        </p:nvSpPr>
        <p:spPr>
          <a:xfrm rot="16680">
            <a:off x="1430636" y="5413058"/>
            <a:ext cx="3928158" cy="0"/>
          </a:xfrm>
          <a:prstGeom prst="line">
            <a:avLst/>
          </a:prstGeom>
          <a:ln cap="rnd" w="9525">
            <a:solidFill>
              <a:srgbClr val="2A323D"/>
            </a:solidFill>
            <a:prstDash val="solid"/>
            <a:headEnd type="none" len="sm" w="sm"/>
            <a:tailEnd type="none" len="sm" w="sm"/>
          </a:ln>
        </p:spPr>
      </p:sp>
      <p:grpSp>
        <p:nvGrpSpPr>
          <p:cNvPr name="Group 64" id="64"/>
          <p:cNvGrpSpPr/>
          <p:nvPr/>
        </p:nvGrpSpPr>
        <p:grpSpPr>
          <a:xfrm rot="0">
            <a:off x="1681658" y="5963793"/>
            <a:ext cx="142494" cy="142494"/>
            <a:chOff x="0" y="0"/>
            <a:chExt cx="189992" cy="189992"/>
          </a:xfrm>
        </p:grpSpPr>
        <p:sp>
          <p:nvSpPr>
            <p:cNvPr name="Freeform 65" id="65"/>
            <p:cNvSpPr/>
            <p:nvPr/>
          </p:nvSpPr>
          <p:spPr>
            <a:xfrm flipH="false" flipV="false" rot="0">
              <a:off x="0" y="0"/>
              <a:ext cx="189992" cy="189992"/>
            </a:xfrm>
            <a:custGeom>
              <a:avLst/>
              <a:gdLst/>
              <a:ahLst/>
              <a:cxnLst/>
              <a:rect r="r" b="b" t="t" l="l"/>
              <a:pathLst>
                <a:path h="189992" w="189992">
                  <a:moveTo>
                    <a:pt x="0" y="94996"/>
                  </a:moveTo>
                  <a:cubicBezTo>
                    <a:pt x="0" y="42545"/>
                    <a:pt x="42545" y="0"/>
                    <a:pt x="94996" y="0"/>
                  </a:cubicBezTo>
                  <a:cubicBezTo>
                    <a:pt x="147447" y="0"/>
                    <a:pt x="189992" y="42545"/>
                    <a:pt x="189992" y="94996"/>
                  </a:cubicBezTo>
                  <a:cubicBezTo>
                    <a:pt x="189992" y="147447"/>
                    <a:pt x="147447" y="189992"/>
                    <a:pt x="94996" y="189992"/>
                  </a:cubicBezTo>
                  <a:cubicBezTo>
                    <a:pt x="42545" y="189992"/>
                    <a:pt x="0" y="147447"/>
                    <a:pt x="0" y="94996"/>
                  </a:cubicBezTo>
                  <a:close/>
                </a:path>
              </a:pathLst>
            </a:custGeom>
            <a:solidFill>
              <a:srgbClr val="9AA4B2"/>
            </a:solidFill>
            <a:ln w="19050" cap="sq">
              <a:solidFill>
                <a:srgbClr val="9AA4B2"/>
              </a:solidFill>
              <a:prstDash val="solid"/>
              <a:miter/>
            </a:ln>
          </p:spPr>
        </p:sp>
      </p:grpSp>
      <p:grpSp>
        <p:nvGrpSpPr>
          <p:cNvPr name="Group 66" id="66"/>
          <p:cNvGrpSpPr/>
          <p:nvPr/>
        </p:nvGrpSpPr>
        <p:grpSpPr>
          <a:xfrm rot="0">
            <a:off x="2150745" y="5963793"/>
            <a:ext cx="142494" cy="142494"/>
            <a:chOff x="0" y="0"/>
            <a:chExt cx="189992" cy="189992"/>
          </a:xfrm>
        </p:grpSpPr>
        <p:sp>
          <p:nvSpPr>
            <p:cNvPr name="Freeform 67" id="67"/>
            <p:cNvSpPr/>
            <p:nvPr/>
          </p:nvSpPr>
          <p:spPr>
            <a:xfrm flipH="false" flipV="false" rot="0">
              <a:off x="0" y="0"/>
              <a:ext cx="189992" cy="189992"/>
            </a:xfrm>
            <a:custGeom>
              <a:avLst/>
              <a:gdLst/>
              <a:ahLst/>
              <a:cxnLst/>
              <a:rect r="r" b="b" t="t" l="l"/>
              <a:pathLst>
                <a:path h="189992" w="189992">
                  <a:moveTo>
                    <a:pt x="0" y="94996"/>
                  </a:moveTo>
                  <a:cubicBezTo>
                    <a:pt x="0" y="42545"/>
                    <a:pt x="42545" y="0"/>
                    <a:pt x="94996" y="0"/>
                  </a:cubicBezTo>
                  <a:cubicBezTo>
                    <a:pt x="147447" y="0"/>
                    <a:pt x="189992" y="42545"/>
                    <a:pt x="189992" y="94996"/>
                  </a:cubicBezTo>
                  <a:cubicBezTo>
                    <a:pt x="189992" y="147447"/>
                    <a:pt x="147447" y="189992"/>
                    <a:pt x="94996" y="189992"/>
                  </a:cubicBezTo>
                  <a:cubicBezTo>
                    <a:pt x="42545" y="189992"/>
                    <a:pt x="0" y="147447"/>
                    <a:pt x="0" y="94996"/>
                  </a:cubicBezTo>
                  <a:close/>
                </a:path>
              </a:pathLst>
            </a:custGeom>
            <a:solidFill>
              <a:srgbClr val="9AA4B2"/>
            </a:solidFill>
            <a:ln w="19050" cap="sq">
              <a:solidFill>
                <a:srgbClr val="9AA4B2"/>
              </a:solidFill>
              <a:prstDash val="solid"/>
              <a:miter/>
            </a:ln>
          </p:spPr>
        </p:sp>
      </p:grpSp>
      <p:grpSp>
        <p:nvGrpSpPr>
          <p:cNvPr name="Group 68" id="68"/>
          <p:cNvGrpSpPr/>
          <p:nvPr/>
        </p:nvGrpSpPr>
        <p:grpSpPr>
          <a:xfrm rot="0">
            <a:off x="2619832" y="5963793"/>
            <a:ext cx="142494" cy="142494"/>
            <a:chOff x="0" y="0"/>
            <a:chExt cx="189992" cy="189992"/>
          </a:xfrm>
        </p:grpSpPr>
        <p:sp>
          <p:nvSpPr>
            <p:cNvPr name="Freeform 69" id="69"/>
            <p:cNvSpPr/>
            <p:nvPr/>
          </p:nvSpPr>
          <p:spPr>
            <a:xfrm flipH="false" flipV="false" rot="0">
              <a:off x="0" y="0"/>
              <a:ext cx="189992" cy="189992"/>
            </a:xfrm>
            <a:custGeom>
              <a:avLst/>
              <a:gdLst/>
              <a:ahLst/>
              <a:cxnLst/>
              <a:rect r="r" b="b" t="t" l="l"/>
              <a:pathLst>
                <a:path h="189992" w="189992">
                  <a:moveTo>
                    <a:pt x="0" y="94996"/>
                  </a:moveTo>
                  <a:cubicBezTo>
                    <a:pt x="0" y="42545"/>
                    <a:pt x="42545" y="0"/>
                    <a:pt x="94996" y="0"/>
                  </a:cubicBezTo>
                  <a:cubicBezTo>
                    <a:pt x="147447" y="0"/>
                    <a:pt x="189992" y="42545"/>
                    <a:pt x="189992" y="94996"/>
                  </a:cubicBezTo>
                  <a:cubicBezTo>
                    <a:pt x="189992" y="147447"/>
                    <a:pt x="147447" y="189992"/>
                    <a:pt x="94996" y="189992"/>
                  </a:cubicBezTo>
                  <a:cubicBezTo>
                    <a:pt x="42545" y="189992"/>
                    <a:pt x="0" y="147447"/>
                    <a:pt x="0" y="94996"/>
                  </a:cubicBezTo>
                  <a:close/>
                </a:path>
              </a:pathLst>
            </a:custGeom>
            <a:solidFill>
              <a:srgbClr val="9AA4B2"/>
            </a:solidFill>
            <a:ln w="19050" cap="sq">
              <a:solidFill>
                <a:srgbClr val="9AA4B2"/>
              </a:solidFill>
              <a:prstDash val="solid"/>
              <a:miter/>
            </a:ln>
          </p:spPr>
        </p:sp>
      </p:grpSp>
      <p:grpSp>
        <p:nvGrpSpPr>
          <p:cNvPr name="Group 70" id="70"/>
          <p:cNvGrpSpPr/>
          <p:nvPr/>
        </p:nvGrpSpPr>
        <p:grpSpPr>
          <a:xfrm rot="0">
            <a:off x="3010738" y="5963793"/>
            <a:ext cx="142494" cy="142494"/>
            <a:chOff x="0" y="0"/>
            <a:chExt cx="189992" cy="189992"/>
          </a:xfrm>
        </p:grpSpPr>
        <p:sp>
          <p:nvSpPr>
            <p:cNvPr name="Freeform 71" id="71"/>
            <p:cNvSpPr/>
            <p:nvPr/>
          </p:nvSpPr>
          <p:spPr>
            <a:xfrm flipH="false" flipV="false" rot="0">
              <a:off x="0" y="0"/>
              <a:ext cx="189992" cy="189992"/>
            </a:xfrm>
            <a:custGeom>
              <a:avLst/>
              <a:gdLst/>
              <a:ahLst/>
              <a:cxnLst/>
              <a:rect r="r" b="b" t="t" l="l"/>
              <a:pathLst>
                <a:path h="189992" w="189992">
                  <a:moveTo>
                    <a:pt x="0" y="94996"/>
                  </a:moveTo>
                  <a:cubicBezTo>
                    <a:pt x="0" y="42545"/>
                    <a:pt x="42545" y="0"/>
                    <a:pt x="94996" y="0"/>
                  </a:cubicBezTo>
                  <a:cubicBezTo>
                    <a:pt x="147447" y="0"/>
                    <a:pt x="189992" y="42545"/>
                    <a:pt x="189992" y="94996"/>
                  </a:cubicBezTo>
                  <a:cubicBezTo>
                    <a:pt x="189992" y="147447"/>
                    <a:pt x="147447" y="189992"/>
                    <a:pt x="94996" y="189992"/>
                  </a:cubicBezTo>
                  <a:cubicBezTo>
                    <a:pt x="42545" y="189992"/>
                    <a:pt x="0" y="147447"/>
                    <a:pt x="0" y="94996"/>
                  </a:cubicBezTo>
                  <a:close/>
                </a:path>
              </a:pathLst>
            </a:custGeom>
            <a:solidFill>
              <a:srgbClr val="9AA4B2"/>
            </a:solidFill>
            <a:ln w="19050" cap="sq">
              <a:solidFill>
                <a:srgbClr val="9AA4B2"/>
              </a:solidFill>
              <a:prstDash val="solid"/>
              <a:miter/>
            </a:ln>
          </p:spPr>
        </p:sp>
      </p:grpSp>
      <p:grpSp>
        <p:nvGrpSpPr>
          <p:cNvPr name="Group 72" id="72"/>
          <p:cNvGrpSpPr/>
          <p:nvPr/>
        </p:nvGrpSpPr>
        <p:grpSpPr>
          <a:xfrm rot="0">
            <a:off x="3636188" y="4729353"/>
            <a:ext cx="142494" cy="142494"/>
            <a:chOff x="0" y="0"/>
            <a:chExt cx="189992" cy="189992"/>
          </a:xfrm>
        </p:grpSpPr>
        <p:sp>
          <p:nvSpPr>
            <p:cNvPr name="Freeform 73" id="73"/>
            <p:cNvSpPr/>
            <p:nvPr/>
          </p:nvSpPr>
          <p:spPr>
            <a:xfrm flipH="false" flipV="false" rot="0">
              <a:off x="0" y="0"/>
              <a:ext cx="189992" cy="189992"/>
            </a:xfrm>
            <a:custGeom>
              <a:avLst/>
              <a:gdLst/>
              <a:ahLst/>
              <a:cxnLst/>
              <a:rect r="r" b="b" t="t" l="l"/>
              <a:pathLst>
                <a:path h="189992" w="189992">
                  <a:moveTo>
                    <a:pt x="0" y="94996"/>
                  </a:moveTo>
                  <a:cubicBezTo>
                    <a:pt x="0" y="42545"/>
                    <a:pt x="42545" y="0"/>
                    <a:pt x="94996" y="0"/>
                  </a:cubicBezTo>
                  <a:cubicBezTo>
                    <a:pt x="147447" y="0"/>
                    <a:pt x="189992" y="42545"/>
                    <a:pt x="189992" y="94996"/>
                  </a:cubicBezTo>
                  <a:cubicBezTo>
                    <a:pt x="189992" y="147447"/>
                    <a:pt x="147447" y="189992"/>
                    <a:pt x="94996" y="189992"/>
                  </a:cubicBezTo>
                  <a:cubicBezTo>
                    <a:pt x="42545" y="189992"/>
                    <a:pt x="0" y="147447"/>
                    <a:pt x="0" y="94996"/>
                  </a:cubicBezTo>
                  <a:close/>
                </a:path>
              </a:pathLst>
            </a:custGeom>
            <a:solidFill>
              <a:srgbClr val="4ADE80"/>
            </a:solidFill>
            <a:ln w="19050" cap="sq">
              <a:solidFill>
                <a:srgbClr val="4ADE80"/>
              </a:solidFill>
              <a:prstDash val="solid"/>
              <a:miter/>
            </a:ln>
          </p:spPr>
        </p:sp>
      </p:grpSp>
      <p:grpSp>
        <p:nvGrpSpPr>
          <p:cNvPr name="Group 74" id="74"/>
          <p:cNvGrpSpPr/>
          <p:nvPr/>
        </p:nvGrpSpPr>
        <p:grpSpPr>
          <a:xfrm rot="0">
            <a:off x="4105275" y="4729353"/>
            <a:ext cx="142494" cy="142494"/>
            <a:chOff x="0" y="0"/>
            <a:chExt cx="189992" cy="189992"/>
          </a:xfrm>
        </p:grpSpPr>
        <p:sp>
          <p:nvSpPr>
            <p:cNvPr name="Freeform 75" id="75"/>
            <p:cNvSpPr/>
            <p:nvPr/>
          </p:nvSpPr>
          <p:spPr>
            <a:xfrm flipH="false" flipV="false" rot="0">
              <a:off x="0" y="0"/>
              <a:ext cx="189992" cy="189992"/>
            </a:xfrm>
            <a:custGeom>
              <a:avLst/>
              <a:gdLst/>
              <a:ahLst/>
              <a:cxnLst/>
              <a:rect r="r" b="b" t="t" l="l"/>
              <a:pathLst>
                <a:path h="189992" w="189992">
                  <a:moveTo>
                    <a:pt x="0" y="94996"/>
                  </a:moveTo>
                  <a:cubicBezTo>
                    <a:pt x="0" y="42545"/>
                    <a:pt x="42545" y="0"/>
                    <a:pt x="94996" y="0"/>
                  </a:cubicBezTo>
                  <a:cubicBezTo>
                    <a:pt x="147447" y="0"/>
                    <a:pt x="189992" y="42545"/>
                    <a:pt x="189992" y="94996"/>
                  </a:cubicBezTo>
                  <a:cubicBezTo>
                    <a:pt x="189992" y="147447"/>
                    <a:pt x="147447" y="189992"/>
                    <a:pt x="94996" y="189992"/>
                  </a:cubicBezTo>
                  <a:cubicBezTo>
                    <a:pt x="42545" y="189992"/>
                    <a:pt x="0" y="147447"/>
                    <a:pt x="0" y="94996"/>
                  </a:cubicBezTo>
                  <a:close/>
                </a:path>
              </a:pathLst>
            </a:custGeom>
            <a:solidFill>
              <a:srgbClr val="4ADE80"/>
            </a:solidFill>
            <a:ln w="19050" cap="sq">
              <a:solidFill>
                <a:srgbClr val="4ADE80"/>
              </a:solidFill>
              <a:prstDash val="solid"/>
              <a:miter/>
            </a:ln>
          </p:spPr>
        </p:sp>
      </p:grpSp>
      <p:grpSp>
        <p:nvGrpSpPr>
          <p:cNvPr name="Group 76" id="76"/>
          <p:cNvGrpSpPr/>
          <p:nvPr/>
        </p:nvGrpSpPr>
        <p:grpSpPr>
          <a:xfrm rot="0">
            <a:off x="4574362" y="4729353"/>
            <a:ext cx="142494" cy="142494"/>
            <a:chOff x="0" y="0"/>
            <a:chExt cx="189992" cy="189992"/>
          </a:xfrm>
        </p:grpSpPr>
        <p:sp>
          <p:nvSpPr>
            <p:cNvPr name="Freeform 77" id="77"/>
            <p:cNvSpPr/>
            <p:nvPr/>
          </p:nvSpPr>
          <p:spPr>
            <a:xfrm flipH="false" flipV="false" rot="0">
              <a:off x="0" y="0"/>
              <a:ext cx="189992" cy="189992"/>
            </a:xfrm>
            <a:custGeom>
              <a:avLst/>
              <a:gdLst/>
              <a:ahLst/>
              <a:cxnLst/>
              <a:rect r="r" b="b" t="t" l="l"/>
              <a:pathLst>
                <a:path h="189992" w="189992">
                  <a:moveTo>
                    <a:pt x="0" y="94996"/>
                  </a:moveTo>
                  <a:cubicBezTo>
                    <a:pt x="0" y="42545"/>
                    <a:pt x="42545" y="0"/>
                    <a:pt x="94996" y="0"/>
                  </a:cubicBezTo>
                  <a:cubicBezTo>
                    <a:pt x="147447" y="0"/>
                    <a:pt x="189992" y="42545"/>
                    <a:pt x="189992" y="94996"/>
                  </a:cubicBezTo>
                  <a:cubicBezTo>
                    <a:pt x="189992" y="147447"/>
                    <a:pt x="147447" y="189992"/>
                    <a:pt x="94996" y="189992"/>
                  </a:cubicBezTo>
                  <a:cubicBezTo>
                    <a:pt x="42545" y="189992"/>
                    <a:pt x="0" y="147447"/>
                    <a:pt x="0" y="94996"/>
                  </a:cubicBezTo>
                  <a:close/>
                </a:path>
              </a:pathLst>
            </a:custGeom>
            <a:solidFill>
              <a:srgbClr val="4ADE80"/>
            </a:solidFill>
            <a:ln w="19050" cap="sq">
              <a:solidFill>
                <a:srgbClr val="4ADE80"/>
              </a:solidFill>
              <a:prstDash val="solid"/>
              <a:miter/>
            </a:ln>
          </p:spPr>
        </p:sp>
      </p:grpSp>
      <p:grpSp>
        <p:nvGrpSpPr>
          <p:cNvPr name="Group 78" id="78"/>
          <p:cNvGrpSpPr/>
          <p:nvPr/>
        </p:nvGrpSpPr>
        <p:grpSpPr>
          <a:xfrm rot="0">
            <a:off x="4965268" y="4729353"/>
            <a:ext cx="142494" cy="142494"/>
            <a:chOff x="0" y="0"/>
            <a:chExt cx="189992" cy="189992"/>
          </a:xfrm>
        </p:grpSpPr>
        <p:sp>
          <p:nvSpPr>
            <p:cNvPr name="Freeform 79" id="79"/>
            <p:cNvSpPr/>
            <p:nvPr/>
          </p:nvSpPr>
          <p:spPr>
            <a:xfrm flipH="false" flipV="false" rot="0">
              <a:off x="0" y="0"/>
              <a:ext cx="189992" cy="189992"/>
            </a:xfrm>
            <a:custGeom>
              <a:avLst/>
              <a:gdLst/>
              <a:ahLst/>
              <a:cxnLst/>
              <a:rect r="r" b="b" t="t" l="l"/>
              <a:pathLst>
                <a:path h="189992" w="189992">
                  <a:moveTo>
                    <a:pt x="0" y="94996"/>
                  </a:moveTo>
                  <a:cubicBezTo>
                    <a:pt x="0" y="42545"/>
                    <a:pt x="42545" y="0"/>
                    <a:pt x="94996" y="0"/>
                  </a:cubicBezTo>
                  <a:cubicBezTo>
                    <a:pt x="147447" y="0"/>
                    <a:pt x="189992" y="42545"/>
                    <a:pt x="189992" y="94996"/>
                  </a:cubicBezTo>
                  <a:cubicBezTo>
                    <a:pt x="189992" y="147447"/>
                    <a:pt x="147447" y="189992"/>
                    <a:pt x="94996" y="189992"/>
                  </a:cubicBezTo>
                  <a:cubicBezTo>
                    <a:pt x="42545" y="189992"/>
                    <a:pt x="0" y="147447"/>
                    <a:pt x="0" y="94996"/>
                  </a:cubicBezTo>
                  <a:close/>
                </a:path>
              </a:pathLst>
            </a:custGeom>
            <a:solidFill>
              <a:srgbClr val="4ADE80"/>
            </a:solidFill>
            <a:ln w="19050" cap="sq">
              <a:solidFill>
                <a:srgbClr val="4ADE80"/>
              </a:solidFill>
              <a:prstDash val="solid"/>
              <a:miter/>
            </a:ln>
          </p:spPr>
        </p:sp>
      </p:grpSp>
      <p:sp>
        <p:nvSpPr>
          <p:cNvPr name="TextBox 80" id="80"/>
          <p:cNvSpPr txBox="true"/>
          <p:nvPr/>
        </p:nvSpPr>
        <p:spPr>
          <a:xfrm rot="0">
            <a:off x="1165860" y="6426327"/>
            <a:ext cx="4526280" cy="1624965"/>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E8ECF1"/>
                </a:solidFill>
                <a:latin typeface="Calibri (MS)"/>
                <a:ea typeface="Calibri (MS)"/>
                <a:cs typeface="Calibri (MS)"/>
                <a:sym typeface="Calibri (MS)"/>
              </a:rPr>
              <a:t>Outputs a probability (0 to 1)</a:t>
            </a:r>
          </a:p>
          <a:p>
            <a:pPr algn="l" marL="352901" indent="-176451" lvl="1">
              <a:lnSpc>
                <a:spcPts val="2340"/>
              </a:lnSpc>
              <a:buFont typeface="Arial"/>
              <a:buChar char="•"/>
            </a:pPr>
            <a:r>
              <a:rPr lang="en-US" sz="1950">
                <a:solidFill>
                  <a:srgbClr val="E8ECF1"/>
                </a:solidFill>
                <a:latin typeface="Calibri (MS)"/>
                <a:ea typeface="Calibri (MS)"/>
                <a:cs typeface="Calibri (MS)"/>
                <a:sym typeface="Calibri (MS)"/>
              </a:rPr>
              <a:t>Above 0.5 means High</a:t>
            </a:r>
          </a:p>
          <a:p>
            <a:pPr algn="l" marL="352901" indent="-176451" lvl="1">
              <a:lnSpc>
                <a:spcPts val="2340"/>
              </a:lnSpc>
              <a:buFont typeface="Arial"/>
              <a:buChar char="•"/>
            </a:pPr>
            <a:r>
              <a:rPr lang="en-US" sz="1950">
                <a:solidFill>
                  <a:srgbClr val="E8ECF1"/>
                </a:solidFill>
                <a:latin typeface="Calibri (MS)"/>
                <a:ea typeface="Calibri (MS)"/>
                <a:cs typeface="Calibri (MS)"/>
                <a:sym typeface="Calibri (MS)"/>
              </a:rPr>
              <a:t>Needs scaled inputs</a:t>
            </a:r>
          </a:p>
        </p:txBody>
      </p:sp>
      <p:grpSp>
        <p:nvGrpSpPr>
          <p:cNvPr name="Group 81" id="81"/>
          <p:cNvGrpSpPr/>
          <p:nvPr/>
        </p:nvGrpSpPr>
        <p:grpSpPr>
          <a:xfrm rot="0">
            <a:off x="6233636" y="3764756"/>
            <a:ext cx="5157788" cy="4403408"/>
            <a:chOff x="0" y="0"/>
            <a:chExt cx="6877050" cy="5871210"/>
          </a:xfrm>
        </p:grpSpPr>
        <p:sp>
          <p:nvSpPr>
            <p:cNvPr name="Freeform 82" id="82"/>
            <p:cNvSpPr/>
            <p:nvPr/>
          </p:nvSpPr>
          <p:spPr>
            <a:xfrm flipH="false" flipV="false" rot="0">
              <a:off x="0" y="0"/>
              <a:ext cx="6877050" cy="5871210"/>
            </a:xfrm>
            <a:custGeom>
              <a:avLst/>
              <a:gdLst/>
              <a:ahLst/>
              <a:cxnLst/>
              <a:rect r="r" b="b" t="t" l="l"/>
              <a:pathLst>
                <a:path h="5871210" w="6877050">
                  <a:moveTo>
                    <a:pt x="0" y="146812"/>
                  </a:moveTo>
                  <a:cubicBezTo>
                    <a:pt x="0" y="65659"/>
                    <a:pt x="65659" y="0"/>
                    <a:pt x="146812" y="0"/>
                  </a:cubicBezTo>
                  <a:lnTo>
                    <a:pt x="6730238" y="0"/>
                  </a:lnTo>
                  <a:cubicBezTo>
                    <a:pt x="6811264" y="0"/>
                    <a:pt x="6877050" y="65659"/>
                    <a:pt x="6877050" y="146812"/>
                  </a:cubicBezTo>
                  <a:lnTo>
                    <a:pt x="6877050" y="5724398"/>
                  </a:lnTo>
                  <a:cubicBezTo>
                    <a:pt x="6877050" y="5805424"/>
                    <a:pt x="6811391" y="5871210"/>
                    <a:pt x="6730238" y="5871210"/>
                  </a:cubicBezTo>
                  <a:lnTo>
                    <a:pt x="146812" y="5871210"/>
                  </a:lnTo>
                  <a:cubicBezTo>
                    <a:pt x="65659" y="5871210"/>
                    <a:pt x="0" y="5805551"/>
                    <a:pt x="0" y="5724398"/>
                  </a:cubicBezTo>
                  <a:close/>
                </a:path>
              </a:pathLst>
            </a:custGeom>
            <a:solidFill>
              <a:srgbClr val="161B22"/>
            </a:solidFill>
            <a:ln w="14288" cap="sq">
              <a:solidFill>
                <a:srgbClr val="2A323D"/>
              </a:solidFill>
              <a:prstDash val="solid"/>
              <a:miter/>
            </a:ln>
          </p:spPr>
        </p:sp>
      </p:grpSp>
      <p:grpSp>
        <p:nvGrpSpPr>
          <p:cNvPr name="Group 83" id="83"/>
          <p:cNvGrpSpPr/>
          <p:nvPr/>
        </p:nvGrpSpPr>
        <p:grpSpPr>
          <a:xfrm rot="0">
            <a:off x="6583680" y="3950208"/>
            <a:ext cx="4526280" cy="480060"/>
            <a:chOff x="0" y="0"/>
            <a:chExt cx="6035040" cy="640080"/>
          </a:xfrm>
        </p:grpSpPr>
        <p:sp>
          <p:nvSpPr>
            <p:cNvPr name="Freeform 84" id="84"/>
            <p:cNvSpPr/>
            <p:nvPr/>
          </p:nvSpPr>
          <p:spPr>
            <a:xfrm flipH="false" flipV="false" rot="0">
              <a:off x="0" y="0"/>
              <a:ext cx="6035040" cy="640080"/>
            </a:xfrm>
            <a:custGeom>
              <a:avLst/>
              <a:gdLst/>
              <a:ahLst/>
              <a:cxnLst/>
              <a:rect r="r" b="b" t="t" l="l"/>
              <a:pathLst>
                <a:path h="640080" w="6035040">
                  <a:moveTo>
                    <a:pt x="0" y="0"/>
                  </a:moveTo>
                  <a:lnTo>
                    <a:pt x="6035040" y="0"/>
                  </a:lnTo>
                  <a:lnTo>
                    <a:pt x="6035040" y="640080"/>
                  </a:lnTo>
                  <a:lnTo>
                    <a:pt x="0" y="640080"/>
                  </a:lnTo>
                  <a:close/>
                </a:path>
              </a:pathLst>
            </a:custGeom>
            <a:blipFill>
              <a:blip r:embed="rId3">
                <a:alphaModFix amt="0"/>
              </a:blip>
              <a:stretch>
                <a:fillRect l="0" t="-133716" r="0" b="-133716"/>
              </a:stretch>
            </a:blipFill>
          </p:spPr>
        </p:sp>
        <p:sp>
          <p:nvSpPr>
            <p:cNvPr name="TextBox 85" id="85"/>
            <p:cNvSpPr txBox="true"/>
            <p:nvPr/>
          </p:nvSpPr>
          <p:spPr>
            <a:xfrm>
              <a:off x="0" y="-47625"/>
              <a:ext cx="6035040" cy="687705"/>
            </a:xfrm>
            <a:prstGeom prst="rect">
              <a:avLst/>
            </a:prstGeom>
          </p:spPr>
          <p:txBody>
            <a:bodyPr anchor="ctr" rtlCol="false" tIns="0" lIns="0" bIns="0" rIns="0"/>
            <a:lstStyle/>
            <a:p>
              <a:pPr algn="l">
                <a:lnSpc>
                  <a:spcPts val="3060"/>
                </a:lnSpc>
              </a:pPr>
              <a:r>
                <a:rPr lang="en-US" sz="2550" b="true">
                  <a:solidFill>
                    <a:srgbClr val="4ADE80"/>
                  </a:solidFill>
                  <a:latin typeface="Calibri (MS) Bold"/>
                  <a:ea typeface="Calibri (MS) Bold"/>
                  <a:cs typeface="Calibri (MS) Bold"/>
                  <a:sym typeface="Calibri (MS) Bold"/>
                </a:rPr>
                <a:t>Decision Tree</a:t>
              </a:r>
            </a:p>
          </p:txBody>
        </p:sp>
      </p:grpSp>
      <p:grpSp>
        <p:nvGrpSpPr>
          <p:cNvPr name="Group 86" id="86"/>
          <p:cNvGrpSpPr/>
          <p:nvPr/>
        </p:nvGrpSpPr>
        <p:grpSpPr>
          <a:xfrm rot="0">
            <a:off x="6576536" y="4519136"/>
            <a:ext cx="4471988" cy="1797367"/>
            <a:chOff x="0" y="0"/>
            <a:chExt cx="5962650" cy="2396490"/>
          </a:xfrm>
        </p:grpSpPr>
        <p:sp>
          <p:nvSpPr>
            <p:cNvPr name="Freeform 87" id="87"/>
            <p:cNvSpPr/>
            <p:nvPr/>
          </p:nvSpPr>
          <p:spPr>
            <a:xfrm flipH="false" flipV="false" rot="0">
              <a:off x="0" y="0"/>
              <a:ext cx="5962650" cy="2396490"/>
            </a:xfrm>
            <a:custGeom>
              <a:avLst/>
              <a:gdLst/>
              <a:ahLst/>
              <a:cxnLst/>
              <a:rect r="r" b="b" t="t" l="l"/>
              <a:pathLst>
                <a:path h="2396490" w="5962650">
                  <a:moveTo>
                    <a:pt x="0" y="0"/>
                  </a:moveTo>
                  <a:lnTo>
                    <a:pt x="5962650" y="0"/>
                  </a:lnTo>
                  <a:lnTo>
                    <a:pt x="5962650" y="2396490"/>
                  </a:lnTo>
                  <a:lnTo>
                    <a:pt x="0" y="2396490"/>
                  </a:lnTo>
                  <a:close/>
                </a:path>
              </a:pathLst>
            </a:custGeom>
            <a:solidFill>
              <a:srgbClr val="0A0D12"/>
            </a:solidFill>
            <a:ln w="14288" cap="sq">
              <a:solidFill>
                <a:srgbClr val="2A323D"/>
              </a:solidFill>
              <a:prstDash val="solid"/>
              <a:miter/>
            </a:ln>
          </p:spPr>
        </p:sp>
      </p:grpSp>
      <p:grpSp>
        <p:nvGrpSpPr>
          <p:cNvPr name="Group 88" id="88"/>
          <p:cNvGrpSpPr/>
          <p:nvPr/>
        </p:nvGrpSpPr>
        <p:grpSpPr>
          <a:xfrm rot="0">
            <a:off x="7708106" y="4683728"/>
            <a:ext cx="2208848" cy="508064"/>
            <a:chOff x="0" y="0"/>
            <a:chExt cx="2945130" cy="677418"/>
          </a:xfrm>
        </p:grpSpPr>
        <p:sp>
          <p:nvSpPr>
            <p:cNvPr name="Freeform 89" id="89"/>
            <p:cNvSpPr/>
            <p:nvPr/>
          </p:nvSpPr>
          <p:spPr>
            <a:xfrm flipH="false" flipV="false" rot="0">
              <a:off x="0" y="0"/>
              <a:ext cx="2945130" cy="677418"/>
            </a:xfrm>
            <a:custGeom>
              <a:avLst/>
              <a:gdLst/>
              <a:ahLst/>
              <a:cxnLst/>
              <a:rect r="r" b="b" t="t" l="l"/>
              <a:pathLst>
                <a:path h="677418" w="2945130">
                  <a:moveTo>
                    <a:pt x="0" y="150495"/>
                  </a:moveTo>
                  <a:cubicBezTo>
                    <a:pt x="0" y="67437"/>
                    <a:pt x="67437" y="0"/>
                    <a:pt x="150495" y="0"/>
                  </a:cubicBezTo>
                  <a:lnTo>
                    <a:pt x="2794635" y="0"/>
                  </a:lnTo>
                  <a:cubicBezTo>
                    <a:pt x="2877820" y="0"/>
                    <a:pt x="2945130" y="67437"/>
                    <a:pt x="2945130" y="150495"/>
                  </a:cubicBezTo>
                  <a:lnTo>
                    <a:pt x="2945130" y="526923"/>
                  </a:lnTo>
                  <a:cubicBezTo>
                    <a:pt x="2945130" y="610108"/>
                    <a:pt x="2877693" y="677418"/>
                    <a:pt x="2794635" y="677418"/>
                  </a:cubicBezTo>
                  <a:lnTo>
                    <a:pt x="150495" y="677418"/>
                  </a:lnTo>
                  <a:cubicBezTo>
                    <a:pt x="67437" y="677418"/>
                    <a:pt x="0" y="609981"/>
                    <a:pt x="0" y="526923"/>
                  </a:cubicBezTo>
                  <a:close/>
                </a:path>
              </a:pathLst>
            </a:custGeom>
            <a:solidFill>
              <a:srgbClr val="1D242E"/>
            </a:solidFill>
            <a:ln w="14288" cap="sq">
              <a:solidFill>
                <a:srgbClr val="22D3EE"/>
              </a:solidFill>
              <a:prstDash val="solid"/>
              <a:miter/>
            </a:ln>
          </p:spPr>
        </p:sp>
        <p:sp>
          <p:nvSpPr>
            <p:cNvPr name="TextBox 90" id="90"/>
            <p:cNvSpPr txBox="true"/>
            <p:nvPr/>
          </p:nvSpPr>
          <p:spPr>
            <a:xfrm>
              <a:off x="0" y="-19050"/>
              <a:ext cx="2945130" cy="696468"/>
            </a:xfrm>
            <a:prstGeom prst="rect">
              <a:avLst/>
            </a:prstGeom>
          </p:spPr>
          <p:txBody>
            <a:bodyPr anchor="ctr" rtlCol="false" tIns="50800" lIns="50800" bIns="50800" rIns="50800"/>
            <a:lstStyle/>
            <a:p>
              <a:pPr algn="l">
                <a:lnSpc>
                  <a:spcPts val="1889"/>
                </a:lnSpc>
              </a:pPr>
              <a:r>
                <a:rPr lang="en-US" sz="1575" b="true">
                  <a:solidFill>
                    <a:srgbClr val="E8ECF1"/>
                  </a:solidFill>
                  <a:latin typeface="Calibri (MS) Bold"/>
                  <a:ea typeface="Calibri (MS) Bold"/>
                  <a:cs typeface="Calibri (MS) Bold"/>
                  <a:sym typeface="Calibri (MS) Bold"/>
                </a:rPr>
                <a:t>feature ≤ value ?</a:t>
              </a:r>
            </a:p>
          </p:txBody>
        </p:sp>
      </p:grpSp>
      <p:sp>
        <p:nvSpPr>
          <p:cNvPr name="AutoShape 91" id="91"/>
          <p:cNvSpPr/>
          <p:nvPr/>
        </p:nvSpPr>
        <p:spPr>
          <a:xfrm rot="8550840">
            <a:off x="7698315" y="5380863"/>
            <a:ext cx="723100" cy="0"/>
          </a:xfrm>
          <a:prstGeom prst="line">
            <a:avLst/>
          </a:prstGeom>
          <a:ln cap="rnd" w="19050">
            <a:solidFill>
              <a:srgbClr val="9AA4B2"/>
            </a:solidFill>
            <a:prstDash val="solid"/>
            <a:headEnd type="none" len="sm" w="sm"/>
            <a:tailEnd type="triangle" len="med" w="lg"/>
          </a:ln>
        </p:spPr>
      </p:sp>
      <p:sp>
        <p:nvSpPr>
          <p:cNvPr name="AutoShape 92" id="92"/>
          <p:cNvSpPr/>
          <p:nvPr/>
        </p:nvSpPr>
        <p:spPr>
          <a:xfrm rot="2249160">
            <a:off x="9203646" y="5380863"/>
            <a:ext cx="723100" cy="0"/>
          </a:xfrm>
          <a:prstGeom prst="line">
            <a:avLst/>
          </a:prstGeom>
          <a:ln cap="rnd" w="19050">
            <a:solidFill>
              <a:srgbClr val="9AA4B2"/>
            </a:solidFill>
            <a:prstDash val="solid"/>
            <a:headEnd type="none" len="sm" w="sm"/>
            <a:tailEnd type="triangle" len="med" w="lg"/>
          </a:ln>
        </p:spPr>
      </p:sp>
      <p:grpSp>
        <p:nvGrpSpPr>
          <p:cNvPr name="Group 93" id="93"/>
          <p:cNvGrpSpPr/>
          <p:nvPr/>
        </p:nvGrpSpPr>
        <p:grpSpPr>
          <a:xfrm rot="0">
            <a:off x="7094315" y="5616416"/>
            <a:ext cx="1385888" cy="508064"/>
            <a:chOff x="0" y="0"/>
            <a:chExt cx="1847850" cy="677418"/>
          </a:xfrm>
        </p:grpSpPr>
        <p:sp>
          <p:nvSpPr>
            <p:cNvPr name="Freeform 94" id="94"/>
            <p:cNvSpPr/>
            <p:nvPr/>
          </p:nvSpPr>
          <p:spPr>
            <a:xfrm flipH="false" flipV="false" rot="0">
              <a:off x="0" y="0"/>
              <a:ext cx="1847850" cy="677418"/>
            </a:xfrm>
            <a:custGeom>
              <a:avLst/>
              <a:gdLst/>
              <a:ahLst/>
              <a:cxnLst/>
              <a:rect r="r" b="b" t="t" l="l"/>
              <a:pathLst>
                <a:path h="677418" w="1847850">
                  <a:moveTo>
                    <a:pt x="0" y="150495"/>
                  </a:moveTo>
                  <a:cubicBezTo>
                    <a:pt x="0" y="67437"/>
                    <a:pt x="67437" y="0"/>
                    <a:pt x="150495" y="0"/>
                  </a:cubicBezTo>
                  <a:lnTo>
                    <a:pt x="1697355" y="0"/>
                  </a:lnTo>
                  <a:cubicBezTo>
                    <a:pt x="1780540" y="0"/>
                    <a:pt x="1847850" y="67437"/>
                    <a:pt x="1847850" y="150495"/>
                  </a:cubicBezTo>
                  <a:lnTo>
                    <a:pt x="1847850" y="526923"/>
                  </a:lnTo>
                  <a:cubicBezTo>
                    <a:pt x="1847850" y="610108"/>
                    <a:pt x="1780413" y="677418"/>
                    <a:pt x="1697355" y="677418"/>
                  </a:cubicBezTo>
                  <a:lnTo>
                    <a:pt x="150495" y="677418"/>
                  </a:lnTo>
                  <a:cubicBezTo>
                    <a:pt x="67437" y="677418"/>
                    <a:pt x="0" y="609981"/>
                    <a:pt x="0" y="526923"/>
                  </a:cubicBezTo>
                  <a:close/>
                </a:path>
              </a:pathLst>
            </a:custGeom>
            <a:solidFill>
              <a:srgbClr val="1D242E"/>
            </a:solidFill>
            <a:ln w="14288" cap="sq">
              <a:solidFill>
                <a:srgbClr val="2A323D"/>
              </a:solidFill>
              <a:prstDash val="solid"/>
              <a:miter/>
            </a:ln>
          </p:spPr>
        </p:sp>
        <p:sp>
          <p:nvSpPr>
            <p:cNvPr name="TextBox 95" id="95"/>
            <p:cNvSpPr txBox="true"/>
            <p:nvPr/>
          </p:nvSpPr>
          <p:spPr>
            <a:xfrm>
              <a:off x="0" y="-28575"/>
              <a:ext cx="1847850" cy="705993"/>
            </a:xfrm>
            <a:prstGeom prst="rect">
              <a:avLst/>
            </a:prstGeom>
          </p:spPr>
          <p:txBody>
            <a:bodyPr anchor="ctr" rtlCol="false" tIns="50800" lIns="50800" bIns="50800" rIns="50800"/>
            <a:lstStyle/>
            <a:p>
              <a:pPr algn="l">
                <a:lnSpc>
                  <a:spcPts val="1980"/>
                </a:lnSpc>
              </a:pPr>
              <a:r>
                <a:rPr lang="en-US" sz="1650" b="true">
                  <a:solidFill>
                    <a:srgbClr val="9AA4B2"/>
                  </a:solidFill>
                  <a:latin typeface="Calibri (MS) Bold"/>
                  <a:ea typeface="Calibri (MS) Bold"/>
                  <a:cs typeface="Calibri (MS) Bold"/>
                  <a:sym typeface="Calibri (MS) Bold"/>
                </a:rPr>
                <a:t>Low</a:t>
              </a:r>
            </a:p>
          </p:txBody>
        </p:sp>
      </p:grpSp>
      <p:grpSp>
        <p:nvGrpSpPr>
          <p:cNvPr name="Group 96" id="96"/>
          <p:cNvGrpSpPr/>
          <p:nvPr/>
        </p:nvGrpSpPr>
        <p:grpSpPr>
          <a:xfrm rot="0">
            <a:off x="9144857" y="5616416"/>
            <a:ext cx="1385888" cy="508064"/>
            <a:chOff x="0" y="0"/>
            <a:chExt cx="1847850" cy="677418"/>
          </a:xfrm>
        </p:grpSpPr>
        <p:sp>
          <p:nvSpPr>
            <p:cNvPr name="Freeform 97" id="97"/>
            <p:cNvSpPr/>
            <p:nvPr/>
          </p:nvSpPr>
          <p:spPr>
            <a:xfrm flipH="false" flipV="false" rot="0">
              <a:off x="0" y="0"/>
              <a:ext cx="1847850" cy="677418"/>
            </a:xfrm>
            <a:custGeom>
              <a:avLst/>
              <a:gdLst/>
              <a:ahLst/>
              <a:cxnLst/>
              <a:rect r="r" b="b" t="t" l="l"/>
              <a:pathLst>
                <a:path h="677418" w="1847850">
                  <a:moveTo>
                    <a:pt x="0" y="150495"/>
                  </a:moveTo>
                  <a:cubicBezTo>
                    <a:pt x="0" y="67437"/>
                    <a:pt x="67437" y="0"/>
                    <a:pt x="150495" y="0"/>
                  </a:cubicBezTo>
                  <a:lnTo>
                    <a:pt x="1697355" y="0"/>
                  </a:lnTo>
                  <a:cubicBezTo>
                    <a:pt x="1780540" y="0"/>
                    <a:pt x="1847850" y="67437"/>
                    <a:pt x="1847850" y="150495"/>
                  </a:cubicBezTo>
                  <a:lnTo>
                    <a:pt x="1847850" y="526923"/>
                  </a:lnTo>
                  <a:cubicBezTo>
                    <a:pt x="1847850" y="610108"/>
                    <a:pt x="1780413" y="677418"/>
                    <a:pt x="1697355" y="677418"/>
                  </a:cubicBezTo>
                  <a:lnTo>
                    <a:pt x="150495" y="677418"/>
                  </a:lnTo>
                  <a:cubicBezTo>
                    <a:pt x="67437" y="677418"/>
                    <a:pt x="0" y="609981"/>
                    <a:pt x="0" y="526923"/>
                  </a:cubicBezTo>
                  <a:close/>
                </a:path>
              </a:pathLst>
            </a:custGeom>
            <a:solidFill>
              <a:srgbClr val="1D242E"/>
            </a:solidFill>
            <a:ln w="14288" cap="sq">
              <a:solidFill>
                <a:srgbClr val="4ADE80"/>
              </a:solidFill>
              <a:prstDash val="solid"/>
              <a:miter/>
            </a:ln>
          </p:spPr>
        </p:sp>
        <p:sp>
          <p:nvSpPr>
            <p:cNvPr name="TextBox 98" id="98"/>
            <p:cNvSpPr txBox="true"/>
            <p:nvPr/>
          </p:nvSpPr>
          <p:spPr>
            <a:xfrm>
              <a:off x="0" y="-28575"/>
              <a:ext cx="1847850" cy="705993"/>
            </a:xfrm>
            <a:prstGeom prst="rect">
              <a:avLst/>
            </a:prstGeom>
          </p:spPr>
          <p:txBody>
            <a:bodyPr anchor="ctr" rtlCol="false" tIns="50800" lIns="50800" bIns="50800" rIns="50800"/>
            <a:lstStyle/>
            <a:p>
              <a:pPr algn="l">
                <a:lnSpc>
                  <a:spcPts val="1980"/>
                </a:lnSpc>
              </a:pPr>
              <a:r>
                <a:rPr lang="en-US" sz="1650" b="true">
                  <a:solidFill>
                    <a:srgbClr val="4ADE80"/>
                  </a:solidFill>
                  <a:latin typeface="Calibri (MS) Bold"/>
                  <a:ea typeface="Calibri (MS) Bold"/>
                  <a:cs typeface="Calibri (MS) Bold"/>
                  <a:sym typeface="Calibri (MS) Bold"/>
                </a:rPr>
                <a:t>High</a:t>
              </a:r>
            </a:p>
          </p:txBody>
        </p:sp>
      </p:grpSp>
      <p:sp>
        <p:nvSpPr>
          <p:cNvPr name="TextBox 99" id="99"/>
          <p:cNvSpPr txBox="true"/>
          <p:nvPr/>
        </p:nvSpPr>
        <p:spPr>
          <a:xfrm rot="0">
            <a:off x="6583680" y="6426327"/>
            <a:ext cx="4526280" cy="1624965"/>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E8ECF1"/>
                </a:solidFill>
                <a:latin typeface="Calibri (MS)"/>
                <a:ea typeface="Calibri (MS)"/>
                <a:cs typeface="Calibri (MS)"/>
                <a:sym typeface="Calibri (MS)"/>
              </a:rPr>
              <a:t>Splits data with simple rules</a:t>
            </a:r>
          </a:p>
          <a:p>
            <a:pPr algn="l" marL="352901" indent="-176451" lvl="1">
              <a:lnSpc>
                <a:spcPts val="2340"/>
              </a:lnSpc>
              <a:buFont typeface="Arial"/>
              <a:buChar char="•"/>
            </a:pPr>
            <a:r>
              <a:rPr lang="en-US" sz="1950">
                <a:solidFill>
                  <a:srgbClr val="E8ECF1"/>
                </a:solidFill>
                <a:latin typeface="Calibri (MS)"/>
                <a:ea typeface="Calibri (MS)"/>
                <a:cs typeface="Calibri (MS)"/>
                <a:sym typeface="Calibri (MS)"/>
              </a:rPr>
              <a:t>Easy to visualise</a:t>
            </a:r>
          </a:p>
          <a:p>
            <a:pPr algn="l" marL="352901" indent="-176451" lvl="1">
              <a:lnSpc>
                <a:spcPts val="2340"/>
              </a:lnSpc>
              <a:buFont typeface="Arial"/>
              <a:buChar char="•"/>
            </a:pPr>
            <a:r>
              <a:rPr lang="en-US" sz="1950">
                <a:solidFill>
                  <a:srgbClr val="E8ECF1"/>
                </a:solidFill>
                <a:latin typeface="Calibri (MS)"/>
                <a:ea typeface="Calibri (MS)"/>
                <a:cs typeface="Calibri (MS)"/>
                <a:sym typeface="Calibri (MS)"/>
              </a:rPr>
              <a:t>No scaling needed</a:t>
            </a:r>
          </a:p>
        </p:txBody>
      </p:sp>
      <p:grpSp>
        <p:nvGrpSpPr>
          <p:cNvPr name="Group 100" id="100"/>
          <p:cNvGrpSpPr/>
          <p:nvPr/>
        </p:nvGrpSpPr>
        <p:grpSpPr>
          <a:xfrm rot="0">
            <a:off x="11651456" y="3764756"/>
            <a:ext cx="5816156" cy="4403408"/>
            <a:chOff x="0" y="0"/>
            <a:chExt cx="7754874" cy="5871210"/>
          </a:xfrm>
        </p:grpSpPr>
        <p:sp>
          <p:nvSpPr>
            <p:cNvPr name="Freeform 101" id="101"/>
            <p:cNvSpPr/>
            <p:nvPr/>
          </p:nvSpPr>
          <p:spPr>
            <a:xfrm flipH="false" flipV="false" rot="0">
              <a:off x="0" y="0"/>
              <a:ext cx="7754874" cy="5871210"/>
            </a:xfrm>
            <a:custGeom>
              <a:avLst/>
              <a:gdLst/>
              <a:ahLst/>
              <a:cxnLst/>
              <a:rect r="r" b="b" t="t" l="l"/>
              <a:pathLst>
                <a:path h="5871210" w="7754874">
                  <a:moveTo>
                    <a:pt x="0" y="146812"/>
                  </a:moveTo>
                  <a:cubicBezTo>
                    <a:pt x="0" y="65659"/>
                    <a:pt x="65659" y="0"/>
                    <a:pt x="146812" y="0"/>
                  </a:cubicBezTo>
                  <a:lnTo>
                    <a:pt x="7608062" y="0"/>
                  </a:lnTo>
                  <a:cubicBezTo>
                    <a:pt x="7689088" y="0"/>
                    <a:pt x="7754874" y="65659"/>
                    <a:pt x="7754874" y="146812"/>
                  </a:cubicBezTo>
                  <a:lnTo>
                    <a:pt x="7754874" y="5724398"/>
                  </a:lnTo>
                  <a:cubicBezTo>
                    <a:pt x="7754874" y="5805424"/>
                    <a:pt x="7689215" y="5871210"/>
                    <a:pt x="7608062" y="5871210"/>
                  </a:cubicBezTo>
                  <a:lnTo>
                    <a:pt x="146812" y="5871210"/>
                  </a:lnTo>
                  <a:cubicBezTo>
                    <a:pt x="65659" y="5871210"/>
                    <a:pt x="0" y="5805551"/>
                    <a:pt x="0" y="5724398"/>
                  </a:cubicBezTo>
                  <a:close/>
                </a:path>
              </a:pathLst>
            </a:custGeom>
            <a:solidFill>
              <a:srgbClr val="161B22"/>
            </a:solidFill>
            <a:ln w="14288" cap="sq">
              <a:solidFill>
                <a:srgbClr val="2A323D"/>
              </a:solidFill>
              <a:prstDash val="solid"/>
              <a:miter/>
            </a:ln>
          </p:spPr>
        </p:sp>
      </p:grpSp>
      <p:grpSp>
        <p:nvGrpSpPr>
          <p:cNvPr name="Group 102" id="102"/>
          <p:cNvGrpSpPr/>
          <p:nvPr/>
        </p:nvGrpSpPr>
        <p:grpSpPr>
          <a:xfrm rot="0">
            <a:off x="12001500" y="3950208"/>
            <a:ext cx="5074920" cy="480060"/>
            <a:chOff x="0" y="0"/>
            <a:chExt cx="6766560" cy="640080"/>
          </a:xfrm>
        </p:grpSpPr>
        <p:sp>
          <p:nvSpPr>
            <p:cNvPr name="Freeform 103" id="103"/>
            <p:cNvSpPr/>
            <p:nvPr/>
          </p:nvSpPr>
          <p:spPr>
            <a:xfrm flipH="false" flipV="false" rot="0">
              <a:off x="0" y="0"/>
              <a:ext cx="6766560" cy="640080"/>
            </a:xfrm>
            <a:custGeom>
              <a:avLst/>
              <a:gdLst/>
              <a:ahLst/>
              <a:cxnLst/>
              <a:rect r="r" b="b" t="t" l="l"/>
              <a:pathLst>
                <a:path h="640080" w="6766560">
                  <a:moveTo>
                    <a:pt x="0" y="0"/>
                  </a:moveTo>
                  <a:lnTo>
                    <a:pt x="6766560" y="0"/>
                  </a:lnTo>
                  <a:lnTo>
                    <a:pt x="6766560" y="640080"/>
                  </a:lnTo>
                  <a:lnTo>
                    <a:pt x="0" y="640080"/>
                  </a:lnTo>
                  <a:close/>
                </a:path>
              </a:pathLst>
            </a:custGeom>
            <a:blipFill>
              <a:blip r:embed="rId3">
                <a:alphaModFix amt="0"/>
              </a:blip>
              <a:stretch>
                <a:fillRect l="0" t="-155984" r="0" b="-155984"/>
              </a:stretch>
            </a:blipFill>
          </p:spPr>
        </p:sp>
        <p:sp>
          <p:nvSpPr>
            <p:cNvPr name="TextBox 104" id="104"/>
            <p:cNvSpPr txBox="true"/>
            <p:nvPr/>
          </p:nvSpPr>
          <p:spPr>
            <a:xfrm>
              <a:off x="0" y="-47625"/>
              <a:ext cx="6766560" cy="687705"/>
            </a:xfrm>
            <a:prstGeom prst="rect">
              <a:avLst/>
            </a:prstGeom>
          </p:spPr>
          <p:txBody>
            <a:bodyPr anchor="ctr" rtlCol="false" tIns="0" lIns="0" bIns="0" rIns="0"/>
            <a:lstStyle/>
            <a:p>
              <a:pPr algn="l">
                <a:lnSpc>
                  <a:spcPts val="3060"/>
                </a:lnSpc>
              </a:pPr>
              <a:r>
                <a:rPr lang="en-US" sz="2550" b="true">
                  <a:solidFill>
                    <a:srgbClr val="E8ECF1"/>
                  </a:solidFill>
                  <a:latin typeface="Calibri (MS) Bold"/>
                  <a:ea typeface="Calibri (MS) Bold"/>
                  <a:cs typeface="Calibri (MS) Bold"/>
                  <a:sym typeface="Calibri (MS) Bold"/>
                </a:rPr>
                <a:t>Confusion Matrix</a:t>
              </a:r>
            </a:p>
          </p:txBody>
        </p:sp>
      </p:grpSp>
      <p:grpSp>
        <p:nvGrpSpPr>
          <p:cNvPr name="Group 105" id="105"/>
          <p:cNvGrpSpPr/>
          <p:nvPr/>
        </p:nvGrpSpPr>
        <p:grpSpPr>
          <a:xfrm rot="0">
            <a:off x="13098780" y="4526280"/>
            <a:ext cx="1371600" cy="301752"/>
            <a:chOff x="0" y="0"/>
            <a:chExt cx="1828800" cy="402336"/>
          </a:xfrm>
        </p:grpSpPr>
        <p:sp>
          <p:nvSpPr>
            <p:cNvPr name="Freeform 106" id="106"/>
            <p:cNvSpPr/>
            <p:nvPr/>
          </p:nvSpPr>
          <p:spPr>
            <a:xfrm flipH="false" flipV="false" rot="0">
              <a:off x="0" y="0"/>
              <a:ext cx="1828800" cy="402336"/>
            </a:xfrm>
            <a:custGeom>
              <a:avLst/>
              <a:gdLst/>
              <a:ahLst/>
              <a:cxnLst/>
              <a:rect r="r" b="b" t="t" l="l"/>
              <a:pathLst>
                <a:path h="402336" w="1828800">
                  <a:moveTo>
                    <a:pt x="0" y="0"/>
                  </a:moveTo>
                  <a:lnTo>
                    <a:pt x="1828800" y="0"/>
                  </a:lnTo>
                  <a:lnTo>
                    <a:pt x="1828800" y="402336"/>
                  </a:lnTo>
                  <a:lnTo>
                    <a:pt x="0" y="402336"/>
                  </a:lnTo>
                  <a:close/>
                </a:path>
              </a:pathLst>
            </a:custGeom>
            <a:blipFill>
              <a:blip r:embed="rId3">
                <a:alphaModFix amt="0"/>
              </a:blip>
              <a:stretch>
                <a:fillRect l="0" t="-38568" r="0" b="-38568"/>
              </a:stretch>
            </a:blipFill>
          </p:spPr>
        </p:sp>
        <p:sp>
          <p:nvSpPr>
            <p:cNvPr name="TextBox 107" id="107"/>
            <p:cNvSpPr txBox="true"/>
            <p:nvPr/>
          </p:nvSpPr>
          <p:spPr>
            <a:xfrm>
              <a:off x="0" y="-38100"/>
              <a:ext cx="1828800" cy="440436"/>
            </a:xfrm>
            <a:prstGeom prst="rect">
              <a:avLst/>
            </a:prstGeom>
          </p:spPr>
          <p:txBody>
            <a:bodyPr anchor="ctr" rtlCol="false" tIns="0" lIns="0" bIns="0" rIns="0"/>
            <a:lstStyle/>
            <a:p>
              <a:pPr algn="ctr">
                <a:lnSpc>
                  <a:spcPts val="1709"/>
                </a:lnSpc>
              </a:pPr>
              <a:r>
                <a:rPr lang="en-US" sz="1425">
                  <a:solidFill>
                    <a:srgbClr val="9AA4B2"/>
                  </a:solidFill>
                  <a:latin typeface="Calibri (MS)"/>
                  <a:ea typeface="Calibri (MS)"/>
                  <a:cs typeface="Calibri (MS)"/>
                  <a:sym typeface="Calibri (MS)"/>
                </a:rPr>
                <a:t>Pred. High</a:t>
              </a:r>
            </a:p>
          </p:txBody>
        </p:sp>
      </p:grpSp>
      <p:grpSp>
        <p:nvGrpSpPr>
          <p:cNvPr name="Group 108" id="108"/>
          <p:cNvGrpSpPr/>
          <p:nvPr/>
        </p:nvGrpSpPr>
        <p:grpSpPr>
          <a:xfrm rot="0">
            <a:off x="14538960" y="4526280"/>
            <a:ext cx="1371600" cy="301752"/>
            <a:chOff x="0" y="0"/>
            <a:chExt cx="1828800" cy="402336"/>
          </a:xfrm>
        </p:grpSpPr>
        <p:sp>
          <p:nvSpPr>
            <p:cNvPr name="Freeform 109" id="109"/>
            <p:cNvSpPr/>
            <p:nvPr/>
          </p:nvSpPr>
          <p:spPr>
            <a:xfrm flipH="false" flipV="false" rot="0">
              <a:off x="0" y="0"/>
              <a:ext cx="1828800" cy="402336"/>
            </a:xfrm>
            <a:custGeom>
              <a:avLst/>
              <a:gdLst/>
              <a:ahLst/>
              <a:cxnLst/>
              <a:rect r="r" b="b" t="t" l="l"/>
              <a:pathLst>
                <a:path h="402336" w="1828800">
                  <a:moveTo>
                    <a:pt x="0" y="0"/>
                  </a:moveTo>
                  <a:lnTo>
                    <a:pt x="1828800" y="0"/>
                  </a:lnTo>
                  <a:lnTo>
                    <a:pt x="1828800" y="402336"/>
                  </a:lnTo>
                  <a:lnTo>
                    <a:pt x="0" y="402336"/>
                  </a:lnTo>
                  <a:close/>
                </a:path>
              </a:pathLst>
            </a:custGeom>
            <a:blipFill>
              <a:blip r:embed="rId3">
                <a:alphaModFix amt="0"/>
              </a:blip>
              <a:stretch>
                <a:fillRect l="0" t="-38568" r="0" b="-38568"/>
              </a:stretch>
            </a:blipFill>
          </p:spPr>
        </p:sp>
        <p:sp>
          <p:nvSpPr>
            <p:cNvPr name="TextBox 110" id="110"/>
            <p:cNvSpPr txBox="true"/>
            <p:nvPr/>
          </p:nvSpPr>
          <p:spPr>
            <a:xfrm>
              <a:off x="0" y="-38100"/>
              <a:ext cx="1828800" cy="440436"/>
            </a:xfrm>
            <a:prstGeom prst="rect">
              <a:avLst/>
            </a:prstGeom>
          </p:spPr>
          <p:txBody>
            <a:bodyPr anchor="ctr" rtlCol="false" tIns="0" lIns="0" bIns="0" rIns="0"/>
            <a:lstStyle/>
            <a:p>
              <a:pPr algn="ctr">
                <a:lnSpc>
                  <a:spcPts val="1709"/>
                </a:lnSpc>
              </a:pPr>
              <a:r>
                <a:rPr lang="en-US" sz="1425">
                  <a:solidFill>
                    <a:srgbClr val="9AA4B2"/>
                  </a:solidFill>
                  <a:latin typeface="Calibri (MS)"/>
                  <a:ea typeface="Calibri (MS)"/>
                  <a:cs typeface="Calibri (MS)"/>
                  <a:sym typeface="Calibri (MS)"/>
                </a:rPr>
                <a:t>Pred. Low</a:t>
              </a:r>
            </a:p>
          </p:txBody>
        </p:sp>
      </p:grpSp>
      <p:grpSp>
        <p:nvGrpSpPr>
          <p:cNvPr name="Group 111" id="111"/>
          <p:cNvGrpSpPr/>
          <p:nvPr/>
        </p:nvGrpSpPr>
        <p:grpSpPr>
          <a:xfrm rot="0">
            <a:off x="11864340" y="5006340"/>
            <a:ext cx="1234440" cy="617220"/>
            <a:chOff x="0" y="0"/>
            <a:chExt cx="1645920" cy="822960"/>
          </a:xfrm>
        </p:grpSpPr>
        <p:sp>
          <p:nvSpPr>
            <p:cNvPr name="Freeform 112" id="112"/>
            <p:cNvSpPr/>
            <p:nvPr/>
          </p:nvSpPr>
          <p:spPr>
            <a:xfrm flipH="false" flipV="false" rot="0">
              <a:off x="0" y="0"/>
              <a:ext cx="1645920" cy="822960"/>
            </a:xfrm>
            <a:custGeom>
              <a:avLst/>
              <a:gdLst/>
              <a:ahLst/>
              <a:cxnLst/>
              <a:rect r="r" b="b" t="t" l="l"/>
              <a:pathLst>
                <a:path h="822960" w="1645920">
                  <a:moveTo>
                    <a:pt x="0" y="0"/>
                  </a:moveTo>
                  <a:lnTo>
                    <a:pt x="1645920" y="0"/>
                  </a:lnTo>
                  <a:lnTo>
                    <a:pt x="1645920" y="822960"/>
                  </a:lnTo>
                  <a:lnTo>
                    <a:pt x="0" y="822960"/>
                  </a:lnTo>
                  <a:close/>
                </a:path>
              </a:pathLst>
            </a:custGeom>
            <a:blipFill>
              <a:blip r:embed="rId3">
                <a:alphaModFix amt="0"/>
              </a:blip>
              <a:stretch>
                <a:fillRect l="-14151" t="0" r="-14151" b="0"/>
              </a:stretch>
            </a:blipFill>
          </p:spPr>
        </p:sp>
        <p:sp>
          <p:nvSpPr>
            <p:cNvPr name="TextBox 113" id="113"/>
            <p:cNvSpPr txBox="true"/>
            <p:nvPr/>
          </p:nvSpPr>
          <p:spPr>
            <a:xfrm>
              <a:off x="0" y="-38100"/>
              <a:ext cx="1645920" cy="861060"/>
            </a:xfrm>
            <a:prstGeom prst="rect">
              <a:avLst/>
            </a:prstGeom>
          </p:spPr>
          <p:txBody>
            <a:bodyPr anchor="ctr" rtlCol="false" tIns="0" lIns="0" bIns="0" rIns="0"/>
            <a:lstStyle/>
            <a:p>
              <a:pPr algn="l">
                <a:lnSpc>
                  <a:spcPts val="1709"/>
                </a:lnSpc>
              </a:pPr>
              <a:r>
                <a:rPr lang="en-US" sz="1425">
                  <a:solidFill>
                    <a:srgbClr val="9AA4B2"/>
                  </a:solidFill>
                  <a:latin typeface="Calibri (MS)"/>
                  <a:ea typeface="Calibri (MS)"/>
                  <a:cs typeface="Calibri (MS)"/>
                  <a:sym typeface="Calibri (MS)"/>
                </a:rPr>
                <a:t>Actual High</a:t>
              </a:r>
            </a:p>
          </p:txBody>
        </p:sp>
      </p:grpSp>
      <p:grpSp>
        <p:nvGrpSpPr>
          <p:cNvPr name="Group 114" id="114"/>
          <p:cNvGrpSpPr/>
          <p:nvPr/>
        </p:nvGrpSpPr>
        <p:grpSpPr>
          <a:xfrm rot="0">
            <a:off x="11864340" y="5733288"/>
            <a:ext cx="1234440" cy="617220"/>
            <a:chOff x="0" y="0"/>
            <a:chExt cx="1645920" cy="822960"/>
          </a:xfrm>
        </p:grpSpPr>
        <p:sp>
          <p:nvSpPr>
            <p:cNvPr name="Freeform 115" id="115"/>
            <p:cNvSpPr/>
            <p:nvPr/>
          </p:nvSpPr>
          <p:spPr>
            <a:xfrm flipH="false" flipV="false" rot="0">
              <a:off x="0" y="0"/>
              <a:ext cx="1645920" cy="822960"/>
            </a:xfrm>
            <a:custGeom>
              <a:avLst/>
              <a:gdLst/>
              <a:ahLst/>
              <a:cxnLst/>
              <a:rect r="r" b="b" t="t" l="l"/>
              <a:pathLst>
                <a:path h="822960" w="1645920">
                  <a:moveTo>
                    <a:pt x="0" y="0"/>
                  </a:moveTo>
                  <a:lnTo>
                    <a:pt x="1645920" y="0"/>
                  </a:lnTo>
                  <a:lnTo>
                    <a:pt x="1645920" y="822960"/>
                  </a:lnTo>
                  <a:lnTo>
                    <a:pt x="0" y="822960"/>
                  </a:lnTo>
                  <a:close/>
                </a:path>
              </a:pathLst>
            </a:custGeom>
            <a:blipFill>
              <a:blip r:embed="rId3">
                <a:alphaModFix amt="0"/>
              </a:blip>
              <a:stretch>
                <a:fillRect l="-14151" t="0" r="-14151" b="0"/>
              </a:stretch>
            </a:blipFill>
          </p:spPr>
        </p:sp>
        <p:sp>
          <p:nvSpPr>
            <p:cNvPr name="TextBox 116" id="116"/>
            <p:cNvSpPr txBox="true"/>
            <p:nvPr/>
          </p:nvSpPr>
          <p:spPr>
            <a:xfrm>
              <a:off x="0" y="-38100"/>
              <a:ext cx="1645920" cy="861060"/>
            </a:xfrm>
            <a:prstGeom prst="rect">
              <a:avLst/>
            </a:prstGeom>
          </p:spPr>
          <p:txBody>
            <a:bodyPr anchor="ctr" rtlCol="false" tIns="0" lIns="0" bIns="0" rIns="0"/>
            <a:lstStyle/>
            <a:p>
              <a:pPr algn="l">
                <a:lnSpc>
                  <a:spcPts val="1709"/>
                </a:lnSpc>
              </a:pPr>
              <a:r>
                <a:rPr lang="en-US" sz="1425">
                  <a:solidFill>
                    <a:srgbClr val="9AA4B2"/>
                  </a:solidFill>
                  <a:latin typeface="Calibri (MS)"/>
                  <a:ea typeface="Calibri (MS)"/>
                  <a:cs typeface="Calibri (MS)"/>
                  <a:sym typeface="Calibri (MS)"/>
                </a:rPr>
                <a:t>Actual Low</a:t>
              </a:r>
            </a:p>
          </p:txBody>
        </p:sp>
      </p:grpSp>
      <p:grpSp>
        <p:nvGrpSpPr>
          <p:cNvPr name="Group 117" id="117"/>
          <p:cNvGrpSpPr/>
          <p:nvPr/>
        </p:nvGrpSpPr>
        <p:grpSpPr>
          <a:xfrm rot="0">
            <a:off x="13098780" y="4869180"/>
            <a:ext cx="1371600" cy="685800"/>
            <a:chOff x="0" y="0"/>
            <a:chExt cx="1828800" cy="914400"/>
          </a:xfrm>
        </p:grpSpPr>
        <p:sp>
          <p:nvSpPr>
            <p:cNvPr name="Freeform 118" id="118"/>
            <p:cNvSpPr/>
            <p:nvPr/>
          </p:nvSpPr>
          <p:spPr>
            <a:xfrm flipH="false" flipV="false" rot="0">
              <a:off x="0" y="0"/>
              <a:ext cx="1828800" cy="914400"/>
            </a:xfrm>
            <a:custGeom>
              <a:avLst/>
              <a:gdLst/>
              <a:ahLst/>
              <a:cxnLst/>
              <a:rect r="r" b="b" t="t" l="l"/>
              <a:pathLst>
                <a:path h="914400" w="1828800">
                  <a:moveTo>
                    <a:pt x="0" y="0"/>
                  </a:moveTo>
                  <a:lnTo>
                    <a:pt x="1828800" y="0"/>
                  </a:lnTo>
                  <a:lnTo>
                    <a:pt x="1828800" y="914400"/>
                  </a:lnTo>
                  <a:lnTo>
                    <a:pt x="0" y="914400"/>
                  </a:lnTo>
                  <a:close/>
                </a:path>
              </a:pathLst>
            </a:custGeom>
            <a:solidFill>
              <a:srgbClr val="4ADE80"/>
            </a:solidFill>
          </p:spPr>
        </p:sp>
        <p:sp>
          <p:nvSpPr>
            <p:cNvPr name="TextBox 119" id="119"/>
            <p:cNvSpPr txBox="true"/>
            <p:nvPr/>
          </p:nvSpPr>
          <p:spPr>
            <a:xfrm>
              <a:off x="0" y="-47625"/>
              <a:ext cx="1828800" cy="962025"/>
            </a:xfrm>
            <a:prstGeom prst="rect">
              <a:avLst/>
            </a:prstGeom>
          </p:spPr>
          <p:txBody>
            <a:bodyPr anchor="ctr" rtlCol="false" tIns="50800" lIns="50800" bIns="50800" rIns="50800"/>
            <a:lstStyle/>
            <a:p>
              <a:pPr algn="ctr">
                <a:lnSpc>
                  <a:spcPts val="2520"/>
                </a:lnSpc>
              </a:pPr>
              <a:r>
                <a:rPr lang="en-US" sz="2100" b="true">
                  <a:solidFill>
                    <a:srgbClr val="0A0D12"/>
                  </a:solidFill>
                  <a:latin typeface="Calibri (MS) Bold"/>
                  <a:ea typeface="Calibri (MS) Bold"/>
                  <a:cs typeface="Calibri (MS) Bold"/>
                  <a:sym typeface="Calibri (MS) Bold"/>
                </a:rPr>
                <a:t>TP</a:t>
              </a:r>
            </a:p>
          </p:txBody>
        </p:sp>
      </p:grpSp>
      <p:grpSp>
        <p:nvGrpSpPr>
          <p:cNvPr name="Group 120" id="120"/>
          <p:cNvGrpSpPr/>
          <p:nvPr/>
        </p:nvGrpSpPr>
        <p:grpSpPr>
          <a:xfrm rot="0">
            <a:off x="14538960" y="4869180"/>
            <a:ext cx="1371600" cy="685800"/>
            <a:chOff x="0" y="0"/>
            <a:chExt cx="1828800" cy="914400"/>
          </a:xfrm>
        </p:grpSpPr>
        <p:sp>
          <p:nvSpPr>
            <p:cNvPr name="Freeform 121" id="121"/>
            <p:cNvSpPr/>
            <p:nvPr/>
          </p:nvSpPr>
          <p:spPr>
            <a:xfrm flipH="false" flipV="false" rot="0">
              <a:off x="0" y="0"/>
              <a:ext cx="1828800" cy="914400"/>
            </a:xfrm>
            <a:custGeom>
              <a:avLst/>
              <a:gdLst/>
              <a:ahLst/>
              <a:cxnLst/>
              <a:rect r="r" b="b" t="t" l="l"/>
              <a:pathLst>
                <a:path h="914400" w="1828800">
                  <a:moveTo>
                    <a:pt x="0" y="0"/>
                  </a:moveTo>
                  <a:lnTo>
                    <a:pt x="1828800" y="0"/>
                  </a:lnTo>
                  <a:lnTo>
                    <a:pt x="1828800" y="914400"/>
                  </a:lnTo>
                  <a:lnTo>
                    <a:pt x="0" y="914400"/>
                  </a:lnTo>
                  <a:close/>
                </a:path>
              </a:pathLst>
            </a:custGeom>
            <a:solidFill>
              <a:srgbClr val="334155"/>
            </a:solidFill>
          </p:spPr>
        </p:sp>
        <p:sp>
          <p:nvSpPr>
            <p:cNvPr name="TextBox 122" id="122"/>
            <p:cNvSpPr txBox="true"/>
            <p:nvPr/>
          </p:nvSpPr>
          <p:spPr>
            <a:xfrm>
              <a:off x="0" y="-47625"/>
              <a:ext cx="1828800" cy="962025"/>
            </a:xfrm>
            <a:prstGeom prst="rect">
              <a:avLst/>
            </a:prstGeom>
          </p:spPr>
          <p:txBody>
            <a:bodyPr anchor="ctr" rtlCol="false" tIns="50800" lIns="50800" bIns="50800" rIns="50800"/>
            <a:lstStyle/>
            <a:p>
              <a:pPr algn="ctr">
                <a:lnSpc>
                  <a:spcPts val="2520"/>
                </a:lnSpc>
              </a:pPr>
              <a:r>
                <a:rPr lang="en-US" sz="2100" b="true">
                  <a:solidFill>
                    <a:srgbClr val="E8ECF1"/>
                  </a:solidFill>
                  <a:latin typeface="Calibri (MS) Bold"/>
                  <a:ea typeface="Calibri (MS) Bold"/>
                  <a:cs typeface="Calibri (MS) Bold"/>
                  <a:sym typeface="Calibri (MS) Bold"/>
                </a:rPr>
                <a:t>FN</a:t>
              </a:r>
            </a:p>
          </p:txBody>
        </p:sp>
      </p:grpSp>
      <p:grpSp>
        <p:nvGrpSpPr>
          <p:cNvPr name="Group 123" id="123"/>
          <p:cNvGrpSpPr/>
          <p:nvPr/>
        </p:nvGrpSpPr>
        <p:grpSpPr>
          <a:xfrm rot="0">
            <a:off x="13098780" y="5596128"/>
            <a:ext cx="1371600" cy="685800"/>
            <a:chOff x="0" y="0"/>
            <a:chExt cx="1828800" cy="914400"/>
          </a:xfrm>
        </p:grpSpPr>
        <p:sp>
          <p:nvSpPr>
            <p:cNvPr name="Freeform 124" id="124"/>
            <p:cNvSpPr/>
            <p:nvPr/>
          </p:nvSpPr>
          <p:spPr>
            <a:xfrm flipH="false" flipV="false" rot="0">
              <a:off x="0" y="0"/>
              <a:ext cx="1828800" cy="914400"/>
            </a:xfrm>
            <a:custGeom>
              <a:avLst/>
              <a:gdLst/>
              <a:ahLst/>
              <a:cxnLst/>
              <a:rect r="r" b="b" t="t" l="l"/>
              <a:pathLst>
                <a:path h="914400" w="1828800">
                  <a:moveTo>
                    <a:pt x="0" y="0"/>
                  </a:moveTo>
                  <a:lnTo>
                    <a:pt x="1828800" y="0"/>
                  </a:lnTo>
                  <a:lnTo>
                    <a:pt x="1828800" y="914400"/>
                  </a:lnTo>
                  <a:lnTo>
                    <a:pt x="0" y="914400"/>
                  </a:lnTo>
                  <a:close/>
                </a:path>
              </a:pathLst>
            </a:custGeom>
            <a:solidFill>
              <a:srgbClr val="334155"/>
            </a:solidFill>
          </p:spPr>
        </p:sp>
        <p:sp>
          <p:nvSpPr>
            <p:cNvPr name="TextBox 125" id="125"/>
            <p:cNvSpPr txBox="true"/>
            <p:nvPr/>
          </p:nvSpPr>
          <p:spPr>
            <a:xfrm>
              <a:off x="0" y="-47625"/>
              <a:ext cx="1828800" cy="962025"/>
            </a:xfrm>
            <a:prstGeom prst="rect">
              <a:avLst/>
            </a:prstGeom>
          </p:spPr>
          <p:txBody>
            <a:bodyPr anchor="ctr" rtlCol="false" tIns="50800" lIns="50800" bIns="50800" rIns="50800"/>
            <a:lstStyle/>
            <a:p>
              <a:pPr algn="ctr">
                <a:lnSpc>
                  <a:spcPts val="2520"/>
                </a:lnSpc>
              </a:pPr>
              <a:r>
                <a:rPr lang="en-US" sz="2100" b="true">
                  <a:solidFill>
                    <a:srgbClr val="E8ECF1"/>
                  </a:solidFill>
                  <a:latin typeface="Calibri (MS) Bold"/>
                  <a:ea typeface="Calibri (MS) Bold"/>
                  <a:cs typeface="Calibri (MS) Bold"/>
                  <a:sym typeface="Calibri (MS) Bold"/>
                </a:rPr>
                <a:t>FP</a:t>
              </a:r>
            </a:p>
          </p:txBody>
        </p:sp>
      </p:grpSp>
      <p:grpSp>
        <p:nvGrpSpPr>
          <p:cNvPr name="Group 126" id="126"/>
          <p:cNvGrpSpPr/>
          <p:nvPr/>
        </p:nvGrpSpPr>
        <p:grpSpPr>
          <a:xfrm rot="0">
            <a:off x="14538960" y="5596128"/>
            <a:ext cx="1371600" cy="685800"/>
            <a:chOff x="0" y="0"/>
            <a:chExt cx="1828800" cy="914400"/>
          </a:xfrm>
        </p:grpSpPr>
        <p:sp>
          <p:nvSpPr>
            <p:cNvPr name="Freeform 127" id="127"/>
            <p:cNvSpPr/>
            <p:nvPr/>
          </p:nvSpPr>
          <p:spPr>
            <a:xfrm flipH="false" flipV="false" rot="0">
              <a:off x="0" y="0"/>
              <a:ext cx="1828800" cy="914400"/>
            </a:xfrm>
            <a:custGeom>
              <a:avLst/>
              <a:gdLst/>
              <a:ahLst/>
              <a:cxnLst/>
              <a:rect r="r" b="b" t="t" l="l"/>
              <a:pathLst>
                <a:path h="914400" w="1828800">
                  <a:moveTo>
                    <a:pt x="0" y="0"/>
                  </a:moveTo>
                  <a:lnTo>
                    <a:pt x="1828800" y="0"/>
                  </a:lnTo>
                  <a:lnTo>
                    <a:pt x="1828800" y="914400"/>
                  </a:lnTo>
                  <a:lnTo>
                    <a:pt x="0" y="914400"/>
                  </a:lnTo>
                  <a:close/>
                </a:path>
              </a:pathLst>
            </a:custGeom>
            <a:solidFill>
              <a:srgbClr val="4ADE80"/>
            </a:solidFill>
          </p:spPr>
        </p:sp>
        <p:sp>
          <p:nvSpPr>
            <p:cNvPr name="TextBox 128" id="128"/>
            <p:cNvSpPr txBox="true"/>
            <p:nvPr/>
          </p:nvSpPr>
          <p:spPr>
            <a:xfrm>
              <a:off x="0" y="-47625"/>
              <a:ext cx="1828800" cy="962025"/>
            </a:xfrm>
            <a:prstGeom prst="rect">
              <a:avLst/>
            </a:prstGeom>
          </p:spPr>
          <p:txBody>
            <a:bodyPr anchor="ctr" rtlCol="false" tIns="50800" lIns="50800" bIns="50800" rIns="50800"/>
            <a:lstStyle/>
            <a:p>
              <a:pPr algn="ctr">
                <a:lnSpc>
                  <a:spcPts val="2520"/>
                </a:lnSpc>
              </a:pPr>
              <a:r>
                <a:rPr lang="en-US" sz="2100" b="true">
                  <a:solidFill>
                    <a:srgbClr val="0A0D12"/>
                  </a:solidFill>
                  <a:latin typeface="Calibri (MS) Bold"/>
                  <a:ea typeface="Calibri (MS) Bold"/>
                  <a:cs typeface="Calibri (MS) Bold"/>
                  <a:sym typeface="Calibri (MS) Bold"/>
                </a:rPr>
                <a:t>TN</a:t>
              </a:r>
            </a:p>
          </p:txBody>
        </p:sp>
      </p:grpSp>
      <p:sp>
        <p:nvSpPr>
          <p:cNvPr name="TextBox 129" id="129"/>
          <p:cNvSpPr txBox="true"/>
          <p:nvPr/>
        </p:nvSpPr>
        <p:spPr>
          <a:xfrm rot="0">
            <a:off x="12001500" y="6536055"/>
            <a:ext cx="5212080" cy="1419225"/>
          </a:xfrm>
          <a:prstGeom prst="rect">
            <a:avLst/>
          </a:prstGeom>
        </p:spPr>
        <p:txBody>
          <a:bodyPr anchor="t" rtlCol="false" tIns="0" lIns="0" bIns="0" rIns="0">
            <a:spAutoFit/>
          </a:bodyPr>
          <a:lstStyle/>
          <a:p>
            <a:pPr algn="l">
              <a:lnSpc>
                <a:spcPts val="2340"/>
              </a:lnSpc>
            </a:pPr>
            <a:r>
              <a:rPr lang="en-US" sz="1950">
                <a:solidFill>
                  <a:srgbClr val="E8ECF1"/>
                </a:solidFill>
                <a:latin typeface="Calibri (MS)"/>
                <a:ea typeface="Calibri (MS)"/>
                <a:cs typeface="Calibri (MS)"/>
                <a:sym typeface="Calibri (MS)"/>
              </a:rPr>
              <a:t>Precision = TP / (TP + FP)</a:t>
            </a:r>
          </a:p>
          <a:p>
            <a:pPr algn="l">
              <a:lnSpc>
                <a:spcPts val="2340"/>
              </a:lnSpc>
            </a:pPr>
            <a:r>
              <a:rPr lang="en-US" sz="1950">
                <a:solidFill>
                  <a:srgbClr val="E8ECF1"/>
                </a:solidFill>
                <a:latin typeface="Calibri (MS)"/>
                <a:ea typeface="Calibri (MS)"/>
                <a:cs typeface="Calibri (MS)"/>
                <a:sym typeface="Calibri (MS)"/>
              </a:rPr>
              <a:t>Recall = TP / (TP + FN)</a:t>
            </a:r>
          </a:p>
          <a:p>
            <a:pPr algn="l">
              <a:lnSpc>
                <a:spcPts val="2340"/>
              </a:lnSpc>
            </a:pPr>
            <a:r>
              <a:rPr lang="en-US" sz="1950">
                <a:solidFill>
                  <a:srgbClr val="E8ECF1"/>
                </a:solidFill>
                <a:latin typeface="Calibri (MS)"/>
                <a:ea typeface="Calibri (MS)"/>
                <a:cs typeface="Calibri (MS)"/>
                <a:sym typeface="Calibri (MS)"/>
              </a:rPr>
              <a:t>F1 = balance of both</a:t>
            </a:r>
          </a:p>
        </p:txBody>
      </p:sp>
      <p:grpSp>
        <p:nvGrpSpPr>
          <p:cNvPr name="Group 130" id="130"/>
          <p:cNvGrpSpPr/>
          <p:nvPr/>
        </p:nvGrpSpPr>
        <p:grpSpPr>
          <a:xfrm rot="0">
            <a:off x="815816" y="8428196"/>
            <a:ext cx="16651796" cy="974407"/>
            <a:chOff x="0" y="0"/>
            <a:chExt cx="22202394" cy="1299210"/>
          </a:xfrm>
        </p:grpSpPr>
        <p:sp>
          <p:nvSpPr>
            <p:cNvPr name="Freeform 131" id="131"/>
            <p:cNvSpPr/>
            <p:nvPr/>
          </p:nvSpPr>
          <p:spPr>
            <a:xfrm flipH="false" flipV="false" rot="0">
              <a:off x="0" y="0"/>
              <a:ext cx="22202394" cy="1299210"/>
            </a:xfrm>
            <a:custGeom>
              <a:avLst/>
              <a:gdLst/>
              <a:ahLst/>
              <a:cxnLst/>
              <a:rect r="r" b="b" t="t" l="l"/>
              <a:pathLst>
                <a:path h="1299210" w="22202394">
                  <a:moveTo>
                    <a:pt x="0" y="148463"/>
                  </a:moveTo>
                  <a:cubicBezTo>
                    <a:pt x="0" y="66421"/>
                    <a:pt x="66421" y="0"/>
                    <a:pt x="148463" y="0"/>
                  </a:cubicBezTo>
                  <a:lnTo>
                    <a:pt x="22053931" y="0"/>
                  </a:lnTo>
                  <a:cubicBezTo>
                    <a:pt x="22135973" y="0"/>
                    <a:pt x="22202394" y="66421"/>
                    <a:pt x="22202394" y="148463"/>
                  </a:cubicBezTo>
                  <a:lnTo>
                    <a:pt x="22202394" y="1150747"/>
                  </a:lnTo>
                  <a:cubicBezTo>
                    <a:pt x="22202394" y="1232789"/>
                    <a:pt x="22135973" y="1299210"/>
                    <a:pt x="22053931" y="1299210"/>
                  </a:cubicBezTo>
                  <a:lnTo>
                    <a:pt x="148463" y="1299210"/>
                  </a:lnTo>
                  <a:cubicBezTo>
                    <a:pt x="66421" y="1299210"/>
                    <a:pt x="0" y="1232789"/>
                    <a:pt x="0" y="1150747"/>
                  </a:cubicBezTo>
                  <a:close/>
                </a:path>
              </a:pathLst>
            </a:custGeom>
            <a:solidFill>
              <a:srgbClr val="1D242E"/>
            </a:solidFill>
            <a:ln w="14288" cap="sq">
              <a:solidFill>
                <a:srgbClr val="2A323D"/>
              </a:solidFill>
              <a:prstDash val="solid"/>
              <a:miter/>
            </a:ln>
          </p:spPr>
        </p:sp>
      </p:grpSp>
      <p:grpSp>
        <p:nvGrpSpPr>
          <p:cNvPr name="Group 132" id="132"/>
          <p:cNvGrpSpPr/>
          <p:nvPr/>
        </p:nvGrpSpPr>
        <p:grpSpPr>
          <a:xfrm rot="0">
            <a:off x="1234440" y="8435340"/>
            <a:ext cx="15814548" cy="960120"/>
            <a:chOff x="0" y="0"/>
            <a:chExt cx="21086064" cy="1280160"/>
          </a:xfrm>
        </p:grpSpPr>
        <p:sp>
          <p:nvSpPr>
            <p:cNvPr name="Freeform 133" id="133"/>
            <p:cNvSpPr/>
            <p:nvPr/>
          </p:nvSpPr>
          <p:spPr>
            <a:xfrm flipH="false" flipV="false" rot="0">
              <a:off x="0" y="0"/>
              <a:ext cx="21086065" cy="1280160"/>
            </a:xfrm>
            <a:custGeom>
              <a:avLst/>
              <a:gdLst/>
              <a:ahLst/>
              <a:cxnLst/>
              <a:rect r="r" b="b" t="t" l="l"/>
              <a:pathLst>
                <a:path h="1280160" w="21086065">
                  <a:moveTo>
                    <a:pt x="0" y="0"/>
                  </a:moveTo>
                  <a:lnTo>
                    <a:pt x="21086065" y="0"/>
                  </a:lnTo>
                  <a:lnTo>
                    <a:pt x="21086065" y="1280160"/>
                  </a:lnTo>
                  <a:lnTo>
                    <a:pt x="0" y="1280160"/>
                  </a:lnTo>
                  <a:close/>
                </a:path>
              </a:pathLst>
            </a:custGeom>
            <a:blipFill>
              <a:blip r:embed="rId3">
                <a:alphaModFix amt="0"/>
              </a:blip>
              <a:stretch>
                <a:fillRect l="0" t="-270946" r="0" b="-270946"/>
              </a:stretch>
            </a:blipFill>
          </p:spPr>
        </p:sp>
        <p:sp>
          <p:nvSpPr>
            <p:cNvPr name="TextBox 134" id="134"/>
            <p:cNvSpPr txBox="true"/>
            <p:nvPr/>
          </p:nvSpPr>
          <p:spPr>
            <a:xfrm>
              <a:off x="0" y="-47625"/>
              <a:ext cx="21086064" cy="1327785"/>
            </a:xfrm>
            <a:prstGeom prst="rect">
              <a:avLst/>
            </a:prstGeom>
          </p:spPr>
          <p:txBody>
            <a:bodyPr anchor="ctr" rtlCol="false" tIns="0" lIns="0" bIns="0" rIns="0"/>
            <a:lstStyle/>
            <a:p>
              <a:pPr algn="l">
                <a:lnSpc>
                  <a:spcPts val="2520"/>
                </a:lnSpc>
              </a:pPr>
              <a:r>
                <a:rPr lang="en-US" sz="2100">
                  <a:solidFill>
                    <a:srgbClr val="E8ECF1"/>
                  </a:solidFill>
                  <a:latin typeface="Calibri (MS)"/>
                  <a:ea typeface="Calibri (MS)"/>
                  <a:cs typeface="Calibri (MS)"/>
                  <a:sym typeface="Calibri (MS)"/>
                </a:rPr>
                <a:t>Compared using Accuracy, Precision, Recall, F1-score and the Confusion Matrix (to be evaluated).</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Clustering: K-Means</a:t>
            </a:r>
          </a:p>
        </p:txBody>
      </p:sp>
      <p:grpSp>
        <p:nvGrpSpPr>
          <p:cNvPr name="Group 5" id="5"/>
          <p:cNvGrpSpPr/>
          <p:nvPr/>
        </p:nvGrpSpPr>
        <p:grpSpPr>
          <a:xfrm rot="0">
            <a:off x="822960" y="1536192"/>
            <a:ext cx="16637508" cy="480060"/>
            <a:chOff x="0" y="0"/>
            <a:chExt cx="22183344" cy="640080"/>
          </a:xfrm>
        </p:grpSpPr>
        <p:sp>
          <p:nvSpPr>
            <p:cNvPr name="Freeform 6" id="6"/>
            <p:cNvSpPr/>
            <p:nvPr/>
          </p:nvSpPr>
          <p:spPr>
            <a:xfrm flipH="false" flipV="false" rot="0">
              <a:off x="0" y="0"/>
              <a:ext cx="22183344" cy="640080"/>
            </a:xfrm>
            <a:custGeom>
              <a:avLst/>
              <a:gdLst/>
              <a:ahLst/>
              <a:cxnLst/>
              <a:rect r="r" b="b" t="t" l="l"/>
              <a:pathLst>
                <a:path h="640080" w="22183344">
                  <a:moveTo>
                    <a:pt x="0" y="0"/>
                  </a:moveTo>
                  <a:lnTo>
                    <a:pt x="22183344" y="0"/>
                  </a:lnTo>
                  <a:lnTo>
                    <a:pt x="22183344" y="640080"/>
                  </a:lnTo>
                  <a:lnTo>
                    <a:pt x="0" y="640080"/>
                  </a:lnTo>
                  <a:close/>
                </a:path>
              </a:pathLst>
            </a:custGeom>
            <a:blipFill>
              <a:blip r:embed="rId3">
                <a:alphaModFix amt="0"/>
              </a:blip>
              <a:stretch>
                <a:fillRect l="0" t="-625295" r="0" b="-625295"/>
              </a:stretch>
            </a:blipFill>
          </p:spPr>
        </p:sp>
        <p:sp>
          <p:nvSpPr>
            <p:cNvPr name="TextBox 7" id="7"/>
            <p:cNvSpPr txBox="true"/>
            <p:nvPr/>
          </p:nvSpPr>
          <p:spPr>
            <a:xfrm>
              <a:off x="0" y="-47625"/>
              <a:ext cx="22183344" cy="687705"/>
            </a:xfrm>
            <a:prstGeom prst="rect">
              <a:avLst/>
            </a:prstGeom>
          </p:spPr>
          <p:txBody>
            <a:bodyPr anchor="ctr" rtlCol="false" tIns="0" lIns="0" bIns="0" rIns="0"/>
            <a:lstStyle/>
            <a:p>
              <a:pPr algn="l">
                <a:lnSpc>
                  <a:spcPts val="2520"/>
                </a:lnSpc>
              </a:pPr>
              <a:r>
                <a:rPr lang="en-US" sz="2100">
                  <a:solidFill>
                    <a:srgbClr val="9AA4B2"/>
                  </a:solidFill>
                  <a:latin typeface="Calibri (MS)"/>
                  <a:ea typeface="Calibri (MS)"/>
                  <a:cs typeface="Calibri (MS)"/>
                  <a:sym typeface="Calibri (MS)"/>
                </a:rPr>
                <a:t>Unsupervised learning: no labels, the algorithm finds the groups</a:t>
              </a:r>
            </a:p>
          </p:txBody>
        </p:sp>
      </p:grpSp>
      <p:grpSp>
        <p:nvGrpSpPr>
          <p:cNvPr name="Group 8" id="8"/>
          <p:cNvGrpSpPr/>
          <p:nvPr/>
        </p:nvGrpSpPr>
        <p:grpSpPr>
          <a:xfrm rot="0">
            <a:off x="822960" y="9710928"/>
            <a:ext cx="10972800" cy="342900"/>
            <a:chOff x="0" y="0"/>
            <a:chExt cx="14630400" cy="457200"/>
          </a:xfrm>
        </p:grpSpPr>
        <p:sp>
          <p:nvSpPr>
            <p:cNvPr name="Freeform 9" id="9"/>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10" id="10"/>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11" id="11"/>
          <p:cNvGrpSpPr/>
          <p:nvPr/>
        </p:nvGrpSpPr>
        <p:grpSpPr>
          <a:xfrm rot="0">
            <a:off x="16088868" y="9710928"/>
            <a:ext cx="1371600" cy="342900"/>
            <a:chOff x="0" y="0"/>
            <a:chExt cx="1828800" cy="457200"/>
          </a:xfrm>
        </p:grpSpPr>
        <p:sp>
          <p:nvSpPr>
            <p:cNvPr name="Freeform 12" id="12"/>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3" id="13"/>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8</a:t>
              </a:r>
            </a:p>
          </p:txBody>
        </p:sp>
      </p:grpSp>
      <p:grpSp>
        <p:nvGrpSpPr>
          <p:cNvPr name="Group 14" id="14"/>
          <p:cNvGrpSpPr/>
          <p:nvPr/>
        </p:nvGrpSpPr>
        <p:grpSpPr>
          <a:xfrm rot="0">
            <a:off x="815816" y="2187416"/>
            <a:ext cx="4677728" cy="864680"/>
            <a:chOff x="0" y="0"/>
            <a:chExt cx="6236970" cy="1152906"/>
          </a:xfrm>
        </p:grpSpPr>
        <p:sp>
          <p:nvSpPr>
            <p:cNvPr name="Freeform 15" id="15"/>
            <p:cNvSpPr/>
            <p:nvPr/>
          </p:nvSpPr>
          <p:spPr>
            <a:xfrm flipH="false" flipV="false" rot="0">
              <a:off x="0" y="0"/>
              <a:ext cx="6236970" cy="1152906"/>
            </a:xfrm>
            <a:custGeom>
              <a:avLst/>
              <a:gdLst/>
              <a:ahLst/>
              <a:cxnLst/>
              <a:rect r="r" b="b" t="t" l="l"/>
              <a:pathLst>
                <a:path h="1152906" w="6236970">
                  <a:moveTo>
                    <a:pt x="0" y="148717"/>
                  </a:moveTo>
                  <a:cubicBezTo>
                    <a:pt x="0" y="66548"/>
                    <a:pt x="66548" y="0"/>
                    <a:pt x="148717" y="0"/>
                  </a:cubicBezTo>
                  <a:lnTo>
                    <a:pt x="6088253" y="0"/>
                  </a:lnTo>
                  <a:cubicBezTo>
                    <a:pt x="6170422" y="0"/>
                    <a:pt x="6236970" y="66548"/>
                    <a:pt x="6236970" y="148717"/>
                  </a:cubicBezTo>
                  <a:lnTo>
                    <a:pt x="6236970" y="1004189"/>
                  </a:lnTo>
                  <a:cubicBezTo>
                    <a:pt x="6236970" y="1086358"/>
                    <a:pt x="6170422" y="1152906"/>
                    <a:pt x="6088253" y="1152906"/>
                  </a:cubicBezTo>
                  <a:lnTo>
                    <a:pt x="148717" y="1152906"/>
                  </a:lnTo>
                  <a:cubicBezTo>
                    <a:pt x="66548" y="1152906"/>
                    <a:pt x="0" y="1086358"/>
                    <a:pt x="0" y="1004189"/>
                  </a:cubicBezTo>
                  <a:close/>
                </a:path>
              </a:pathLst>
            </a:custGeom>
            <a:solidFill>
              <a:srgbClr val="161B22"/>
            </a:solidFill>
            <a:ln w="14288" cap="sq">
              <a:solidFill>
                <a:srgbClr val="2A323D"/>
              </a:solidFill>
              <a:prstDash val="solid"/>
              <a:miter/>
            </a:ln>
          </p:spPr>
        </p:sp>
        <p:sp>
          <p:nvSpPr>
            <p:cNvPr name="TextBox 16" id="16"/>
            <p:cNvSpPr txBox="true"/>
            <p:nvPr/>
          </p:nvSpPr>
          <p:spPr>
            <a:xfrm>
              <a:off x="0" y="-47625"/>
              <a:ext cx="6236970" cy="1200531"/>
            </a:xfrm>
            <a:prstGeom prst="rect">
              <a:avLst/>
            </a:prstGeom>
          </p:spPr>
          <p:txBody>
            <a:bodyPr anchor="ctr" rtlCol="false" tIns="50800" lIns="50800" bIns="50800" rIns="50800"/>
            <a:lstStyle/>
            <a:p>
              <a:pPr algn="l">
                <a:lnSpc>
                  <a:spcPts val="2340"/>
                </a:lnSpc>
              </a:pPr>
              <a:r>
                <a:rPr lang="en-US" sz="1950" b="true">
                  <a:solidFill>
                    <a:srgbClr val="E8ECF1"/>
                  </a:solidFill>
                  <a:latin typeface="Calibri (MS) Bold"/>
                  <a:ea typeface="Calibri (MS) Bold"/>
                  <a:cs typeface="Calibri (MS) Bold"/>
                  <a:sym typeface="Calibri (MS) Bold"/>
                </a:rPr>
                <a:t>Player statistics</a:t>
              </a:r>
            </a:p>
            <a:p>
              <a:pPr algn="l">
                <a:lnSpc>
                  <a:spcPts val="1889"/>
                </a:lnSpc>
              </a:pPr>
              <a:r>
                <a:rPr lang="en-US" sz="1575">
                  <a:solidFill>
                    <a:srgbClr val="9AA4B2"/>
                  </a:solidFill>
                  <a:latin typeface="Calibri (MS)"/>
                  <a:ea typeface="Calibri (MS)"/>
                  <a:cs typeface="Calibri (MS)"/>
                  <a:sym typeface="Calibri (MS)"/>
                </a:rPr>
                <a:t>per-90 numbers, scaled</a:t>
              </a:r>
            </a:p>
          </p:txBody>
        </p:sp>
      </p:grpSp>
      <p:sp>
        <p:nvSpPr>
          <p:cNvPr name="AutoShape 17" id="17"/>
          <p:cNvSpPr/>
          <p:nvPr/>
        </p:nvSpPr>
        <p:spPr>
          <a:xfrm rot="121860">
            <a:off x="5533168" y="2610231"/>
            <a:ext cx="1209484" cy="0"/>
          </a:xfrm>
          <a:prstGeom prst="line">
            <a:avLst/>
          </a:prstGeom>
          <a:ln cap="rnd" w="19050">
            <a:solidFill>
              <a:srgbClr val="22D3EE"/>
            </a:solidFill>
            <a:prstDash val="solid"/>
            <a:headEnd type="none" len="sm" w="sm"/>
            <a:tailEnd type="triangle" len="med" w="lg"/>
          </a:ln>
        </p:spPr>
      </p:sp>
      <p:grpSp>
        <p:nvGrpSpPr>
          <p:cNvPr name="Group 18" id="18"/>
          <p:cNvGrpSpPr/>
          <p:nvPr/>
        </p:nvGrpSpPr>
        <p:grpSpPr>
          <a:xfrm rot="0">
            <a:off x="6802850" y="2187416"/>
            <a:ext cx="4677728" cy="864680"/>
            <a:chOff x="0" y="0"/>
            <a:chExt cx="6236970" cy="1152906"/>
          </a:xfrm>
        </p:grpSpPr>
        <p:sp>
          <p:nvSpPr>
            <p:cNvPr name="Freeform 19" id="19"/>
            <p:cNvSpPr/>
            <p:nvPr/>
          </p:nvSpPr>
          <p:spPr>
            <a:xfrm flipH="false" flipV="false" rot="0">
              <a:off x="0" y="0"/>
              <a:ext cx="6236970" cy="1152906"/>
            </a:xfrm>
            <a:custGeom>
              <a:avLst/>
              <a:gdLst/>
              <a:ahLst/>
              <a:cxnLst/>
              <a:rect r="r" b="b" t="t" l="l"/>
              <a:pathLst>
                <a:path h="1152906" w="6236970">
                  <a:moveTo>
                    <a:pt x="0" y="148717"/>
                  </a:moveTo>
                  <a:cubicBezTo>
                    <a:pt x="0" y="66548"/>
                    <a:pt x="66548" y="0"/>
                    <a:pt x="148717" y="0"/>
                  </a:cubicBezTo>
                  <a:lnTo>
                    <a:pt x="6088253" y="0"/>
                  </a:lnTo>
                  <a:cubicBezTo>
                    <a:pt x="6170422" y="0"/>
                    <a:pt x="6236970" y="66548"/>
                    <a:pt x="6236970" y="148717"/>
                  </a:cubicBezTo>
                  <a:lnTo>
                    <a:pt x="6236970" y="1004189"/>
                  </a:lnTo>
                  <a:cubicBezTo>
                    <a:pt x="6236970" y="1086358"/>
                    <a:pt x="6170422" y="1152906"/>
                    <a:pt x="6088253" y="1152906"/>
                  </a:cubicBezTo>
                  <a:lnTo>
                    <a:pt x="148717" y="1152906"/>
                  </a:lnTo>
                  <a:cubicBezTo>
                    <a:pt x="66548" y="1152906"/>
                    <a:pt x="0" y="1086358"/>
                    <a:pt x="0" y="1004189"/>
                  </a:cubicBezTo>
                  <a:close/>
                </a:path>
              </a:pathLst>
            </a:custGeom>
            <a:solidFill>
              <a:srgbClr val="161B22"/>
            </a:solidFill>
            <a:ln w="14288" cap="sq">
              <a:solidFill>
                <a:srgbClr val="2A323D"/>
              </a:solidFill>
              <a:prstDash val="solid"/>
              <a:miter/>
            </a:ln>
          </p:spPr>
        </p:sp>
        <p:sp>
          <p:nvSpPr>
            <p:cNvPr name="TextBox 20" id="20"/>
            <p:cNvSpPr txBox="true"/>
            <p:nvPr/>
          </p:nvSpPr>
          <p:spPr>
            <a:xfrm>
              <a:off x="0" y="-47625"/>
              <a:ext cx="6236970" cy="1200531"/>
            </a:xfrm>
            <a:prstGeom prst="rect">
              <a:avLst/>
            </a:prstGeom>
          </p:spPr>
          <p:txBody>
            <a:bodyPr anchor="ctr" rtlCol="false" tIns="50800" lIns="50800" bIns="50800" rIns="50800"/>
            <a:lstStyle/>
            <a:p>
              <a:pPr algn="l">
                <a:lnSpc>
                  <a:spcPts val="2340"/>
                </a:lnSpc>
              </a:pPr>
              <a:r>
                <a:rPr lang="en-US" sz="1950" b="true">
                  <a:solidFill>
                    <a:srgbClr val="E8ECF1"/>
                  </a:solidFill>
                  <a:latin typeface="Calibri (MS) Bold"/>
                  <a:ea typeface="Calibri (MS) Bold"/>
                  <a:cs typeface="Calibri (MS) Bold"/>
                  <a:sym typeface="Calibri (MS) Bold"/>
                </a:rPr>
                <a:t>Clusters</a:t>
              </a:r>
            </a:p>
            <a:p>
              <a:pPr algn="l">
                <a:lnSpc>
                  <a:spcPts val="1889"/>
                </a:lnSpc>
              </a:pPr>
              <a:r>
                <a:rPr lang="en-US" sz="1575">
                  <a:solidFill>
                    <a:srgbClr val="9AA4B2"/>
                  </a:solidFill>
                  <a:latin typeface="Calibri (MS)"/>
                  <a:ea typeface="Calibri (MS)"/>
                  <a:cs typeface="Calibri (MS)"/>
                  <a:sym typeface="Calibri (MS)"/>
                </a:rPr>
                <a:t>K groups found by K-Means</a:t>
              </a:r>
            </a:p>
          </p:txBody>
        </p:sp>
      </p:grpSp>
      <p:sp>
        <p:nvSpPr>
          <p:cNvPr name="AutoShape 21" id="21"/>
          <p:cNvSpPr/>
          <p:nvPr/>
        </p:nvSpPr>
        <p:spPr>
          <a:xfrm rot="121860">
            <a:off x="11520202" y="2610231"/>
            <a:ext cx="1209484" cy="0"/>
          </a:xfrm>
          <a:prstGeom prst="line">
            <a:avLst/>
          </a:prstGeom>
          <a:ln cap="rnd" w="19050">
            <a:solidFill>
              <a:srgbClr val="22D3EE"/>
            </a:solidFill>
            <a:prstDash val="solid"/>
            <a:headEnd type="none" len="sm" w="sm"/>
            <a:tailEnd type="triangle" len="med" w="lg"/>
          </a:ln>
        </p:spPr>
      </p:sp>
      <p:grpSp>
        <p:nvGrpSpPr>
          <p:cNvPr name="Group 22" id="22"/>
          <p:cNvGrpSpPr/>
          <p:nvPr/>
        </p:nvGrpSpPr>
        <p:grpSpPr>
          <a:xfrm rot="0">
            <a:off x="12789884" y="2187416"/>
            <a:ext cx="4677728" cy="864680"/>
            <a:chOff x="0" y="0"/>
            <a:chExt cx="6236970" cy="1152906"/>
          </a:xfrm>
        </p:grpSpPr>
        <p:sp>
          <p:nvSpPr>
            <p:cNvPr name="Freeform 23" id="23"/>
            <p:cNvSpPr/>
            <p:nvPr/>
          </p:nvSpPr>
          <p:spPr>
            <a:xfrm flipH="false" flipV="false" rot="0">
              <a:off x="0" y="0"/>
              <a:ext cx="6236970" cy="1152906"/>
            </a:xfrm>
            <a:custGeom>
              <a:avLst/>
              <a:gdLst/>
              <a:ahLst/>
              <a:cxnLst/>
              <a:rect r="r" b="b" t="t" l="l"/>
              <a:pathLst>
                <a:path h="1152906" w="6236970">
                  <a:moveTo>
                    <a:pt x="0" y="148717"/>
                  </a:moveTo>
                  <a:cubicBezTo>
                    <a:pt x="0" y="66548"/>
                    <a:pt x="66548" y="0"/>
                    <a:pt x="148717" y="0"/>
                  </a:cubicBezTo>
                  <a:lnTo>
                    <a:pt x="6088253" y="0"/>
                  </a:lnTo>
                  <a:cubicBezTo>
                    <a:pt x="6170422" y="0"/>
                    <a:pt x="6236970" y="66548"/>
                    <a:pt x="6236970" y="148717"/>
                  </a:cubicBezTo>
                  <a:lnTo>
                    <a:pt x="6236970" y="1004189"/>
                  </a:lnTo>
                  <a:cubicBezTo>
                    <a:pt x="6236970" y="1086358"/>
                    <a:pt x="6170422" y="1152906"/>
                    <a:pt x="6088253" y="1152906"/>
                  </a:cubicBezTo>
                  <a:lnTo>
                    <a:pt x="148717" y="1152906"/>
                  </a:lnTo>
                  <a:cubicBezTo>
                    <a:pt x="66548" y="1152906"/>
                    <a:pt x="0" y="1086358"/>
                    <a:pt x="0" y="1004189"/>
                  </a:cubicBezTo>
                  <a:close/>
                </a:path>
              </a:pathLst>
            </a:custGeom>
            <a:solidFill>
              <a:srgbClr val="161B22"/>
            </a:solidFill>
            <a:ln w="14288" cap="sq">
              <a:solidFill>
                <a:srgbClr val="2A323D"/>
              </a:solidFill>
              <a:prstDash val="solid"/>
              <a:miter/>
            </a:ln>
          </p:spPr>
        </p:sp>
        <p:sp>
          <p:nvSpPr>
            <p:cNvPr name="TextBox 24" id="24"/>
            <p:cNvSpPr txBox="true"/>
            <p:nvPr/>
          </p:nvSpPr>
          <p:spPr>
            <a:xfrm>
              <a:off x="0" y="-47625"/>
              <a:ext cx="6236970" cy="1200531"/>
            </a:xfrm>
            <a:prstGeom prst="rect">
              <a:avLst/>
            </a:prstGeom>
          </p:spPr>
          <p:txBody>
            <a:bodyPr anchor="ctr" rtlCol="false" tIns="50800" lIns="50800" bIns="50800" rIns="50800"/>
            <a:lstStyle/>
            <a:p>
              <a:pPr algn="l">
                <a:lnSpc>
                  <a:spcPts val="2340"/>
                </a:lnSpc>
              </a:pPr>
              <a:r>
                <a:rPr lang="en-US" sz="1950" b="true">
                  <a:solidFill>
                    <a:srgbClr val="E8ECF1"/>
                  </a:solidFill>
                  <a:latin typeface="Calibri (MS) Bold"/>
                  <a:ea typeface="Calibri (MS) Bold"/>
                  <a:cs typeface="Calibri (MS) Bold"/>
                  <a:sym typeface="Calibri (MS) Bold"/>
                </a:rPr>
                <a:t>Different statistical profiles</a:t>
              </a:r>
            </a:p>
            <a:p>
              <a:pPr algn="l">
                <a:lnSpc>
                  <a:spcPts val="1889"/>
                </a:lnSpc>
              </a:pPr>
              <a:r>
                <a:rPr lang="en-US" sz="1575">
                  <a:solidFill>
                    <a:srgbClr val="9AA4B2"/>
                  </a:solidFill>
                  <a:latin typeface="Calibri (MS)"/>
                  <a:ea typeface="Calibri (MS)"/>
                  <a:cs typeface="Calibri (MS)"/>
                  <a:sym typeface="Calibri (MS)"/>
                </a:rPr>
                <a:t>interpreted afterwards</a:t>
              </a:r>
            </a:p>
          </p:txBody>
        </p:sp>
      </p:grpSp>
      <p:grpSp>
        <p:nvGrpSpPr>
          <p:cNvPr name="Group 25" id="25"/>
          <p:cNvGrpSpPr/>
          <p:nvPr/>
        </p:nvGrpSpPr>
        <p:grpSpPr>
          <a:xfrm rot="0">
            <a:off x="815816" y="3353276"/>
            <a:ext cx="5089208" cy="5089208"/>
            <a:chOff x="0" y="0"/>
            <a:chExt cx="6785610" cy="6785610"/>
          </a:xfrm>
        </p:grpSpPr>
        <p:sp>
          <p:nvSpPr>
            <p:cNvPr name="Freeform 26" id="26"/>
            <p:cNvSpPr/>
            <p:nvPr/>
          </p:nvSpPr>
          <p:spPr>
            <a:xfrm flipH="false" flipV="false" rot="0">
              <a:off x="0" y="0"/>
              <a:ext cx="6785610" cy="6785610"/>
            </a:xfrm>
            <a:custGeom>
              <a:avLst/>
              <a:gdLst/>
              <a:ahLst/>
              <a:cxnLst/>
              <a:rect r="r" b="b" t="t" l="l"/>
              <a:pathLst>
                <a:path h="6785610" w="6785610">
                  <a:moveTo>
                    <a:pt x="0" y="146685"/>
                  </a:moveTo>
                  <a:cubicBezTo>
                    <a:pt x="0" y="65659"/>
                    <a:pt x="65659" y="0"/>
                    <a:pt x="146685" y="0"/>
                  </a:cubicBezTo>
                  <a:lnTo>
                    <a:pt x="6638925" y="0"/>
                  </a:lnTo>
                  <a:cubicBezTo>
                    <a:pt x="6719951" y="0"/>
                    <a:pt x="6785610" y="65659"/>
                    <a:pt x="6785610" y="146685"/>
                  </a:cubicBezTo>
                  <a:lnTo>
                    <a:pt x="6785610" y="6638925"/>
                  </a:lnTo>
                  <a:cubicBezTo>
                    <a:pt x="6785610" y="6719951"/>
                    <a:pt x="6719951" y="6785610"/>
                    <a:pt x="6638925" y="6785610"/>
                  </a:cubicBezTo>
                  <a:lnTo>
                    <a:pt x="146685" y="6785610"/>
                  </a:lnTo>
                  <a:cubicBezTo>
                    <a:pt x="65659" y="6785610"/>
                    <a:pt x="0" y="6719951"/>
                    <a:pt x="0" y="6638925"/>
                  </a:cubicBezTo>
                  <a:close/>
                </a:path>
              </a:pathLst>
            </a:custGeom>
            <a:solidFill>
              <a:srgbClr val="161B22"/>
            </a:solidFill>
            <a:ln w="14288" cap="sq">
              <a:solidFill>
                <a:srgbClr val="2A323D"/>
              </a:solidFill>
              <a:prstDash val="solid"/>
              <a:miter/>
            </a:ln>
          </p:spPr>
        </p:sp>
      </p:grpSp>
      <p:grpSp>
        <p:nvGrpSpPr>
          <p:cNvPr name="Group 27" id="27"/>
          <p:cNvGrpSpPr/>
          <p:nvPr/>
        </p:nvGrpSpPr>
        <p:grpSpPr>
          <a:xfrm rot="0">
            <a:off x="1165860" y="3538728"/>
            <a:ext cx="4389120" cy="384048"/>
            <a:chOff x="0" y="0"/>
            <a:chExt cx="5852160" cy="512064"/>
          </a:xfrm>
        </p:grpSpPr>
        <p:sp>
          <p:nvSpPr>
            <p:cNvPr name="Freeform 28" id="28"/>
            <p:cNvSpPr/>
            <p:nvPr/>
          </p:nvSpPr>
          <p:spPr>
            <a:xfrm flipH="false" flipV="false" rot="0">
              <a:off x="0" y="0"/>
              <a:ext cx="5852160" cy="512064"/>
            </a:xfrm>
            <a:custGeom>
              <a:avLst/>
              <a:gdLst/>
              <a:ahLst/>
              <a:cxnLst/>
              <a:rect r="r" b="b" t="t" l="l"/>
              <a:pathLst>
                <a:path h="512064" w="5852160">
                  <a:moveTo>
                    <a:pt x="0" y="0"/>
                  </a:moveTo>
                  <a:lnTo>
                    <a:pt x="5852160" y="0"/>
                  </a:lnTo>
                  <a:lnTo>
                    <a:pt x="5852160" y="512064"/>
                  </a:lnTo>
                  <a:lnTo>
                    <a:pt x="0" y="512064"/>
                  </a:lnTo>
                  <a:close/>
                </a:path>
              </a:pathLst>
            </a:custGeom>
            <a:blipFill>
              <a:blip r:embed="rId3">
                <a:alphaModFix amt="0"/>
              </a:blip>
              <a:stretch>
                <a:fillRect l="0" t="-172686" r="0" b="-172686"/>
              </a:stretch>
            </a:blipFill>
          </p:spPr>
        </p:sp>
        <p:sp>
          <p:nvSpPr>
            <p:cNvPr name="TextBox 29" id="29"/>
            <p:cNvSpPr txBox="true"/>
            <p:nvPr/>
          </p:nvSpPr>
          <p:spPr>
            <a:xfrm>
              <a:off x="0" y="-28575"/>
              <a:ext cx="5852160" cy="540639"/>
            </a:xfrm>
            <a:prstGeom prst="rect">
              <a:avLst/>
            </a:prstGeom>
          </p:spPr>
          <p:txBody>
            <a:bodyPr anchor="ctr" rtlCol="false" tIns="0" lIns="0" bIns="0" rIns="0"/>
            <a:lstStyle/>
            <a:p>
              <a:pPr algn="l">
                <a:lnSpc>
                  <a:spcPts val="1980"/>
                </a:lnSpc>
              </a:pPr>
              <a:r>
                <a:rPr lang="en-US" b="true" sz="1650" spc="299">
                  <a:solidFill>
                    <a:srgbClr val="22D3EE"/>
                  </a:solidFill>
                  <a:latin typeface="Calibri (MS) Bold"/>
                  <a:ea typeface="Calibri (MS) Bold"/>
                  <a:cs typeface="Calibri (MS) Bold"/>
                  <a:sym typeface="Calibri (MS) Bold"/>
                </a:rPr>
                <a:t>HOW K-MEANS WORKS</a:t>
              </a:r>
            </a:p>
          </p:txBody>
        </p:sp>
      </p:grpSp>
      <p:grpSp>
        <p:nvGrpSpPr>
          <p:cNvPr name="Group 30" id="30"/>
          <p:cNvGrpSpPr/>
          <p:nvPr/>
        </p:nvGrpSpPr>
        <p:grpSpPr>
          <a:xfrm rot="0">
            <a:off x="1165860" y="4114800"/>
            <a:ext cx="521208" cy="521208"/>
            <a:chOff x="0" y="0"/>
            <a:chExt cx="694944" cy="694944"/>
          </a:xfrm>
        </p:grpSpPr>
        <p:sp>
          <p:nvSpPr>
            <p:cNvPr name="Freeform 31" id="3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22D3EE"/>
            </a:solidFill>
          </p:spPr>
        </p:sp>
        <p:sp>
          <p:nvSpPr>
            <p:cNvPr name="TextBox 32" id="32"/>
            <p:cNvSpPr txBox="true"/>
            <p:nvPr/>
          </p:nvSpPr>
          <p:spPr>
            <a:xfrm>
              <a:off x="0" y="-38100"/>
              <a:ext cx="694944" cy="733044"/>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1</a:t>
              </a:r>
            </a:p>
          </p:txBody>
        </p:sp>
      </p:grpSp>
      <p:grpSp>
        <p:nvGrpSpPr>
          <p:cNvPr name="Group 33" id="33"/>
          <p:cNvGrpSpPr/>
          <p:nvPr/>
        </p:nvGrpSpPr>
        <p:grpSpPr>
          <a:xfrm rot="0">
            <a:off x="1920240" y="4018788"/>
            <a:ext cx="3703320" cy="891540"/>
            <a:chOff x="0" y="0"/>
            <a:chExt cx="4937760" cy="1188720"/>
          </a:xfrm>
        </p:grpSpPr>
        <p:sp>
          <p:nvSpPr>
            <p:cNvPr name="Freeform 34" id="34"/>
            <p:cNvSpPr/>
            <p:nvPr/>
          </p:nvSpPr>
          <p:spPr>
            <a:xfrm flipH="false" flipV="false" rot="0">
              <a:off x="0" y="0"/>
              <a:ext cx="4937760" cy="1188720"/>
            </a:xfrm>
            <a:custGeom>
              <a:avLst/>
              <a:gdLst/>
              <a:ahLst/>
              <a:cxnLst/>
              <a:rect r="r" b="b" t="t" l="l"/>
              <a:pathLst>
                <a:path h="1188720" w="4937760">
                  <a:moveTo>
                    <a:pt x="0" y="0"/>
                  </a:moveTo>
                  <a:lnTo>
                    <a:pt x="4937760" y="0"/>
                  </a:lnTo>
                  <a:lnTo>
                    <a:pt x="4937760" y="1188720"/>
                  </a:lnTo>
                  <a:lnTo>
                    <a:pt x="0" y="1188720"/>
                  </a:lnTo>
                  <a:close/>
                </a:path>
              </a:pathLst>
            </a:custGeom>
            <a:blipFill>
              <a:blip r:embed="rId3">
                <a:alphaModFix amt="0"/>
              </a:blip>
              <a:stretch>
                <a:fillRect l="0" t="-30937" r="0" b="-30937"/>
              </a:stretch>
            </a:blipFill>
          </p:spPr>
        </p:sp>
        <p:sp>
          <p:nvSpPr>
            <p:cNvPr name="TextBox 35" id="35"/>
            <p:cNvSpPr txBox="true"/>
            <p:nvPr/>
          </p:nvSpPr>
          <p:spPr>
            <a:xfrm>
              <a:off x="0" y="-47625"/>
              <a:ext cx="4937760" cy="1236345"/>
            </a:xfrm>
            <a:prstGeom prst="rect">
              <a:avLst/>
            </a:prstGeom>
          </p:spPr>
          <p:txBody>
            <a:bodyPr anchor="ctr" rtlCol="false" tIns="0" lIns="0" bIns="0" rIns="0"/>
            <a:lstStyle/>
            <a:p>
              <a:pPr algn="l">
                <a:lnSpc>
                  <a:spcPts val="2340"/>
                </a:lnSpc>
              </a:pPr>
              <a:r>
                <a:rPr lang="en-US" sz="1950">
                  <a:solidFill>
                    <a:srgbClr val="E8ECF1"/>
                  </a:solidFill>
                  <a:latin typeface="Calibri (MS)"/>
                  <a:ea typeface="Calibri (MS)"/>
                  <a:cs typeface="Calibri (MS)"/>
                  <a:sym typeface="Calibri (MS)"/>
                </a:rPr>
                <a:t>Choose K and place K centroids</a:t>
              </a:r>
            </a:p>
          </p:txBody>
        </p:sp>
      </p:grpSp>
      <p:grpSp>
        <p:nvGrpSpPr>
          <p:cNvPr name="Group 36" id="36"/>
          <p:cNvGrpSpPr/>
          <p:nvPr/>
        </p:nvGrpSpPr>
        <p:grpSpPr>
          <a:xfrm rot="0">
            <a:off x="1165860" y="5170932"/>
            <a:ext cx="521208" cy="521208"/>
            <a:chOff x="0" y="0"/>
            <a:chExt cx="694944" cy="694944"/>
          </a:xfrm>
        </p:grpSpPr>
        <p:sp>
          <p:nvSpPr>
            <p:cNvPr name="Freeform 37" id="37"/>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22D3EE"/>
            </a:solidFill>
          </p:spPr>
        </p:sp>
        <p:sp>
          <p:nvSpPr>
            <p:cNvPr name="TextBox 38" id="38"/>
            <p:cNvSpPr txBox="true"/>
            <p:nvPr/>
          </p:nvSpPr>
          <p:spPr>
            <a:xfrm>
              <a:off x="0" y="-38100"/>
              <a:ext cx="694944" cy="733044"/>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2</a:t>
              </a:r>
            </a:p>
          </p:txBody>
        </p:sp>
      </p:grpSp>
      <p:grpSp>
        <p:nvGrpSpPr>
          <p:cNvPr name="Group 39" id="39"/>
          <p:cNvGrpSpPr/>
          <p:nvPr/>
        </p:nvGrpSpPr>
        <p:grpSpPr>
          <a:xfrm rot="0">
            <a:off x="1920240" y="5074920"/>
            <a:ext cx="3703320" cy="891540"/>
            <a:chOff x="0" y="0"/>
            <a:chExt cx="4937760" cy="1188720"/>
          </a:xfrm>
        </p:grpSpPr>
        <p:sp>
          <p:nvSpPr>
            <p:cNvPr name="Freeform 40" id="40"/>
            <p:cNvSpPr/>
            <p:nvPr/>
          </p:nvSpPr>
          <p:spPr>
            <a:xfrm flipH="false" flipV="false" rot="0">
              <a:off x="0" y="0"/>
              <a:ext cx="4937760" cy="1188720"/>
            </a:xfrm>
            <a:custGeom>
              <a:avLst/>
              <a:gdLst/>
              <a:ahLst/>
              <a:cxnLst/>
              <a:rect r="r" b="b" t="t" l="l"/>
              <a:pathLst>
                <a:path h="1188720" w="4937760">
                  <a:moveTo>
                    <a:pt x="0" y="0"/>
                  </a:moveTo>
                  <a:lnTo>
                    <a:pt x="4937760" y="0"/>
                  </a:lnTo>
                  <a:lnTo>
                    <a:pt x="4937760" y="1188720"/>
                  </a:lnTo>
                  <a:lnTo>
                    <a:pt x="0" y="1188720"/>
                  </a:lnTo>
                  <a:close/>
                </a:path>
              </a:pathLst>
            </a:custGeom>
            <a:blipFill>
              <a:blip r:embed="rId3">
                <a:alphaModFix amt="0"/>
              </a:blip>
              <a:stretch>
                <a:fillRect l="0" t="-30937" r="0" b="-30937"/>
              </a:stretch>
            </a:blipFill>
          </p:spPr>
        </p:sp>
        <p:sp>
          <p:nvSpPr>
            <p:cNvPr name="TextBox 41" id="41"/>
            <p:cNvSpPr txBox="true"/>
            <p:nvPr/>
          </p:nvSpPr>
          <p:spPr>
            <a:xfrm>
              <a:off x="0" y="-47625"/>
              <a:ext cx="4937760" cy="1236345"/>
            </a:xfrm>
            <a:prstGeom prst="rect">
              <a:avLst/>
            </a:prstGeom>
          </p:spPr>
          <p:txBody>
            <a:bodyPr anchor="ctr" rtlCol="false" tIns="0" lIns="0" bIns="0" rIns="0"/>
            <a:lstStyle/>
            <a:p>
              <a:pPr algn="l">
                <a:lnSpc>
                  <a:spcPts val="2340"/>
                </a:lnSpc>
              </a:pPr>
              <a:r>
                <a:rPr lang="en-US" sz="1950">
                  <a:solidFill>
                    <a:srgbClr val="E8ECF1"/>
                  </a:solidFill>
                  <a:latin typeface="Calibri (MS)"/>
                  <a:ea typeface="Calibri (MS)"/>
                  <a:cs typeface="Calibri (MS)"/>
                  <a:sym typeface="Calibri (MS)"/>
                </a:rPr>
                <a:t>Assign each player to the nearest centroid (distance)</a:t>
              </a:r>
            </a:p>
          </p:txBody>
        </p:sp>
      </p:grpSp>
      <p:grpSp>
        <p:nvGrpSpPr>
          <p:cNvPr name="Group 42" id="42"/>
          <p:cNvGrpSpPr/>
          <p:nvPr/>
        </p:nvGrpSpPr>
        <p:grpSpPr>
          <a:xfrm rot="0">
            <a:off x="1165860" y="6227064"/>
            <a:ext cx="521208" cy="521208"/>
            <a:chOff x="0" y="0"/>
            <a:chExt cx="694944" cy="694944"/>
          </a:xfrm>
        </p:grpSpPr>
        <p:sp>
          <p:nvSpPr>
            <p:cNvPr name="Freeform 43" id="43"/>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22D3EE"/>
            </a:solidFill>
          </p:spPr>
        </p:sp>
        <p:sp>
          <p:nvSpPr>
            <p:cNvPr name="TextBox 44" id="44"/>
            <p:cNvSpPr txBox="true"/>
            <p:nvPr/>
          </p:nvSpPr>
          <p:spPr>
            <a:xfrm>
              <a:off x="0" y="-38100"/>
              <a:ext cx="694944" cy="733044"/>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3</a:t>
              </a:r>
            </a:p>
          </p:txBody>
        </p:sp>
      </p:grpSp>
      <p:grpSp>
        <p:nvGrpSpPr>
          <p:cNvPr name="Group 45" id="45"/>
          <p:cNvGrpSpPr/>
          <p:nvPr/>
        </p:nvGrpSpPr>
        <p:grpSpPr>
          <a:xfrm rot="0">
            <a:off x="1920240" y="6131052"/>
            <a:ext cx="3703320" cy="891540"/>
            <a:chOff x="0" y="0"/>
            <a:chExt cx="4937760" cy="1188720"/>
          </a:xfrm>
        </p:grpSpPr>
        <p:sp>
          <p:nvSpPr>
            <p:cNvPr name="Freeform 46" id="46"/>
            <p:cNvSpPr/>
            <p:nvPr/>
          </p:nvSpPr>
          <p:spPr>
            <a:xfrm flipH="false" flipV="false" rot="0">
              <a:off x="0" y="0"/>
              <a:ext cx="4937760" cy="1188720"/>
            </a:xfrm>
            <a:custGeom>
              <a:avLst/>
              <a:gdLst/>
              <a:ahLst/>
              <a:cxnLst/>
              <a:rect r="r" b="b" t="t" l="l"/>
              <a:pathLst>
                <a:path h="1188720" w="4937760">
                  <a:moveTo>
                    <a:pt x="0" y="0"/>
                  </a:moveTo>
                  <a:lnTo>
                    <a:pt x="4937760" y="0"/>
                  </a:lnTo>
                  <a:lnTo>
                    <a:pt x="4937760" y="1188720"/>
                  </a:lnTo>
                  <a:lnTo>
                    <a:pt x="0" y="1188720"/>
                  </a:lnTo>
                  <a:close/>
                </a:path>
              </a:pathLst>
            </a:custGeom>
            <a:blipFill>
              <a:blip r:embed="rId3">
                <a:alphaModFix amt="0"/>
              </a:blip>
              <a:stretch>
                <a:fillRect l="0" t="-30937" r="0" b="-30937"/>
              </a:stretch>
            </a:blipFill>
          </p:spPr>
        </p:sp>
        <p:sp>
          <p:nvSpPr>
            <p:cNvPr name="TextBox 47" id="47"/>
            <p:cNvSpPr txBox="true"/>
            <p:nvPr/>
          </p:nvSpPr>
          <p:spPr>
            <a:xfrm>
              <a:off x="0" y="-47625"/>
              <a:ext cx="4937760" cy="1236345"/>
            </a:xfrm>
            <a:prstGeom prst="rect">
              <a:avLst/>
            </a:prstGeom>
          </p:spPr>
          <p:txBody>
            <a:bodyPr anchor="ctr" rtlCol="false" tIns="0" lIns="0" bIns="0" rIns="0"/>
            <a:lstStyle/>
            <a:p>
              <a:pPr algn="l">
                <a:lnSpc>
                  <a:spcPts val="2340"/>
                </a:lnSpc>
              </a:pPr>
              <a:r>
                <a:rPr lang="en-US" sz="1950">
                  <a:solidFill>
                    <a:srgbClr val="E8ECF1"/>
                  </a:solidFill>
                  <a:latin typeface="Calibri (MS)"/>
                  <a:ea typeface="Calibri (MS)"/>
                  <a:cs typeface="Calibri (MS)"/>
                  <a:sym typeface="Calibri (MS)"/>
                </a:rPr>
                <a:t>Move each centroid to the mean of its players</a:t>
              </a:r>
            </a:p>
          </p:txBody>
        </p:sp>
      </p:grpSp>
      <p:grpSp>
        <p:nvGrpSpPr>
          <p:cNvPr name="Group 48" id="48"/>
          <p:cNvGrpSpPr/>
          <p:nvPr/>
        </p:nvGrpSpPr>
        <p:grpSpPr>
          <a:xfrm rot="0">
            <a:off x="1165860" y="7283196"/>
            <a:ext cx="521208" cy="521208"/>
            <a:chOff x="0" y="0"/>
            <a:chExt cx="694944" cy="694944"/>
          </a:xfrm>
        </p:grpSpPr>
        <p:sp>
          <p:nvSpPr>
            <p:cNvPr name="Freeform 49" id="49"/>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22D3EE"/>
            </a:solidFill>
          </p:spPr>
        </p:sp>
        <p:sp>
          <p:nvSpPr>
            <p:cNvPr name="TextBox 50" id="50"/>
            <p:cNvSpPr txBox="true"/>
            <p:nvPr/>
          </p:nvSpPr>
          <p:spPr>
            <a:xfrm>
              <a:off x="0" y="-38100"/>
              <a:ext cx="694944" cy="733044"/>
            </a:xfrm>
            <a:prstGeom prst="rect">
              <a:avLst/>
            </a:prstGeom>
          </p:spPr>
          <p:txBody>
            <a:bodyPr anchor="ctr" rtlCol="false" tIns="50800" lIns="50800" bIns="50800" rIns="50800"/>
            <a:lstStyle/>
            <a:p>
              <a:pPr algn="ctr">
                <a:lnSpc>
                  <a:spcPts val="2160"/>
                </a:lnSpc>
              </a:pPr>
              <a:r>
                <a:rPr lang="en-US" sz="1800" b="true">
                  <a:solidFill>
                    <a:srgbClr val="0A0D12"/>
                  </a:solidFill>
                  <a:latin typeface="Calibri (MS) Bold"/>
                  <a:ea typeface="Calibri (MS) Bold"/>
                  <a:cs typeface="Calibri (MS) Bold"/>
                  <a:sym typeface="Calibri (MS) Bold"/>
                </a:rPr>
                <a:t>4</a:t>
              </a:r>
            </a:p>
          </p:txBody>
        </p:sp>
      </p:grpSp>
      <p:grpSp>
        <p:nvGrpSpPr>
          <p:cNvPr name="Group 51" id="51"/>
          <p:cNvGrpSpPr/>
          <p:nvPr/>
        </p:nvGrpSpPr>
        <p:grpSpPr>
          <a:xfrm rot="0">
            <a:off x="1920240" y="7187184"/>
            <a:ext cx="3703320" cy="891540"/>
            <a:chOff x="0" y="0"/>
            <a:chExt cx="4937760" cy="1188720"/>
          </a:xfrm>
        </p:grpSpPr>
        <p:sp>
          <p:nvSpPr>
            <p:cNvPr name="Freeform 52" id="52"/>
            <p:cNvSpPr/>
            <p:nvPr/>
          </p:nvSpPr>
          <p:spPr>
            <a:xfrm flipH="false" flipV="false" rot="0">
              <a:off x="0" y="0"/>
              <a:ext cx="4937760" cy="1188720"/>
            </a:xfrm>
            <a:custGeom>
              <a:avLst/>
              <a:gdLst/>
              <a:ahLst/>
              <a:cxnLst/>
              <a:rect r="r" b="b" t="t" l="l"/>
              <a:pathLst>
                <a:path h="1188720" w="4937760">
                  <a:moveTo>
                    <a:pt x="0" y="0"/>
                  </a:moveTo>
                  <a:lnTo>
                    <a:pt x="4937760" y="0"/>
                  </a:lnTo>
                  <a:lnTo>
                    <a:pt x="4937760" y="1188720"/>
                  </a:lnTo>
                  <a:lnTo>
                    <a:pt x="0" y="1188720"/>
                  </a:lnTo>
                  <a:close/>
                </a:path>
              </a:pathLst>
            </a:custGeom>
            <a:blipFill>
              <a:blip r:embed="rId3">
                <a:alphaModFix amt="0"/>
              </a:blip>
              <a:stretch>
                <a:fillRect l="0" t="-30937" r="0" b="-30937"/>
              </a:stretch>
            </a:blipFill>
          </p:spPr>
        </p:sp>
        <p:sp>
          <p:nvSpPr>
            <p:cNvPr name="TextBox 53" id="53"/>
            <p:cNvSpPr txBox="true"/>
            <p:nvPr/>
          </p:nvSpPr>
          <p:spPr>
            <a:xfrm>
              <a:off x="0" y="-47625"/>
              <a:ext cx="4937760" cy="1236345"/>
            </a:xfrm>
            <a:prstGeom prst="rect">
              <a:avLst/>
            </a:prstGeom>
          </p:spPr>
          <p:txBody>
            <a:bodyPr anchor="ctr" rtlCol="false" tIns="0" lIns="0" bIns="0" rIns="0"/>
            <a:lstStyle/>
            <a:p>
              <a:pPr algn="l">
                <a:lnSpc>
                  <a:spcPts val="2340"/>
                </a:lnSpc>
              </a:pPr>
              <a:r>
                <a:rPr lang="en-US" sz="1950">
                  <a:solidFill>
                    <a:srgbClr val="E8ECF1"/>
                  </a:solidFill>
                  <a:latin typeface="Calibri (MS)"/>
                  <a:ea typeface="Calibri (MS)"/>
                  <a:cs typeface="Calibri (MS)"/>
                  <a:sym typeface="Calibri (MS)"/>
                </a:rPr>
                <a:t>Repeat until nothing changes</a:t>
              </a:r>
            </a:p>
          </p:txBody>
        </p:sp>
      </p:grpSp>
      <p:grpSp>
        <p:nvGrpSpPr>
          <p:cNvPr name="Group 54" id="54"/>
          <p:cNvGrpSpPr/>
          <p:nvPr/>
        </p:nvGrpSpPr>
        <p:grpSpPr>
          <a:xfrm rot="0">
            <a:off x="6165056" y="3353276"/>
            <a:ext cx="5912168" cy="5089208"/>
            <a:chOff x="0" y="0"/>
            <a:chExt cx="7882890" cy="6785610"/>
          </a:xfrm>
        </p:grpSpPr>
        <p:sp>
          <p:nvSpPr>
            <p:cNvPr name="Freeform 55" id="55"/>
            <p:cNvSpPr/>
            <p:nvPr/>
          </p:nvSpPr>
          <p:spPr>
            <a:xfrm flipH="false" flipV="false" rot="0">
              <a:off x="0" y="0"/>
              <a:ext cx="7882889" cy="6785610"/>
            </a:xfrm>
            <a:custGeom>
              <a:avLst/>
              <a:gdLst/>
              <a:ahLst/>
              <a:cxnLst/>
              <a:rect r="r" b="b" t="t" l="l"/>
              <a:pathLst>
                <a:path h="6785610" w="7882889">
                  <a:moveTo>
                    <a:pt x="0" y="146685"/>
                  </a:moveTo>
                  <a:cubicBezTo>
                    <a:pt x="0" y="65659"/>
                    <a:pt x="65659" y="0"/>
                    <a:pt x="146685" y="0"/>
                  </a:cubicBezTo>
                  <a:lnTo>
                    <a:pt x="7736205" y="0"/>
                  </a:lnTo>
                  <a:cubicBezTo>
                    <a:pt x="7817231" y="0"/>
                    <a:pt x="7882889" y="65659"/>
                    <a:pt x="7882889" y="146685"/>
                  </a:cubicBezTo>
                  <a:lnTo>
                    <a:pt x="7882889" y="6638925"/>
                  </a:lnTo>
                  <a:cubicBezTo>
                    <a:pt x="7882889" y="6719951"/>
                    <a:pt x="7817231" y="6785610"/>
                    <a:pt x="7736205" y="6785610"/>
                  </a:cubicBezTo>
                  <a:lnTo>
                    <a:pt x="146685" y="6785610"/>
                  </a:lnTo>
                  <a:cubicBezTo>
                    <a:pt x="65659" y="6785610"/>
                    <a:pt x="0" y="6719951"/>
                    <a:pt x="0" y="6638925"/>
                  </a:cubicBezTo>
                  <a:close/>
                </a:path>
              </a:pathLst>
            </a:custGeom>
            <a:solidFill>
              <a:srgbClr val="161B22"/>
            </a:solidFill>
            <a:ln w="14288" cap="sq">
              <a:solidFill>
                <a:srgbClr val="2A323D"/>
              </a:solidFill>
              <a:prstDash val="solid"/>
              <a:miter/>
            </a:ln>
          </p:spPr>
        </p:sp>
      </p:grpSp>
      <p:grpSp>
        <p:nvGrpSpPr>
          <p:cNvPr name="Group 56" id="56"/>
          <p:cNvGrpSpPr/>
          <p:nvPr/>
        </p:nvGrpSpPr>
        <p:grpSpPr>
          <a:xfrm rot="0">
            <a:off x="6515100" y="3538728"/>
            <a:ext cx="5486400" cy="384048"/>
            <a:chOff x="0" y="0"/>
            <a:chExt cx="7315200" cy="512064"/>
          </a:xfrm>
        </p:grpSpPr>
        <p:sp>
          <p:nvSpPr>
            <p:cNvPr name="Freeform 57" id="57"/>
            <p:cNvSpPr/>
            <p:nvPr/>
          </p:nvSpPr>
          <p:spPr>
            <a:xfrm flipH="false" flipV="false" rot="0">
              <a:off x="0" y="0"/>
              <a:ext cx="7315200" cy="512064"/>
            </a:xfrm>
            <a:custGeom>
              <a:avLst/>
              <a:gdLst/>
              <a:ahLst/>
              <a:cxnLst/>
              <a:rect r="r" b="b" t="t" l="l"/>
              <a:pathLst>
                <a:path h="512064" w="7315200">
                  <a:moveTo>
                    <a:pt x="0" y="0"/>
                  </a:moveTo>
                  <a:lnTo>
                    <a:pt x="7315200" y="0"/>
                  </a:lnTo>
                  <a:lnTo>
                    <a:pt x="7315200" y="512064"/>
                  </a:lnTo>
                  <a:lnTo>
                    <a:pt x="0" y="512064"/>
                  </a:lnTo>
                  <a:close/>
                </a:path>
              </a:pathLst>
            </a:custGeom>
            <a:blipFill>
              <a:blip r:embed="rId3">
                <a:alphaModFix amt="0"/>
              </a:blip>
              <a:stretch>
                <a:fillRect l="0" t="-228357" r="0" b="-228357"/>
              </a:stretch>
            </a:blipFill>
          </p:spPr>
        </p:sp>
        <p:sp>
          <p:nvSpPr>
            <p:cNvPr name="TextBox 58" id="58"/>
            <p:cNvSpPr txBox="true"/>
            <p:nvPr/>
          </p:nvSpPr>
          <p:spPr>
            <a:xfrm>
              <a:off x="0" y="-28575"/>
              <a:ext cx="7315200" cy="540639"/>
            </a:xfrm>
            <a:prstGeom prst="rect">
              <a:avLst/>
            </a:prstGeom>
          </p:spPr>
          <p:txBody>
            <a:bodyPr anchor="ctr" rtlCol="false" tIns="0" lIns="0" bIns="0" rIns="0"/>
            <a:lstStyle/>
            <a:p>
              <a:pPr algn="l">
                <a:lnSpc>
                  <a:spcPts val="1980"/>
                </a:lnSpc>
              </a:pPr>
              <a:r>
                <a:rPr lang="en-US" b="true" sz="1650" spc="299">
                  <a:solidFill>
                    <a:srgbClr val="22D3EE"/>
                  </a:solidFill>
                  <a:latin typeface="Calibri (MS) Bold"/>
                  <a:ea typeface="Calibri (MS) Bold"/>
                  <a:cs typeface="Calibri (MS) Bold"/>
                  <a:sym typeface="Calibri (MS) Bold"/>
                </a:rPr>
                <a:t>PLAYER GROUPS (ILLUSTRATIVE)</a:t>
              </a:r>
            </a:p>
          </p:txBody>
        </p:sp>
      </p:grpSp>
      <p:grpSp>
        <p:nvGrpSpPr>
          <p:cNvPr name="Group 59" id="59"/>
          <p:cNvGrpSpPr/>
          <p:nvPr/>
        </p:nvGrpSpPr>
        <p:grpSpPr>
          <a:xfrm rot="0">
            <a:off x="6507956" y="4039076"/>
            <a:ext cx="5226368" cy="3031808"/>
            <a:chOff x="0" y="0"/>
            <a:chExt cx="6968490" cy="4042410"/>
          </a:xfrm>
        </p:grpSpPr>
        <p:sp>
          <p:nvSpPr>
            <p:cNvPr name="Freeform 60" id="60"/>
            <p:cNvSpPr/>
            <p:nvPr/>
          </p:nvSpPr>
          <p:spPr>
            <a:xfrm flipH="false" flipV="false" rot="0">
              <a:off x="0" y="0"/>
              <a:ext cx="6968490" cy="4042410"/>
            </a:xfrm>
            <a:custGeom>
              <a:avLst/>
              <a:gdLst/>
              <a:ahLst/>
              <a:cxnLst/>
              <a:rect r="r" b="b" t="t" l="l"/>
              <a:pathLst>
                <a:path h="4042410" w="6968490">
                  <a:moveTo>
                    <a:pt x="0" y="0"/>
                  </a:moveTo>
                  <a:lnTo>
                    <a:pt x="6968490" y="0"/>
                  </a:lnTo>
                  <a:lnTo>
                    <a:pt x="6968490" y="4042410"/>
                  </a:lnTo>
                  <a:lnTo>
                    <a:pt x="0" y="4042410"/>
                  </a:lnTo>
                  <a:close/>
                </a:path>
              </a:pathLst>
            </a:custGeom>
            <a:solidFill>
              <a:srgbClr val="0A0D12"/>
            </a:solidFill>
            <a:ln w="14288" cap="sq">
              <a:solidFill>
                <a:srgbClr val="2A323D"/>
              </a:solidFill>
              <a:prstDash val="solid"/>
              <a:miter/>
            </a:ln>
          </p:spPr>
        </p:sp>
      </p:grpSp>
      <p:grpSp>
        <p:nvGrpSpPr>
          <p:cNvPr name="Group 61" id="61"/>
          <p:cNvGrpSpPr/>
          <p:nvPr/>
        </p:nvGrpSpPr>
        <p:grpSpPr>
          <a:xfrm rot="0">
            <a:off x="7439635" y="4986395"/>
            <a:ext cx="183642" cy="183642"/>
            <a:chOff x="0" y="0"/>
            <a:chExt cx="244856" cy="244856"/>
          </a:xfrm>
        </p:grpSpPr>
        <p:sp>
          <p:nvSpPr>
            <p:cNvPr name="Freeform 62" id="62"/>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63" id="63"/>
          <p:cNvGrpSpPr/>
          <p:nvPr/>
        </p:nvGrpSpPr>
        <p:grpSpPr>
          <a:xfrm rot="0">
            <a:off x="7955632" y="4606185"/>
            <a:ext cx="183642" cy="183642"/>
            <a:chOff x="0" y="0"/>
            <a:chExt cx="244856" cy="244856"/>
          </a:xfrm>
        </p:grpSpPr>
        <p:sp>
          <p:nvSpPr>
            <p:cNvPr name="Freeform 64" id="64"/>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65" id="65"/>
          <p:cNvGrpSpPr/>
          <p:nvPr/>
        </p:nvGrpSpPr>
        <p:grpSpPr>
          <a:xfrm rot="0">
            <a:off x="8184966" y="5070881"/>
            <a:ext cx="183642" cy="183642"/>
            <a:chOff x="0" y="0"/>
            <a:chExt cx="244856" cy="244856"/>
          </a:xfrm>
        </p:grpSpPr>
        <p:sp>
          <p:nvSpPr>
            <p:cNvPr name="Freeform 66" id="66"/>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67" id="67"/>
          <p:cNvGrpSpPr/>
          <p:nvPr/>
        </p:nvGrpSpPr>
        <p:grpSpPr>
          <a:xfrm rot="0">
            <a:off x="7210301" y="4775168"/>
            <a:ext cx="183642" cy="183642"/>
            <a:chOff x="0" y="0"/>
            <a:chExt cx="244856" cy="244856"/>
          </a:xfrm>
        </p:grpSpPr>
        <p:sp>
          <p:nvSpPr>
            <p:cNvPr name="Freeform 68" id="68"/>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69" id="69"/>
          <p:cNvGrpSpPr/>
          <p:nvPr/>
        </p:nvGrpSpPr>
        <p:grpSpPr>
          <a:xfrm rot="0">
            <a:off x="7726299" y="5197621"/>
            <a:ext cx="183642" cy="183642"/>
            <a:chOff x="0" y="0"/>
            <a:chExt cx="244856" cy="244856"/>
          </a:xfrm>
        </p:grpSpPr>
        <p:sp>
          <p:nvSpPr>
            <p:cNvPr name="Freeform 70" id="70"/>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71" id="71"/>
          <p:cNvGrpSpPr/>
          <p:nvPr/>
        </p:nvGrpSpPr>
        <p:grpSpPr>
          <a:xfrm rot="0">
            <a:off x="7382304" y="5155368"/>
            <a:ext cx="183642" cy="183642"/>
            <a:chOff x="0" y="0"/>
            <a:chExt cx="244856" cy="244856"/>
          </a:xfrm>
        </p:grpSpPr>
        <p:sp>
          <p:nvSpPr>
            <p:cNvPr name="Freeform 72" id="72"/>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73" id="73"/>
          <p:cNvGrpSpPr/>
          <p:nvPr/>
        </p:nvGrpSpPr>
        <p:grpSpPr>
          <a:xfrm rot="0">
            <a:off x="8127625" y="4817412"/>
            <a:ext cx="183642" cy="183642"/>
            <a:chOff x="0" y="0"/>
            <a:chExt cx="244856" cy="244856"/>
          </a:xfrm>
        </p:grpSpPr>
        <p:sp>
          <p:nvSpPr>
            <p:cNvPr name="Freeform 74" id="74"/>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75" id="75"/>
          <p:cNvGrpSpPr/>
          <p:nvPr/>
        </p:nvGrpSpPr>
        <p:grpSpPr>
          <a:xfrm rot="0">
            <a:off x="7840961" y="4521689"/>
            <a:ext cx="183642" cy="183642"/>
            <a:chOff x="0" y="0"/>
            <a:chExt cx="244856" cy="244856"/>
          </a:xfrm>
        </p:grpSpPr>
        <p:sp>
          <p:nvSpPr>
            <p:cNvPr name="Freeform 76" id="76"/>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77" id="77"/>
          <p:cNvGrpSpPr/>
          <p:nvPr/>
        </p:nvGrpSpPr>
        <p:grpSpPr>
          <a:xfrm rot="0">
            <a:off x="7554297" y="4859655"/>
            <a:ext cx="183642" cy="183642"/>
            <a:chOff x="0" y="0"/>
            <a:chExt cx="244856" cy="244856"/>
          </a:xfrm>
        </p:grpSpPr>
        <p:sp>
          <p:nvSpPr>
            <p:cNvPr name="Freeform 78" id="78"/>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79" id="79"/>
          <p:cNvGrpSpPr/>
          <p:nvPr/>
        </p:nvGrpSpPr>
        <p:grpSpPr>
          <a:xfrm rot="0">
            <a:off x="8299628" y="4944142"/>
            <a:ext cx="183642" cy="183642"/>
            <a:chOff x="0" y="0"/>
            <a:chExt cx="244856" cy="244856"/>
          </a:xfrm>
        </p:grpSpPr>
        <p:sp>
          <p:nvSpPr>
            <p:cNvPr name="Freeform 80" id="80"/>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22D3EE"/>
            </a:solidFill>
            <a:ln w="19050" cap="sq">
              <a:solidFill>
                <a:srgbClr val="22D3EE"/>
              </a:solidFill>
              <a:prstDash val="solid"/>
              <a:miter/>
            </a:ln>
          </p:spPr>
        </p:sp>
      </p:grpSp>
      <p:grpSp>
        <p:nvGrpSpPr>
          <p:cNvPr name="Group 81" id="81"/>
          <p:cNvGrpSpPr/>
          <p:nvPr/>
        </p:nvGrpSpPr>
        <p:grpSpPr>
          <a:xfrm rot="0">
            <a:off x="7590949" y="4724305"/>
            <a:ext cx="454343" cy="454343"/>
            <a:chOff x="0" y="0"/>
            <a:chExt cx="605790" cy="605790"/>
          </a:xfrm>
        </p:grpSpPr>
        <p:sp>
          <p:nvSpPr>
            <p:cNvPr name="Freeform 82" id="82"/>
            <p:cNvSpPr/>
            <p:nvPr/>
          </p:nvSpPr>
          <p:spPr>
            <a:xfrm flipH="false" flipV="false" rot="0">
              <a:off x="0" y="0"/>
              <a:ext cx="605790" cy="605790"/>
            </a:xfrm>
            <a:custGeom>
              <a:avLst/>
              <a:gdLst/>
              <a:ahLst/>
              <a:cxnLst/>
              <a:rect r="r" b="b" t="t" l="l"/>
              <a:pathLst>
                <a:path h="605790" w="605790">
                  <a:moveTo>
                    <a:pt x="0" y="302895"/>
                  </a:moveTo>
                  <a:cubicBezTo>
                    <a:pt x="0" y="135636"/>
                    <a:pt x="135636" y="0"/>
                    <a:pt x="302895" y="0"/>
                  </a:cubicBezTo>
                  <a:cubicBezTo>
                    <a:pt x="470154" y="0"/>
                    <a:pt x="605790" y="135636"/>
                    <a:pt x="605790" y="302895"/>
                  </a:cubicBezTo>
                  <a:cubicBezTo>
                    <a:pt x="605790" y="470154"/>
                    <a:pt x="470154" y="605790"/>
                    <a:pt x="302895" y="605790"/>
                  </a:cubicBezTo>
                  <a:cubicBezTo>
                    <a:pt x="135636" y="605790"/>
                    <a:pt x="0" y="470154"/>
                    <a:pt x="0" y="302895"/>
                  </a:cubicBezTo>
                  <a:close/>
                </a:path>
              </a:pathLst>
            </a:custGeom>
            <a:blipFill>
              <a:blip r:embed="rId3">
                <a:alphaModFix amt="0"/>
              </a:blip>
              <a:stretch>
                <a:fillRect l="-78303" t="0" r="-78303" b="0"/>
              </a:stretch>
            </a:blipFill>
            <a:ln w="42862" cap="sq">
              <a:solidFill>
                <a:srgbClr val="FBBF24"/>
              </a:solidFill>
              <a:prstDash val="solid"/>
              <a:miter/>
            </a:ln>
          </p:spPr>
        </p:sp>
      </p:grpSp>
      <p:grpSp>
        <p:nvGrpSpPr>
          <p:cNvPr name="Group 83" id="83"/>
          <p:cNvGrpSpPr/>
          <p:nvPr/>
        </p:nvGrpSpPr>
        <p:grpSpPr>
          <a:xfrm rot="0">
            <a:off x="9889312" y="5137271"/>
            <a:ext cx="183642" cy="183642"/>
            <a:chOff x="0" y="0"/>
            <a:chExt cx="244856" cy="244856"/>
          </a:xfrm>
        </p:grpSpPr>
        <p:sp>
          <p:nvSpPr>
            <p:cNvPr name="Freeform 84" id="84"/>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85" id="85"/>
          <p:cNvGrpSpPr/>
          <p:nvPr/>
        </p:nvGrpSpPr>
        <p:grpSpPr>
          <a:xfrm rot="0">
            <a:off x="10405310" y="4757061"/>
            <a:ext cx="183642" cy="183642"/>
            <a:chOff x="0" y="0"/>
            <a:chExt cx="244856" cy="244856"/>
          </a:xfrm>
        </p:grpSpPr>
        <p:sp>
          <p:nvSpPr>
            <p:cNvPr name="Freeform 86" id="86"/>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87" id="87"/>
          <p:cNvGrpSpPr/>
          <p:nvPr/>
        </p:nvGrpSpPr>
        <p:grpSpPr>
          <a:xfrm rot="0">
            <a:off x="10634643" y="5221757"/>
            <a:ext cx="183642" cy="183642"/>
            <a:chOff x="0" y="0"/>
            <a:chExt cx="244856" cy="244856"/>
          </a:xfrm>
        </p:grpSpPr>
        <p:sp>
          <p:nvSpPr>
            <p:cNvPr name="Freeform 88" id="88"/>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89" id="89"/>
          <p:cNvGrpSpPr/>
          <p:nvPr/>
        </p:nvGrpSpPr>
        <p:grpSpPr>
          <a:xfrm rot="0">
            <a:off x="9659979" y="4926044"/>
            <a:ext cx="183642" cy="183642"/>
            <a:chOff x="0" y="0"/>
            <a:chExt cx="244856" cy="244856"/>
          </a:xfrm>
        </p:grpSpPr>
        <p:sp>
          <p:nvSpPr>
            <p:cNvPr name="Freeform 90" id="90"/>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91" id="91"/>
          <p:cNvGrpSpPr/>
          <p:nvPr/>
        </p:nvGrpSpPr>
        <p:grpSpPr>
          <a:xfrm rot="0">
            <a:off x="10175977" y="5348497"/>
            <a:ext cx="183642" cy="183642"/>
            <a:chOff x="0" y="0"/>
            <a:chExt cx="244856" cy="244856"/>
          </a:xfrm>
        </p:grpSpPr>
        <p:sp>
          <p:nvSpPr>
            <p:cNvPr name="Freeform 92" id="92"/>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93" id="93"/>
          <p:cNvGrpSpPr/>
          <p:nvPr/>
        </p:nvGrpSpPr>
        <p:grpSpPr>
          <a:xfrm rot="0">
            <a:off x="9831981" y="5306244"/>
            <a:ext cx="183642" cy="183642"/>
            <a:chOff x="0" y="0"/>
            <a:chExt cx="244856" cy="244856"/>
          </a:xfrm>
        </p:grpSpPr>
        <p:sp>
          <p:nvSpPr>
            <p:cNvPr name="Freeform 94" id="94"/>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95" id="95"/>
          <p:cNvGrpSpPr/>
          <p:nvPr/>
        </p:nvGrpSpPr>
        <p:grpSpPr>
          <a:xfrm rot="0">
            <a:off x="10577303" y="4968288"/>
            <a:ext cx="183642" cy="183642"/>
            <a:chOff x="0" y="0"/>
            <a:chExt cx="244856" cy="244856"/>
          </a:xfrm>
        </p:grpSpPr>
        <p:sp>
          <p:nvSpPr>
            <p:cNvPr name="Freeform 96" id="96"/>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97" id="97"/>
          <p:cNvGrpSpPr/>
          <p:nvPr/>
        </p:nvGrpSpPr>
        <p:grpSpPr>
          <a:xfrm rot="0">
            <a:off x="10290639" y="4672565"/>
            <a:ext cx="183642" cy="183642"/>
            <a:chOff x="0" y="0"/>
            <a:chExt cx="244856" cy="244856"/>
          </a:xfrm>
        </p:grpSpPr>
        <p:sp>
          <p:nvSpPr>
            <p:cNvPr name="Freeform 98" id="98"/>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99" id="99"/>
          <p:cNvGrpSpPr/>
          <p:nvPr/>
        </p:nvGrpSpPr>
        <p:grpSpPr>
          <a:xfrm rot="0">
            <a:off x="10003974" y="5010531"/>
            <a:ext cx="183642" cy="183642"/>
            <a:chOff x="0" y="0"/>
            <a:chExt cx="244856" cy="244856"/>
          </a:xfrm>
        </p:grpSpPr>
        <p:sp>
          <p:nvSpPr>
            <p:cNvPr name="Freeform 100" id="100"/>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101" id="101"/>
          <p:cNvGrpSpPr/>
          <p:nvPr/>
        </p:nvGrpSpPr>
        <p:grpSpPr>
          <a:xfrm rot="0">
            <a:off x="10749305" y="5095018"/>
            <a:ext cx="183642" cy="183642"/>
            <a:chOff x="0" y="0"/>
            <a:chExt cx="244856" cy="244856"/>
          </a:xfrm>
        </p:grpSpPr>
        <p:sp>
          <p:nvSpPr>
            <p:cNvPr name="Freeform 102" id="102"/>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4ADE80"/>
              </a:solidFill>
              <a:prstDash val="solid"/>
              <a:miter/>
            </a:ln>
          </p:spPr>
        </p:sp>
      </p:grpSp>
      <p:grpSp>
        <p:nvGrpSpPr>
          <p:cNvPr name="Group 103" id="103"/>
          <p:cNvGrpSpPr/>
          <p:nvPr/>
        </p:nvGrpSpPr>
        <p:grpSpPr>
          <a:xfrm rot="0">
            <a:off x="10040626" y="4875181"/>
            <a:ext cx="454343" cy="454343"/>
            <a:chOff x="0" y="0"/>
            <a:chExt cx="605790" cy="605790"/>
          </a:xfrm>
        </p:grpSpPr>
        <p:sp>
          <p:nvSpPr>
            <p:cNvPr name="Freeform 104" id="104"/>
            <p:cNvSpPr/>
            <p:nvPr/>
          </p:nvSpPr>
          <p:spPr>
            <a:xfrm flipH="false" flipV="false" rot="0">
              <a:off x="0" y="0"/>
              <a:ext cx="605790" cy="605790"/>
            </a:xfrm>
            <a:custGeom>
              <a:avLst/>
              <a:gdLst/>
              <a:ahLst/>
              <a:cxnLst/>
              <a:rect r="r" b="b" t="t" l="l"/>
              <a:pathLst>
                <a:path h="605790" w="605790">
                  <a:moveTo>
                    <a:pt x="0" y="302895"/>
                  </a:moveTo>
                  <a:cubicBezTo>
                    <a:pt x="0" y="135636"/>
                    <a:pt x="135636" y="0"/>
                    <a:pt x="302895" y="0"/>
                  </a:cubicBezTo>
                  <a:cubicBezTo>
                    <a:pt x="470154" y="0"/>
                    <a:pt x="605790" y="135636"/>
                    <a:pt x="605790" y="302895"/>
                  </a:cubicBezTo>
                  <a:cubicBezTo>
                    <a:pt x="605790" y="470154"/>
                    <a:pt x="470154" y="605790"/>
                    <a:pt x="302895" y="605790"/>
                  </a:cubicBezTo>
                  <a:cubicBezTo>
                    <a:pt x="135636" y="605790"/>
                    <a:pt x="0" y="470154"/>
                    <a:pt x="0" y="302895"/>
                  </a:cubicBezTo>
                  <a:close/>
                </a:path>
              </a:pathLst>
            </a:custGeom>
            <a:blipFill>
              <a:blip r:embed="rId3">
                <a:alphaModFix amt="0"/>
              </a:blip>
              <a:stretch>
                <a:fillRect l="-78303" t="0" r="-78303" b="0"/>
              </a:stretch>
            </a:blipFill>
            <a:ln w="42862" cap="sq">
              <a:solidFill>
                <a:srgbClr val="FBBF24"/>
              </a:solidFill>
              <a:prstDash val="solid"/>
              <a:miter/>
            </a:ln>
          </p:spPr>
        </p:sp>
      </p:grpSp>
      <p:grpSp>
        <p:nvGrpSpPr>
          <p:cNvPr name="Group 105" id="105"/>
          <p:cNvGrpSpPr/>
          <p:nvPr/>
        </p:nvGrpSpPr>
        <p:grpSpPr>
          <a:xfrm rot="0">
            <a:off x="8482051" y="6374454"/>
            <a:ext cx="183642" cy="183642"/>
            <a:chOff x="0" y="0"/>
            <a:chExt cx="244856" cy="244856"/>
          </a:xfrm>
        </p:grpSpPr>
        <p:sp>
          <p:nvSpPr>
            <p:cNvPr name="Freeform 106" id="106"/>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07" id="107"/>
          <p:cNvGrpSpPr/>
          <p:nvPr/>
        </p:nvGrpSpPr>
        <p:grpSpPr>
          <a:xfrm rot="0">
            <a:off x="8998048" y="5994244"/>
            <a:ext cx="183642" cy="183642"/>
            <a:chOff x="0" y="0"/>
            <a:chExt cx="244856" cy="244856"/>
          </a:xfrm>
        </p:grpSpPr>
        <p:sp>
          <p:nvSpPr>
            <p:cNvPr name="Freeform 108" id="108"/>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09" id="109"/>
          <p:cNvGrpSpPr/>
          <p:nvPr/>
        </p:nvGrpSpPr>
        <p:grpSpPr>
          <a:xfrm rot="0">
            <a:off x="9227382" y="6458941"/>
            <a:ext cx="183642" cy="183642"/>
            <a:chOff x="0" y="0"/>
            <a:chExt cx="244856" cy="244856"/>
          </a:xfrm>
        </p:grpSpPr>
        <p:sp>
          <p:nvSpPr>
            <p:cNvPr name="Freeform 110" id="110"/>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11" id="111"/>
          <p:cNvGrpSpPr/>
          <p:nvPr/>
        </p:nvGrpSpPr>
        <p:grpSpPr>
          <a:xfrm rot="0">
            <a:off x="8252717" y="6163227"/>
            <a:ext cx="183642" cy="183642"/>
            <a:chOff x="0" y="0"/>
            <a:chExt cx="244856" cy="244856"/>
          </a:xfrm>
        </p:grpSpPr>
        <p:sp>
          <p:nvSpPr>
            <p:cNvPr name="Freeform 112" id="112"/>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13" id="113"/>
          <p:cNvGrpSpPr/>
          <p:nvPr/>
        </p:nvGrpSpPr>
        <p:grpSpPr>
          <a:xfrm rot="0">
            <a:off x="8768715" y="6585680"/>
            <a:ext cx="183642" cy="183642"/>
            <a:chOff x="0" y="0"/>
            <a:chExt cx="244856" cy="244856"/>
          </a:xfrm>
        </p:grpSpPr>
        <p:sp>
          <p:nvSpPr>
            <p:cNvPr name="Freeform 114" id="114"/>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15" id="115"/>
          <p:cNvGrpSpPr/>
          <p:nvPr/>
        </p:nvGrpSpPr>
        <p:grpSpPr>
          <a:xfrm rot="0">
            <a:off x="8424720" y="6543427"/>
            <a:ext cx="183642" cy="183642"/>
            <a:chOff x="0" y="0"/>
            <a:chExt cx="244856" cy="244856"/>
          </a:xfrm>
        </p:grpSpPr>
        <p:sp>
          <p:nvSpPr>
            <p:cNvPr name="Freeform 116" id="116"/>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17" id="117"/>
          <p:cNvGrpSpPr/>
          <p:nvPr/>
        </p:nvGrpSpPr>
        <p:grpSpPr>
          <a:xfrm rot="0">
            <a:off x="9170041" y="6205471"/>
            <a:ext cx="183642" cy="183642"/>
            <a:chOff x="0" y="0"/>
            <a:chExt cx="244856" cy="244856"/>
          </a:xfrm>
        </p:grpSpPr>
        <p:sp>
          <p:nvSpPr>
            <p:cNvPr name="Freeform 118" id="118"/>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19" id="119"/>
          <p:cNvGrpSpPr/>
          <p:nvPr/>
        </p:nvGrpSpPr>
        <p:grpSpPr>
          <a:xfrm rot="0">
            <a:off x="8883377" y="5909748"/>
            <a:ext cx="183642" cy="183642"/>
            <a:chOff x="0" y="0"/>
            <a:chExt cx="244856" cy="244856"/>
          </a:xfrm>
        </p:grpSpPr>
        <p:sp>
          <p:nvSpPr>
            <p:cNvPr name="Freeform 120" id="120"/>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21" id="121"/>
          <p:cNvGrpSpPr/>
          <p:nvPr/>
        </p:nvGrpSpPr>
        <p:grpSpPr>
          <a:xfrm rot="0">
            <a:off x="8596713" y="6247714"/>
            <a:ext cx="183642" cy="183642"/>
            <a:chOff x="0" y="0"/>
            <a:chExt cx="244856" cy="244856"/>
          </a:xfrm>
        </p:grpSpPr>
        <p:sp>
          <p:nvSpPr>
            <p:cNvPr name="Freeform 122" id="122"/>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23" id="123"/>
          <p:cNvGrpSpPr/>
          <p:nvPr/>
        </p:nvGrpSpPr>
        <p:grpSpPr>
          <a:xfrm rot="0">
            <a:off x="9342044" y="6332201"/>
            <a:ext cx="183642" cy="183642"/>
            <a:chOff x="0" y="0"/>
            <a:chExt cx="244856" cy="244856"/>
          </a:xfrm>
        </p:grpSpPr>
        <p:sp>
          <p:nvSpPr>
            <p:cNvPr name="Freeform 124" id="124"/>
            <p:cNvSpPr/>
            <p:nvPr/>
          </p:nvSpPr>
          <p:spPr>
            <a:xfrm flipH="false" flipV="false" rot="0">
              <a:off x="0" y="0"/>
              <a:ext cx="244856" cy="244856"/>
            </a:xfrm>
            <a:custGeom>
              <a:avLst/>
              <a:gdLst/>
              <a:ahLst/>
              <a:cxnLst/>
              <a:rect r="r" b="b" t="t" l="l"/>
              <a:pathLst>
                <a:path h="244856" w="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CBD5E1"/>
            </a:solidFill>
            <a:ln w="19050" cap="sq">
              <a:solidFill>
                <a:srgbClr val="CBD5E1"/>
              </a:solidFill>
              <a:prstDash val="solid"/>
              <a:miter/>
            </a:ln>
          </p:spPr>
        </p:sp>
      </p:grpSp>
      <p:grpSp>
        <p:nvGrpSpPr>
          <p:cNvPr name="Group 125" id="125"/>
          <p:cNvGrpSpPr/>
          <p:nvPr/>
        </p:nvGrpSpPr>
        <p:grpSpPr>
          <a:xfrm rot="0">
            <a:off x="8633365" y="6112364"/>
            <a:ext cx="454343" cy="454343"/>
            <a:chOff x="0" y="0"/>
            <a:chExt cx="605790" cy="605790"/>
          </a:xfrm>
        </p:grpSpPr>
        <p:sp>
          <p:nvSpPr>
            <p:cNvPr name="Freeform 126" id="126"/>
            <p:cNvSpPr/>
            <p:nvPr/>
          </p:nvSpPr>
          <p:spPr>
            <a:xfrm flipH="false" flipV="false" rot="0">
              <a:off x="0" y="0"/>
              <a:ext cx="605790" cy="605790"/>
            </a:xfrm>
            <a:custGeom>
              <a:avLst/>
              <a:gdLst/>
              <a:ahLst/>
              <a:cxnLst/>
              <a:rect r="r" b="b" t="t" l="l"/>
              <a:pathLst>
                <a:path h="605790" w="605790">
                  <a:moveTo>
                    <a:pt x="0" y="302895"/>
                  </a:moveTo>
                  <a:cubicBezTo>
                    <a:pt x="0" y="135636"/>
                    <a:pt x="135636" y="0"/>
                    <a:pt x="302895" y="0"/>
                  </a:cubicBezTo>
                  <a:cubicBezTo>
                    <a:pt x="470154" y="0"/>
                    <a:pt x="605790" y="135636"/>
                    <a:pt x="605790" y="302895"/>
                  </a:cubicBezTo>
                  <a:cubicBezTo>
                    <a:pt x="605790" y="470154"/>
                    <a:pt x="470154" y="605790"/>
                    <a:pt x="302895" y="605790"/>
                  </a:cubicBezTo>
                  <a:cubicBezTo>
                    <a:pt x="135636" y="605790"/>
                    <a:pt x="0" y="470154"/>
                    <a:pt x="0" y="302895"/>
                  </a:cubicBezTo>
                  <a:close/>
                </a:path>
              </a:pathLst>
            </a:custGeom>
            <a:blipFill>
              <a:blip r:embed="rId3">
                <a:alphaModFix amt="0"/>
              </a:blip>
              <a:stretch>
                <a:fillRect l="-78303" t="0" r="-78303" b="0"/>
              </a:stretch>
            </a:blipFill>
            <a:ln w="42862" cap="sq">
              <a:solidFill>
                <a:srgbClr val="FBBF24"/>
              </a:solidFill>
              <a:prstDash val="solid"/>
              <a:miter/>
            </a:ln>
          </p:spPr>
        </p:sp>
      </p:grpSp>
      <p:sp>
        <p:nvSpPr>
          <p:cNvPr name="TextBox 127" id="127"/>
          <p:cNvSpPr txBox="true"/>
          <p:nvPr/>
        </p:nvSpPr>
        <p:spPr>
          <a:xfrm rot="0">
            <a:off x="6515100" y="7231380"/>
            <a:ext cx="5212080" cy="1066800"/>
          </a:xfrm>
          <a:prstGeom prst="rect">
            <a:avLst/>
          </a:prstGeom>
        </p:spPr>
        <p:txBody>
          <a:bodyPr anchor="t" rtlCol="false" tIns="0" lIns="0" bIns="0" rIns="0">
            <a:spAutoFit/>
          </a:bodyPr>
          <a:lstStyle/>
          <a:p>
            <a:pPr algn="l">
              <a:lnSpc>
                <a:spcPts val="2160"/>
              </a:lnSpc>
            </a:pPr>
            <a:r>
              <a:rPr lang="en-US" sz="1800">
                <a:solidFill>
                  <a:srgbClr val="9AA4B2"/>
                </a:solidFill>
                <a:latin typeface="Calibri (MS)"/>
                <a:ea typeface="Calibri (MS)"/>
                <a:cs typeface="Calibri (MS)"/>
                <a:sym typeface="Calibri (MS)"/>
              </a:rPr>
              <a:t>Rings mark centroids. Features are scaled first, because K-Means uses distance.</a:t>
            </a:r>
          </a:p>
        </p:txBody>
      </p:sp>
      <p:grpSp>
        <p:nvGrpSpPr>
          <p:cNvPr name="Group 128" id="128"/>
          <p:cNvGrpSpPr/>
          <p:nvPr/>
        </p:nvGrpSpPr>
        <p:grpSpPr>
          <a:xfrm rot="0">
            <a:off x="12337256" y="3353276"/>
            <a:ext cx="5130356" cy="5089208"/>
            <a:chOff x="0" y="0"/>
            <a:chExt cx="6840474" cy="6785610"/>
          </a:xfrm>
        </p:grpSpPr>
        <p:sp>
          <p:nvSpPr>
            <p:cNvPr name="Freeform 129" id="129"/>
            <p:cNvSpPr/>
            <p:nvPr/>
          </p:nvSpPr>
          <p:spPr>
            <a:xfrm flipH="false" flipV="false" rot="0">
              <a:off x="0" y="0"/>
              <a:ext cx="6840474" cy="6785610"/>
            </a:xfrm>
            <a:custGeom>
              <a:avLst/>
              <a:gdLst/>
              <a:ahLst/>
              <a:cxnLst/>
              <a:rect r="r" b="b" t="t" l="l"/>
              <a:pathLst>
                <a:path h="6785610" w="6840474">
                  <a:moveTo>
                    <a:pt x="0" y="146685"/>
                  </a:moveTo>
                  <a:cubicBezTo>
                    <a:pt x="0" y="65659"/>
                    <a:pt x="65659" y="0"/>
                    <a:pt x="146685" y="0"/>
                  </a:cubicBezTo>
                  <a:lnTo>
                    <a:pt x="6693789" y="0"/>
                  </a:lnTo>
                  <a:cubicBezTo>
                    <a:pt x="6774815" y="0"/>
                    <a:pt x="6840474" y="65659"/>
                    <a:pt x="6840474" y="146685"/>
                  </a:cubicBezTo>
                  <a:lnTo>
                    <a:pt x="6840474" y="6638925"/>
                  </a:lnTo>
                  <a:cubicBezTo>
                    <a:pt x="6840474" y="6719951"/>
                    <a:pt x="6774815" y="6785610"/>
                    <a:pt x="6693789" y="6785610"/>
                  </a:cubicBezTo>
                  <a:lnTo>
                    <a:pt x="146685" y="6785610"/>
                  </a:lnTo>
                  <a:cubicBezTo>
                    <a:pt x="65659" y="6785610"/>
                    <a:pt x="0" y="6719951"/>
                    <a:pt x="0" y="6638925"/>
                  </a:cubicBezTo>
                  <a:close/>
                </a:path>
              </a:pathLst>
            </a:custGeom>
            <a:solidFill>
              <a:srgbClr val="161B22"/>
            </a:solidFill>
            <a:ln w="14288" cap="sq">
              <a:solidFill>
                <a:srgbClr val="2A323D"/>
              </a:solidFill>
              <a:prstDash val="solid"/>
              <a:miter/>
            </a:ln>
          </p:spPr>
        </p:sp>
      </p:grpSp>
      <p:grpSp>
        <p:nvGrpSpPr>
          <p:cNvPr name="Group 130" id="130"/>
          <p:cNvGrpSpPr/>
          <p:nvPr/>
        </p:nvGrpSpPr>
        <p:grpSpPr>
          <a:xfrm rot="0">
            <a:off x="12687300" y="3538728"/>
            <a:ext cx="4389120" cy="384048"/>
            <a:chOff x="0" y="0"/>
            <a:chExt cx="5852160" cy="512064"/>
          </a:xfrm>
        </p:grpSpPr>
        <p:sp>
          <p:nvSpPr>
            <p:cNvPr name="Freeform 131" id="131"/>
            <p:cNvSpPr/>
            <p:nvPr/>
          </p:nvSpPr>
          <p:spPr>
            <a:xfrm flipH="false" flipV="false" rot="0">
              <a:off x="0" y="0"/>
              <a:ext cx="5852160" cy="512064"/>
            </a:xfrm>
            <a:custGeom>
              <a:avLst/>
              <a:gdLst/>
              <a:ahLst/>
              <a:cxnLst/>
              <a:rect r="r" b="b" t="t" l="l"/>
              <a:pathLst>
                <a:path h="512064" w="5852160">
                  <a:moveTo>
                    <a:pt x="0" y="0"/>
                  </a:moveTo>
                  <a:lnTo>
                    <a:pt x="5852160" y="0"/>
                  </a:lnTo>
                  <a:lnTo>
                    <a:pt x="5852160" y="512064"/>
                  </a:lnTo>
                  <a:lnTo>
                    <a:pt x="0" y="512064"/>
                  </a:lnTo>
                  <a:close/>
                </a:path>
              </a:pathLst>
            </a:custGeom>
            <a:blipFill>
              <a:blip r:embed="rId3">
                <a:alphaModFix amt="0"/>
              </a:blip>
              <a:stretch>
                <a:fillRect l="0" t="-172686" r="0" b="-172686"/>
              </a:stretch>
            </a:blipFill>
          </p:spPr>
        </p:sp>
        <p:sp>
          <p:nvSpPr>
            <p:cNvPr name="TextBox 132" id="132"/>
            <p:cNvSpPr txBox="true"/>
            <p:nvPr/>
          </p:nvSpPr>
          <p:spPr>
            <a:xfrm>
              <a:off x="0" y="-28575"/>
              <a:ext cx="5852160" cy="540639"/>
            </a:xfrm>
            <a:prstGeom prst="rect">
              <a:avLst/>
            </a:prstGeom>
          </p:spPr>
          <p:txBody>
            <a:bodyPr anchor="ctr" rtlCol="false" tIns="0" lIns="0" bIns="0" rIns="0"/>
            <a:lstStyle/>
            <a:p>
              <a:pPr algn="l">
                <a:lnSpc>
                  <a:spcPts val="1980"/>
                </a:lnSpc>
              </a:pPr>
              <a:r>
                <a:rPr lang="en-US" b="true" sz="1650" spc="299">
                  <a:solidFill>
                    <a:srgbClr val="22D3EE"/>
                  </a:solidFill>
                  <a:latin typeface="Calibri (MS) Bold"/>
                  <a:ea typeface="Calibri (MS) Bold"/>
                  <a:cs typeface="Calibri (MS) Bold"/>
                  <a:sym typeface="Calibri (MS) Bold"/>
                </a:rPr>
                <a:t>CHOOSING K</a:t>
              </a:r>
            </a:p>
          </p:txBody>
        </p:sp>
      </p:grpSp>
      <p:grpSp>
        <p:nvGrpSpPr>
          <p:cNvPr name="Group 133" id="133"/>
          <p:cNvGrpSpPr/>
          <p:nvPr/>
        </p:nvGrpSpPr>
        <p:grpSpPr>
          <a:xfrm rot="0">
            <a:off x="12680156" y="4039076"/>
            <a:ext cx="4444556" cy="1934527"/>
            <a:chOff x="0" y="0"/>
            <a:chExt cx="5926074" cy="2579370"/>
          </a:xfrm>
        </p:grpSpPr>
        <p:sp>
          <p:nvSpPr>
            <p:cNvPr name="Freeform 134" id="134"/>
            <p:cNvSpPr/>
            <p:nvPr/>
          </p:nvSpPr>
          <p:spPr>
            <a:xfrm flipH="false" flipV="false" rot="0">
              <a:off x="0" y="0"/>
              <a:ext cx="5926074" cy="2579370"/>
            </a:xfrm>
            <a:custGeom>
              <a:avLst/>
              <a:gdLst/>
              <a:ahLst/>
              <a:cxnLst/>
              <a:rect r="r" b="b" t="t" l="l"/>
              <a:pathLst>
                <a:path h="2579370" w="5926074">
                  <a:moveTo>
                    <a:pt x="0" y="0"/>
                  </a:moveTo>
                  <a:lnTo>
                    <a:pt x="5926074" y="0"/>
                  </a:lnTo>
                  <a:lnTo>
                    <a:pt x="5926074" y="2579370"/>
                  </a:lnTo>
                  <a:lnTo>
                    <a:pt x="0" y="2579370"/>
                  </a:lnTo>
                  <a:close/>
                </a:path>
              </a:pathLst>
            </a:custGeom>
            <a:solidFill>
              <a:srgbClr val="0A0D12"/>
            </a:solidFill>
            <a:ln w="14288" cap="sq">
              <a:solidFill>
                <a:srgbClr val="2A323D"/>
              </a:solidFill>
              <a:prstDash val="solid"/>
              <a:miter/>
            </a:ln>
          </p:spPr>
        </p:sp>
      </p:grpSp>
      <p:grpSp>
        <p:nvGrpSpPr>
          <p:cNvPr name="Group 135" id="135"/>
          <p:cNvGrpSpPr/>
          <p:nvPr/>
        </p:nvGrpSpPr>
        <p:grpSpPr>
          <a:xfrm rot="0">
            <a:off x="12952095" y="4242435"/>
            <a:ext cx="156210" cy="156210"/>
            <a:chOff x="0" y="0"/>
            <a:chExt cx="208280" cy="208280"/>
          </a:xfrm>
        </p:grpSpPr>
        <p:sp>
          <p:nvSpPr>
            <p:cNvPr name="Freeform 136" id="13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22D3EE"/>
            </a:solidFill>
            <a:ln w="19050" cap="sq">
              <a:solidFill>
                <a:srgbClr val="22D3EE"/>
              </a:solidFill>
              <a:prstDash val="solid"/>
              <a:miter/>
            </a:ln>
          </p:spPr>
        </p:sp>
      </p:grpSp>
      <p:sp>
        <p:nvSpPr>
          <p:cNvPr name="AutoShape 137" id="137"/>
          <p:cNvSpPr/>
          <p:nvPr/>
        </p:nvSpPr>
        <p:spPr>
          <a:xfrm rot="2384640">
            <a:off x="12906832" y="4571619"/>
            <a:ext cx="882244" cy="0"/>
          </a:xfrm>
          <a:prstGeom prst="line">
            <a:avLst/>
          </a:prstGeom>
          <a:ln cap="rnd" w="19050">
            <a:solidFill>
              <a:srgbClr val="22D3EE"/>
            </a:solidFill>
            <a:prstDash val="solid"/>
            <a:headEnd type="none" len="sm" w="sm"/>
            <a:tailEnd type="none" len="sm" w="sm"/>
          </a:ln>
        </p:spPr>
      </p:sp>
      <p:grpSp>
        <p:nvGrpSpPr>
          <p:cNvPr name="Group 138" id="138"/>
          <p:cNvGrpSpPr/>
          <p:nvPr/>
        </p:nvGrpSpPr>
        <p:grpSpPr>
          <a:xfrm rot="0">
            <a:off x="13587603" y="4763643"/>
            <a:ext cx="156210" cy="156210"/>
            <a:chOff x="0" y="0"/>
            <a:chExt cx="208280" cy="208280"/>
          </a:xfrm>
        </p:grpSpPr>
        <p:sp>
          <p:nvSpPr>
            <p:cNvPr name="Freeform 139" id="13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22D3EE"/>
            </a:solidFill>
            <a:ln w="19050" cap="sq">
              <a:solidFill>
                <a:srgbClr val="22D3EE"/>
              </a:solidFill>
              <a:prstDash val="solid"/>
              <a:miter/>
            </a:ln>
          </p:spPr>
        </p:sp>
      </p:grpSp>
      <p:sp>
        <p:nvSpPr>
          <p:cNvPr name="AutoShape 140" id="140"/>
          <p:cNvSpPr/>
          <p:nvPr/>
        </p:nvSpPr>
        <p:spPr>
          <a:xfrm rot="1659780">
            <a:off x="13600500" y="4988585"/>
            <a:ext cx="765915" cy="0"/>
          </a:xfrm>
          <a:prstGeom prst="line">
            <a:avLst/>
          </a:prstGeom>
          <a:ln cap="rnd" w="19050">
            <a:solidFill>
              <a:srgbClr val="22D3EE"/>
            </a:solidFill>
            <a:prstDash val="solid"/>
            <a:headEnd type="none" len="sm" w="sm"/>
            <a:tailEnd type="none" len="sm" w="sm"/>
          </a:ln>
        </p:spPr>
      </p:sp>
      <p:grpSp>
        <p:nvGrpSpPr>
          <p:cNvPr name="Group 141" id="141"/>
          <p:cNvGrpSpPr/>
          <p:nvPr/>
        </p:nvGrpSpPr>
        <p:grpSpPr>
          <a:xfrm rot="0">
            <a:off x="14223111" y="5076368"/>
            <a:ext cx="156210" cy="156210"/>
            <a:chOff x="0" y="0"/>
            <a:chExt cx="208280" cy="208280"/>
          </a:xfrm>
        </p:grpSpPr>
        <p:sp>
          <p:nvSpPr>
            <p:cNvPr name="Freeform 142" id="14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22D3EE"/>
            </a:solidFill>
            <a:ln w="19050" cap="sq">
              <a:solidFill>
                <a:srgbClr val="22D3EE"/>
              </a:solidFill>
              <a:prstDash val="solid"/>
              <a:miter/>
            </a:ln>
          </p:spPr>
        </p:sp>
      </p:grpSp>
      <p:sp>
        <p:nvSpPr>
          <p:cNvPr name="AutoShape 143" id="143"/>
          <p:cNvSpPr/>
          <p:nvPr/>
        </p:nvSpPr>
        <p:spPr>
          <a:xfrm rot="734100">
            <a:off x="14271898" y="5197069"/>
            <a:ext cx="694134" cy="0"/>
          </a:xfrm>
          <a:prstGeom prst="line">
            <a:avLst/>
          </a:prstGeom>
          <a:ln cap="rnd" w="19050">
            <a:solidFill>
              <a:srgbClr val="22D3EE"/>
            </a:solidFill>
            <a:prstDash val="solid"/>
            <a:headEnd type="none" len="sm" w="sm"/>
            <a:tailEnd type="none" len="sm" w="sm"/>
          </a:ln>
        </p:spPr>
      </p:sp>
      <p:grpSp>
        <p:nvGrpSpPr>
          <p:cNvPr name="Group 144" id="144"/>
          <p:cNvGrpSpPr/>
          <p:nvPr/>
        </p:nvGrpSpPr>
        <p:grpSpPr>
          <a:xfrm rot="0">
            <a:off x="14858619" y="5180609"/>
            <a:ext cx="156210" cy="156210"/>
            <a:chOff x="0" y="0"/>
            <a:chExt cx="208280" cy="208280"/>
          </a:xfrm>
        </p:grpSpPr>
        <p:sp>
          <p:nvSpPr>
            <p:cNvPr name="Freeform 145" id="14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22D3EE"/>
            </a:solidFill>
            <a:ln w="19050" cap="sq">
              <a:solidFill>
                <a:srgbClr val="22D3EE"/>
              </a:solidFill>
              <a:prstDash val="solid"/>
              <a:miter/>
            </a:ln>
          </p:spPr>
        </p:sp>
      </p:grpSp>
      <p:sp>
        <p:nvSpPr>
          <p:cNvPr name="AutoShape 146" id="146"/>
          <p:cNvSpPr/>
          <p:nvPr/>
        </p:nvSpPr>
        <p:spPr>
          <a:xfrm rot="478260">
            <a:off x="14911988" y="5275250"/>
            <a:ext cx="684990" cy="0"/>
          </a:xfrm>
          <a:prstGeom prst="line">
            <a:avLst/>
          </a:prstGeom>
          <a:ln cap="rnd" w="19050">
            <a:solidFill>
              <a:srgbClr val="22D3EE"/>
            </a:solidFill>
            <a:prstDash val="solid"/>
            <a:headEnd type="none" len="sm" w="sm"/>
            <a:tailEnd type="none" len="sm" w="sm"/>
          </a:ln>
        </p:spPr>
      </p:sp>
      <p:grpSp>
        <p:nvGrpSpPr>
          <p:cNvPr name="Group 147" id="147"/>
          <p:cNvGrpSpPr/>
          <p:nvPr/>
        </p:nvGrpSpPr>
        <p:grpSpPr>
          <a:xfrm rot="0">
            <a:off x="15494127" y="5232730"/>
            <a:ext cx="156210" cy="156210"/>
            <a:chOff x="0" y="0"/>
            <a:chExt cx="208280" cy="208280"/>
          </a:xfrm>
        </p:grpSpPr>
        <p:sp>
          <p:nvSpPr>
            <p:cNvPr name="Freeform 148" id="14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22D3EE"/>
            </a:solidFill>
            <a:ln w="19050" cap="sq">
              <a:solidFill>
                <a:srgbClr val="22D3EE"/>
              </a:solidFill>
              <a:prstDash val="solid"/>
              <a:miter/>
            </a:ln>
          </p:spPr>
        </p:sp>
      </p:grpSp>
      <p:sp>
        <p:nvSpPr>
          <p:cNvPr name="AutoShape 149" id="149"/>
          <p:cNvSpPr/>
          <p:nvPr/>
        </p:nvSpPr>
        <p:spPr>
          <a:xfrm rot="348060">
            <a:off x="15549058" y="5314340"/>
            <a:ext cx="681866" cy="0"/>
          </a:xfrm>
          <a:prstGeom prst="line">
            <a:avLst/>
          </a:prstGeom>
          <a:ln cap="rnd" w="19050">
            <a:solidFill>
              <a:srgbClr val="22D3EE"/>
            </a:solidFill>
            <a:prstDash val="solid"/>
            <a:headEnd type="none" len="sm" w="sm"/>
            <a:tailEnd type="none" len="sm" w="sm"/>
          </a:ln>
        </p:spPr>
      </p:sp>
      <p:grpSp>
        <p:nvGrpSpPr>
          <p:cNvPr name="Group 150" id="150"/>
          <p:cNvGrpSpPr/>
          <p:nvPr/>
        </p:nvGrpSpPr>
        <p:grpSpPr>
          <a:xfrm rot="0">
            <a:off x="16129635" y="5258791"/>
            <a:ext cx="156210" cy="156210"/>
            <a:chOff x="0" y="0"/>
            <a:chExt cx="208280" cy="208280"/>
          </a:xfrm>
        </p:grpSpPr>
        <p:sp>
          <p:nvSpPr>
            <p:cNvPr name="Freeform 151" id="15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22D3EE"/>
            </a:solidFill>
            <a:ln w="19050" cap="sq">
              <a:solidFill>
                <a:srgbClr val="22D3EE"/>
              </a:solidFill>
              <a:prstDash val="solid"/>
              <a:miter/>
            </a:ln>
          </p:spPr>
        </p:sp>
      </p:grpSp>
      <p:sp>
        <p:nvSpPr>
          <p:cNvPr name="AutoShape 152" id="152"/>
          <p:cNvSpPr/>
          <p:nvPr/>
        </p:nvSpPr>
        <p:spPr>
          <a:xfrm rot="348060">
            <a:off x="16184566" y="5340401"/>
            <a:ext cx="681866" cy="0"/>
          </a:xfrm>
          <a:prstGeom prst="line">
            <a:avLst/>
          </a:prstGeom>
          <a:ln cap="rnd" w="19050">
            <a:solidFill>
              <a:srgbClr val="22D3EE"/>
            </a:solidFill>
            <a:prstDash val="solid"/>
            <a:headEnd type="none" len="sm" w="sm"/>
            <a:tailEnd type="none" len="sm" w="sm"/>
          </a:ln>
        </p:spPr>
      </p:sp>
      <p:grpSp>
        <p:nvGrpSpPr>
          <p:cNvPr name="Group 153" id="153"/>
          <p:cNvGrpSpPr/>
          <p:nvPr/>
        </p:nvGrpSpPr>
        <p:grpSpPr>
          <a:xfrm rot="0">
            <a:off x="16765143" y="5284851"/>
            <a:ext cx="156210" cy="156210"/>
            <a:chOff x="0" y="0"/>
            <a:chExt cx="208280" cy="208280"/>
          </a:xfrm>
        </p:grpSpPr>
        <p:sp>
          <p:nvSpPr>
            <p:cNvPr name="Freeform 154" id="15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22D3EE"/>
            </a:solidFill>
            <a:ln w="19050" cap="sq">
              <a:solidFill>
                <a:srgbClr val="22D3EE"/>
              </a:solidFill>
              <a:prstDash val="solid"/>
              <a:miter/>
            </a:ln>
          </p:spPr>
        </p:sp>
      </p:grpSp>
      <p:grpSp>
        <p:nvGrpSpPr>
          <p:cNvPr name="Group 155" id="155"/>
          <p:cNvGrpSpPr/>
          <p:nvPr/>
        </p:nvGrpSpPr>
        <p:grpSpPr>
          <a:xfrm rot="0">
            <a:off x="14087761" y="4941018"/>
            <a:ext cx="426910" cy="426910"/>
            <a:chOff x="0" y="0"/>
            <a:chExt cx="569214" cy="569214"/>
          </a:xfrm>
        </p:grpSpPr>
        <p:sp>
          <p:nvSpPr>
            <p:cNvPr name="Freeform 156" id="156"/>
            <p:cNvSpPr/>
            <p:nvPr/>
          </p:nvSpPr>
          <p:spPr>
            <a:xfrm flipH="false" flipV="false" rot="0">
              <a:off x="0" y="0"/>
              <a:ext cx="569214" cy="569214"/>
            </a:xfrm>
            <a:custGeom>
              <a:avLst/>
              <a:gdLst/>
              <a:ahLst/>
              <a:cxnLst/>
              <a:rect r="r" b="b" t="t" l="l"/>
              <a:pathLst>
                <a:path h="569214" w="569214">
                  <a:moveTo>
                    <a:pt x="0" y="284607"/>
                  </a:moveTo>
                  <a:cubicBezTo>
                    <a:pt x="0" y="127381"/>
                    <a:pt x="127381" y="0"/>
                    <a:pt x="284607" y="0"/>
                  </a:cubicBezTo>
                  <a:cubicBezTo>
                    <a:pt x="441833" y="0"/>
                    <a:pt x="569214" y="127381"/>
                    <a:pt x="569214" y="284607"/>
                  </a:cubicBezTo>
                  <a:cubicBezTo>
                    <a:pt x="569214" y="441833"/>
                    <a:pt x="441833" y="569214"/>
                    <a:pt x="284607" y="569214"/>
                  </a:cubicBezTo>
                  <a:cubicBezTo>
                    <a:pt x="127381" y="569214"/>
                    <a:pt x="0" y="441833"/>
                    <a:pt x="0" y="284607"/>
                  </a:cubicBezTo>
                  <a:close/>
                </a:path>
              </a:pathLst>
            </a:custGeom>
            <a:blipFill>
              <a:blip r:embed="rId3">
                <a:alphaModFix amt="0"/>
              </a:blip>
              <a:stretch>
                <a:fillRect l="-78303" t="0" r="-78303" b="0"/>
              </a:stretch>
            </a:blipFill>
            <a:ln w="42862" cap="sq">
              <a:solidFill>
                <a:srgbClr val="FBBF24"/>
              </a:solidFill>
              <a:prstDash val="solid"/>
              <a:miter/>
            </a:ln>
          </p:spPr>
        </p:sp>
      </p:grpSp>
      <p:grpSp>
        <p:nvGrpSpPr>
          <p:cNvPr name="Group 157" id="157"/>
          <p:cNvGrpSpPr/>
          <p:nvPr/>
        </p:nvGrpSpPr>
        <p:grpSpPr>
          <a:xfrm rot="0">
            <a:off x="16706088" y="5664708"/>
            <a:ext cx="274320" cy="274320"/>
            <a:chOff x="0" y="0"/>
            <a:chExt cx="365760" cy="365760"/>
          </a:xfrm>
        </p:grpSpPr>
        <p:sp>
          <p:nvSpPr>
            <p:cNvPr name="Freeform 158" id="158"/>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blipFill>
              <a:blip r:embed="rId3">
                <a:alphaModFix amt="0"/>
              </a:blip>
              <a:stretch>
                <a:fillRect l="-78303" t="0" r="-78303" b="0"/>
              </a:stretch>
            </a:blipFill>
          </p:spPr>
        </p:sp>
        <p:sp>
          <p:nvSpPr>
            <p:cNvPr name="TextBox 159" id="159"/>
            <p:cNvSpPr txBox="true"/>
            <p:nvPr/>
          </p:nvSpPr>
          <p:spPr>
            <a:xfrm>
              <a:off x="0" y="-28575"/>
              <a:ext cx="365760" cy="39433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K</a:t>
              </a:r>
            </a:p>
          </p:txBody>
        </p:sp>
      </p:grpSp>
      <p:sp>
        <p:nvSpPr>
          <p:cNvPr name="TextBox 160" id="160"/>
          <p:cNvSpPr txBox="true"/>
          <p:nvPr/>
        </p:nvSpPr>
        <p:spPr>
          <a:xfrm rot="0">
            <a:off x="12687300" y="6065520"/>
            <a:ext cx="4457700" cy="2301240"/>
          </a:xfrm>
          <a:prstGeom prst="rect">
            <a:avLst/>
          </a:prstGeom>
        </p:spPr>
        <p:txBody>
          <a:bodyPr anchor="t" rtlCol="false" tIns="0" lIns="0" bIns="0" rIns="0">
            <a:spAutoFit/>
          </a:bodyPr>
          <a:lstStyle/>
          <a:p>
            <a:pPr algn="l">
              <a:lnSpc>
                <a:spcPts val="2160"/>
              </a:lnSpc>
            </a:pPr>
            <a:r>
              <a:rPr lang="en-US" sz="1800" b="true">
                <a:solidFill>
                  <a:srgbClr val="22D3EE"/>
                </a:solidFill>
                <a:latin typeface="Calibri (MS) Bold"/>
                <a:ea typeface="Calibri (MS) Bold"/>
                <a:cs typeface="Calibri (MS) Bold"/>
                <a:sym typeface="Calibri (MS) Bold"/>
              </a:rPr>
              <a:t>Elbow method: </a:t>
            </a:r>
            <a:r>
              <a:rPr lang="en-US" sz="1800">
                <a:solidFill>
                  <a:srgbClr val="E8ECF1"/>
                </a:solidFill>
                <a:latin typeface="Calibri (MS)"/>
                <a:ea typeface="Calibri (MS)"/>
                <a:cs typeface="Calibri (MS)"/>
                <a:sym typeface="Calibri (MS)"/>
              </a:rPr>
              <a:t>pick K where the curve bends.</a:t>
            </a:r>
          </a:p>
          <a:p>
            <a:pPr algn="l">
              <a:lnSpc>
                <a:spcPts val="2160"/>
              </a:lnSpc>
            </a:pPr>
            <a:r>
              <a:rPr lang="en-US" sz="1800" b="true">
                <a:solidFill>
                  <a:srgbClr val="22D3EE"/>
                </a:solidFill>
                <a:latin typeface="Calibri (MS) Bold"/>
                <a:ea typeface="Calibri (MS) Bold"/>
                <a:cs typeface="Calibri (MS) Bold"/>
                <a:sym typeface="Calibri (MS) Bold"/>
              </a:rPr>
              <a:t>Silhouette score: </a:t>
            </a:r>
            <a:r>
              <a:rPr lang="en-US" sz="1800">
                <a:solidFill>
                  <a:srgbClr val="E8ECF1"/>
                </a:solidFill>
                <a:latin typeface="Calibri (MS)"/>
                <a:ea typeface="Calibri (MS)"/>
                <a:cs typeface="Calibri (MS)"/>
                <a:sym typeface="Calibri (MS)"/>
              </a:rPr>
              <a:t>closer to 1 means players sit well inside their own cluster.</a:t>
            </a:r>
          </a:p>
        </p:txBody>
      </p:sp>
      <p:grpSp>
        <p:nvGrpSpPr>
          <p:cNvPr name="Group 161" id="161"/>
          <p:cNvGrpSpPr/>
          <p:nvPr/>
        </p:nvGrpSpPr>
        <p:grpSpPr>
          <a:xfrm rot="0">
            <a:off x="815816" y="8633936"/>
            <a:ext cx="16651796" cy="768668"/>
            <a:chOff x="0" y="0"/>
            <a:chExt cx="22202394" cy="1024890"/>
          </a:xfrm>
        </p:grpSpPr>
        <p:sp>
          <p:nvSpPr>
            <p:cNvPr name="Freeform 162" id="162"/>
            <p:cNvSpPr/>
            <p:nvPr/>
          </p:nvSpPr>
          <p:spPr>
            <a:xfrm flipH="false" flipV="false" rot="0">
              <a:off x="0" y="0"/>
              <a:ext cx="22202394" cy="1024890"/>
            </a:xfrm>
            <a:custGeom>
              <a:avLst/>
              <a:gdLst/>
              <a:ahLst/>
              <a:cxnLst/>
              <a:rect r="r" b="b" t="t" l="l"/>
              <a:pathLst>
                <a:path h="1024890" w="22202394">
                  <a:moveTo>
                    <a:pt x="0" y="149098"/>
                  </a:moveTo>
                  <a:cubicBezTo>
                    <a:pt x="0" y="66802"/>
                    <a:pt x="66802" y="0"/>
                    <a:pt x="149098" y="0"/>
                  </a:cubicBezTo>
                  <a:lnTo>
                    <a:pt x="22053296" y="0"/>
                  </a:lnTo>
                  <a:cubicBezTo>
                    <a:pt x="22135592" y="0"/>
                    <a:pt x="22202394" y="66802"/>
                    <a:pt x="22202394" y="149098"/>
                  </a:cubicBezTo>
                  <a:lnTo>
                    <a:pt x="22202394" y="875792"/>
                  </a:lnTo>
                  <a:cubicBezTo>
                    <a:pt x="22202394" y="958088"/>
                    <a:pt x="22135592" y="1024890"/>
                    <a:pt x="22053296" y="1024890"/>
                  </a:cubicBezTo>
                  <a:lnTo>
                    <a:pt x="149098" y="1024890"/>
                  </a:lnTo>
                  <a:cubicBezTo>
                    <a:pt x="66802" y="1024890"/>
                    <a:pt x="0" y="958088"/>
                    <a:pt x="0" y="875792"/>
                  </a:cubicBezTo>
                  <a:close/>
                </a:path>
              </a:pathLst>
            </a:custGeom>
            <a:solidFill>
              <a:srgbClr val="1D242E"/>
            </a:solidFill>
            <a:ln w="14288" cap="sq">
              <a:solidFill>
                <a:srgbClr val="22D3EE"/>
              </a:solidFill>
              <a:prstDash val="solid"/>
              <a:miter/>
            </a:ln>
          </p:spPr>
        </p:sp>
      </p:grpSp>
      <p:grpSp>
        <p:nvGrpSpPr>
          <p:cNvPr name="Group 163" id="163"/>
          <p:cNvGrpSpPr/>
          <p:nvPr/>
        </p:nvGrpSpPr>
        <p:grpSpPr>
          <a:xfrm rot="0">
            <a:off x="1234440" y="8641080"/>
            <a:ext cx="15814548" cy="754380"/>
            <a:chOff x="0" y="0"/>
            <a:chExt cx="21086064" cy="1005840"/>
          </a:xfrm>
        </p:grpSpPr>
        <p:sp>
          <p:nvSpPr>
            <p:cNvPr name="Freeform 164" id="164"/>
            <p:cNvSpPr/>
            <p:nvPr/>
          </p:nvSpPr>
          <p:spPr>
            <a:xfrm flipH="false" flipV="false" rot="0">
              <a:off x="0" y="0"/>
              <a:ext cx="21086065" cy="1005840"/>
            </a:xfrm>
            <a:custGeom>
              <a:avLst/>
              <a:gdLst/>
              <a:ahLst/>
              <a:cxnLst/>
              <a:rect r="r" b="b" t="t" l="l"/>
              <a:pathLst>
                <a:path h="1005840" w="21086065">
                  <a:moveTo>
                    <a:pt x="0" y="0"/>
                  </a:moveTo>
                  <a:lnTo>
                    <a:pt x="21086065" y="0"/>
                  </a:lnTo>
                  <a:lnTo>
                    <a:pt x="21086065" y="1005840"/>
                  </a:lnTo>
                  <a:lnTo>
                    <a:pt x="0" y="1005840"/>
                  </a:lnTo>
                  <a:close/>
                </a:path>
              </a:pathLst>
            </a:custGeom>
            <a:blipFill>
              <a:blip r:embed="rId3">
                <a:alphaModFix amt="0"/>
              </a:blip>
              <a:stretch>
                <a:fillRect l="0" t="-358477" r="0" b="-358477"/>
              </a:stretch>
            </a:blipFill>
          </p:spPr>
        </p:sp>
        <p:sp>
          <p:nvSpPr>
            <p:cNvPr name="TextBox 165" id="165"/>
            <p:cNvSpPr txBox="true"/>
            <p:nvPr/>
          </p:nvSpPr>
          <p:spPr>
            <a:xfrm>
              <a:off x="0" y="-47625"/>
              <a:ext cx="21086064" cy="1053465"/>
            </a:xfrm>
            <a:prstGeom prst="rect">
              <a:avLst/>
            </a:prstGeom>
          </p:spPr>
          <p:txBody>
            <a:bodyPr anchor="ctr" rtlCol="false" tIns="0" lIns="0" bIns="0" rIns="0"/>
            <a:lstStyle/>
            <a:p>
              <a:pPr algn="l">
                <a:lnSpc>
                  <a:spcPts val="2520"/>
                </a:lnSpc>
              </a:pPr>
              <a:r>
                <a:rPr lang="en-US" sz="2100" b="true">
                  <a:solidFill>
                    <a:srgbClr val="E8ECF1"/>
                  </a:solidFill>
                  <a:latin typeface="Calibri (MS) Bold"/>
                  <a:ea typeface="Calibri (MS) Bold"/>
                  <a:cs typeface="Calibri (MS) Bold"/>
                  <a:sym typeface="Calibri (MS) Bold"/>
                </a:rPr>
                <a:t>Clusters are discovered by the algorithm and interpreted afterwards. We do not decide the groups in advance.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Expected Output / Application</a:t>
            </a:r>
          </a:p>
        </p:txBody>
      </p:sp>
      <p:grpSp>
        <p:nvGrpSpPr>
          <p:cNvPr name="Group 5" id="5"/>
          <p:cNvGrpSpPr/>
          <p:nvPr/>
        </p:nvGrpSpPr>
        <p:grpSpPr>
          <a:xfrm rot="0">
            <a:off x="822960" y="1536192"/>
            <a:ext cx="16637508" cy="480060"/>
            <a:chOff x="0" y="0"/>
            <a:chExt cx="22183344" cy="640080"/>
          </a:xfrm>
        </p:grpSpPr>
        <p:sp>
          <p:nvSpPr>
            <p:cNvPr name="Freeform 6" id="6"/>
            <p:cNvSpPr/>
            <p:nvPr/>
          </p:nvSpPr>
          <p:spPr>
            <a:xfrm flipH="false" flipV="false" rot="0">
              <a:off x="0" y="0"/>
              <a:ext cx="22183344" cy="640080"/>
            </a:xfrm>
            <a:custGeom>
              <a:avLst/>
              <a:gdLst/>
              <a:ahLst/>
              <a:cxnLst/>
              <a:rect r="r" b="b" t="t" l="l"/>
              <a:pathLst>
                <a:path h="640080" w="22183344">
                  <a:moveTo>
                    <a:pt x="0" y="0"/>
                  </a:moveTo>
                  <a:lnTo>
                    <a:pt x="22183344" y="0"/>
                  </a:lnTo>
                  <a:lnTo>
                    <a:pt x="22183344" y="640080"/>
                  </a:lnTo>
                  <a:lnTo>
                    <a:pt x="0" y="640080"/>
                  </a:lnTo>
                  <a:close/>
                </a:path>
              </a:pathLst>
            </a:custGeom>
            <a:blipFill>
              <a:blip r:embed="rId3">
                <a:alphaModFix amt="0"/>
              </a:blip>
              <a:stretch>
                <a:fillRect l="0" t="-625295" r="0" b="-625295"/>
              </a:stretch>
            </a:blipFill>
          </p:spPr>
        </p:sp>
        <p:sp>
          <p:nvSpPr>
            <p:cNvPr name="TextBox 7" id="7"/>
            <p:cNvSpPr txBox="true"/>
            <p:nvPr/>
          </p:nvSpPr>
          <p:spPr>
            <a:xfrm>
              <a:off x="0" y="-47625"/>
              <a:ext cx="22183344" cy="687705"/>
            </a:xfrm>
            <a:prstGeom prst="rect">
              <a:avLst/>
            </a:prstGeom>
          </p:spPr>
          <p:txBody>
            <a:bodyPr anchor="ctr" rtlCol="false" tIns="0" lIns="0" bIns="0" rIns="0"/>
            <a:lstStyle/>
            <a:p>
              <a:pPr algn="l">
                <a:lnSpc>
                  <a:spcPts val="2520"/>
                </a:lnSpc>
              </a:pPr>
              <a:r>
                <a:rPr lang="en-US" sz="2100">
                  <a:solidFill>
                    <a:srgbClr val="9AA4B2"/>
                  </a:solidFill>
                  <a:latin typeface="Calibri (MS)"/>
                  <a:ea typeface="Calibri (MS)"/>
                  <a:cs typeface="Calibri (MS)"/>
                  <a:sym typeface="Calibri (MS)"/>
                </a:rPr>
                <a:t>What the final notebook (or a simple Streamlit demo) will show</a:t>
              </a:r>
            </a:p>
          </p:txBody>
        </p:sp>
      </p:grpSp>
      <p:grpSp>
        <p:nvGrpSpPr>
          <p:cNvPr name="Group 8" id="8"/>
          <p:cNvGrpSpPr/>
          <p:nvPr/>
        </p:nvGrpSpPr>
        <p:grpSpPr>
          <a:xfrm rot="0">
            <a:off x="822960" y="9710928"/>
            <a:ext cx="10972800" cy="342900"/>
            <a:chOff x="0" y="0"/>
            <a:chExt cx="14630400" cy="457200"/>
          </a:xfrm>
        </p:grpSpPr>
        <p:sp>
          <p:nvSpPr>
            <p:cNvPr name="Freeform 9" id="9"/>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10" id="10"/>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11" id="11"/>
          <p:cNvGrpSpPr/>
          <p:nvPr/>
        </p:nvGrpSpPr>
        <p:grpSpPr>
          <a:xfrm rot="0">
            <a:off x="16088868" y="9710928"/>
            <a:ext cx="1371600" cy="342900"/>
            <a:chOff x="0" y="0"/>
            <a:chExt cx="1828800" cy="457200"/>
          </a:xfrm>
        </p:grpSpPr>
        <p:sp>
          <p:nvSpPr>
            <p:cNvPr name="Freeform 12" id="12"/>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3" id="13"/>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9</a:t>
              </a:r>
            </a:p>
          </p:txBody>
        </p:sp>
      </p:grpSp>
      <p:grpSp>
        <p:nvGrpSpPr>
          <p:cNvPr name="Group 14" id="14"/>
          <p:cNvGrpSpPr/>
          <p:nvPr/>
        </p:nvGrpSpPr>
        <p:grpSpPr>
          <a:xfrm rot="0">
            <a:off x="815816" y="2324576"/>
            <a:ext cx="7420928" cy="6803707"/>
            <a:chOff x="0" y="0"/>
            <a:chExt cx="9894570" cy="9071610"/>
          </a:xfrm>
        </p:grpSpPr>
        <p:sp>
          <p:nvSpPr>
            <p:cNvPr name="Freeform 15" id="15"/>
            <p:cNvSpPr/>
            <p:nvPr/>
          </p:nvSpPr>
          <p:spPr>
            <a:xfrm flipH="false" flipV="false" rot="0">
              <a:off x="0" y="0"/>
              <a:ext cx="9894570" cy="9071610"/>
            </a:xfrm>
            <a:custGeom>
              <a:avLst/>
              <a:gdLst/>
              <a:ahLst/>
              <a:cxnLst/>
              <a:rect r="r" b="b" t="t" l="l"/>
              <a:pathLst>
                <a:path h="9071610" w="9894570">
                  <a:moveTo>
                    <a:pt x="0" y="146558"/>
                  </a:moveTo>
                  <a:cubicBezTo>
                    <a:pt x="0" y="65659"/>
                    <a:pt x="65659" y="0"/>
                    <a:pt x="146558" y="0"/>
                  </a:cubicBezTo>
                  <a:lnTo>
                    <a:pt x="9748012" y="0"/>
                  </a:lnTo>
                  <a:cubicBezTo>
                    <a:pt x="9829038" y="0"/>
                    <a:pt x="9894570" y="65659"/>
                    <a:pt x="9894570" y="146558"/>
                  </a:cubicBezTo>
                  <a:lnTo>
                    <a:pt x="9894570" y="8925052"/>
                  </a:lnTo>
                  <a:cubicBezTo>
                    <a:pt x="9894570" y="9006078"/>
                    <a:pt x="9828911" y="9071610"/>
                    <a:pt x="9748012" y="9071610"/>
                  </a:cubicBezTo>
                  <a:lnTo>
                    <a:pt x="146558" y="9071610"/>
                  </a:lnTo>
                  <a:cubicBezTo>
                    <a:pt x="65659" y="9071610"/>
                    <a:pt x="0" y="9005951"/>
                    <a:pt x="0" y="8925052"/>
                  </a:cubicBezTo>
                  <a:close/>
                </a:path>
              </a:pathLst>
            </a:custGeom>
            <a:solidFill>
              <a:srgbClr val="161B22"/>
            </a:solidFill>
            <a:ln w="14288" cap="sq">
              <a:solidFill>
                <a:srgbClr val="2A323D"/>
              </a:solidFill>
              <a:prstDash val="solid"/>
              <a:miter/>
            </a:ln>
          </p:spPr>
        </p:sp>
      </p:grpSp>
      <p:grpSp>
        <p:nvGrpSpPr>
          <p:cNvPr name="Group 16" id="16"/>
          <p:cNvGrpSpPr/>
          <p:nvPr/>
        </p:nvGrpSpPr>
        <p:grpSpPr>
          <a:xfrm rot="0">
            <a:off x="1234440" y="2606040"/>
            <a:ext cx="2880360" cy="411480"/>
            <a:chOff x="0" y="0"/>
            <a:chExt cx="3840480" cy="548640"/>
          </a:xfrm>
        </p:grpSpPr>
        <p:sp>
          <p:nvSpPr>
            <p:cNvPr name="Freeform 17" id="17"/>
            <p:cNvSpPr/>
            <p:nvPr/>
          </p:nvSpPr>
          <p:spPr>
            <a:xfrm flipH="false" flipV="false" rot="0">
              <a:off x="0" y="0"/>
              <a:ext cx="3840480" cy="548640"/>
            </a:xfrm>
            <a:custGeom>
              <a:avLst/>
              <a:gdLst/>
              <a:ahLst/>
              <a:cxnLst/>
              <a:rect r="r" b="b" t="t" l="l"/>
              <a:pathLst>
                <a:path h="548640" w="3840480">
                  <a:moveTo>
                    <a:pt x="0" y="219456"/>
                  </a:moveTo>
                  <a:cubicBezTo>
                    <a:pt x="0" y="98298"/>
                    <a:pt x="98298" y="0"/>
                    <a:pt x="219456" y="0"/>
                  </a:cubicBezTo>
                  <a:lnTo>
                    <a:pt x="3621024" y="0"/>
                  </a:lnTo>
                  <a:cubicBezTo>
                    <a:pt x="3742182" y="0"/>
                    <a:pt x="3840480" y="98298"/>
                    <a:pt x="3840480" y="219456"/>
                  </a:cubicBezTo>
                  <a:lnTo>
                    <a:pt x="3840480" y="329184"/>
                  </a:lnTo>
                  <a:cubicBezTo>
                    <a:pt x="3840480" y="450342"/>
                    <a:pt x="3742182" y="548640"/>
                    <a:pt x="3621024" y="548640"/>
                  </a:cubicBezTo>
                  <a:lnTo>
                    <a:pt x="219456" y="548640"/>
                  </a:lnTo>
                  <a:cubicBezTo>
                    <a:pt x="98298" y="548640"/>
                    <a:pt x="0" y="450342"/>
                    <a:pt x="0" y="329184"/>
                  </a:cubicBezTo>
                  <a:close/>
                </a:path>
              </a:pathLst>
            </a:custGeom>
            <a:solidFill>
              <a:srgbClr val="FBBF24"/>
            </a:solidFill>
          </p:spPr>
        </p:sp>
        <p:sp>
          <p:nvSpPr>
            <p:cNvPr name="TextBox 18" id="18"/>
            <p:cNvSpPr txBox="true"/>
            <p:nvPr/>
          </p:nvSpPr>
          <p:spPr>
            <a:xfrm>
              <a:off x="0" y="-19050"/>
              <a:ext cx="3840480" cy="567690"/>
            </a:xfrm>
            <a:prstGeom prst="rect">
              <a:avLst/>
            </a:prstGeom>
          </p:spPr>
          <p:txBody>
            <a:bodyPr anchor="ctr" rtlCol="false" tIns="50800" lIns="50800" bIns="50800" rIns="50800"/>
            <a:lstStyle/>
            <a:p>
              <a:pPr algn="ctr">
                <a:lnSpc>
                  <a:spcPts val="1889"/>
                </a:lnSpc>
              </a:pPr>
              <a:r>
                <a:rPr lang="en-US" sz="1575" b="true">
                  <a:solidFill>
                    <a:srgbClr val="0A0D12"/>
                  </a:solidFill>
                  <a:latin typeface="Calibri (MS) Bold"/>
                  <a:ea typeface="Calibri (MS) Bold"/>
                  <a:cs typeface="Calibri (MS) Bold"/>
                  <a:sym typeface="Calibri (MS) Bold"/>
                </a:rPr>
                <a:t>ILLUSTRATIVE OUTPUT</a:t>
              </a:r>
            </a:p>
          </p:txBody>
        </p:sp>
      </p:grpSp>
      <p:grpSp>
        <p:nvGrpSpPr>
          <p:cNvPr name="Group 19" id="19"/>
          <p:cNvGrpSpPr/>
          <p:nvPr/>
        </p:nvGrpSpPr>
        <p:grpSpPr>
          <a:xfrm rot="0">
            <a:off x="1234440" y="3291840"/>
            <a:ext cx="6583680" cy="822960"/>
            <a:chOff x="0" y="0"/>
            <a:chExt cx="8778240" cy="1097280"/>
          </a:xfrm>
        </p:grpSpPr>
        <p:sp>
          <p:nvSpPr>
            <p:cNvPr name="Freeform 20" id="20"/>
            <p:cNvSpPr/>
            <p:nvPr/>
          </p:nvSpPr>
          <p:spPr>
            <a:xfrm flipH="false" flipV="false" rot="0">
              <a:off x="0" y="0"/>
              <a:ext cx="8778240" cy="1097280"/>
            </a:xfrm>
            <a:custGeom>
              <a:avLst/>
              <a:gdLst/>
              <a:ahLst/>
              <a:cxnLst/>
              <a:rect r="r" b="b" t="t" l="l"/>
              <a:pathLst>
                <a:path h="1097280" w="8778240">
                  <a:moveTo>
                    <a:pt x="0" y="0"/>
                  </a:moveTo>
                  <a:lnTo>
                    <a:pt x="8778240" y="0"/>
                  </a:lnTo>
                  <a:lnTo>
                    <a:pt x="8778240" y="1097280"/>
                  </a:lnTo>
                  <a:lnTo>
                    <a:pt x="0" y="1097280"/>
                  </a:lnTo>
                  <a:close/>
                </a:path>
              </a:pathLst>
            </a:custGeom>
            <a:blipFill>
              <a:blip r:embed="rId3">
                <a:alphaModFix amt="0"/>
              </a:blip>
              <a:stretch>
                <a:fillRect l="0" t="-105880" r="0" b="-105880"/>
              </a:stretch>
            </a:blipFill>
          </p:spPr>
        </p:sp>
        <p:sp>
          <p:nvSpPr>
            <p:cNvPr name="TextBox 21" id="21"/>
            <p:cNvSpPr txBox="true"/>
            <p:nvPr/>
          </p:nvSpPr>
          <p:spPr>
            <a:xfrm>
              <a:off x="0" y="-19050"/>
              <a:ext cx="8778240" cy="1116330"/>
            </a:xfrm>
            <a:prstGeom prst="rect">
              <a:avLst/>
            </a:prstGeom>
          </p:spPr>
          <p:txBody>
            <a:bodyPr anchor="ctr" rtlCol="false" tIns="0" lIns="0" bIns="0" rIns="0"/>
            <a:lstStyle/>
            <a:p>
              <a:pPr algn="l">
                <a:lnSpc>
                  <a:spcPts val="5040"/>
                </a:lnSpc>
              </a:pPr>
              <a:r>
                <a:rPr lang="en-US" sz="4200" b="true">
                  <a:solidFill>
                    <a:srgbClr val="E8ECF1"/>
                  </a:solidFill>
                  <a:latin typeface="Arial Bold"/>
                  <a:ea typeface="Arial Bold"/>
                  <a:cs typeface="Arial Bold"/>
                  <a:sym typeface="Arial Bold"/>
                </a:rPr>
                <a:t>Player A</a:t>
              </a:r>
            </a:p>
          </p:txBody>
        </p:sp>
      </p:grpSp>
      <p:sp>
        <p:nvSpPr>
          <p:cNvPr name="AutoShape 22" id="22"/>
          <p:cNvSpPr/>
          <p:nvPr/>
        </p:nvSpPr>
        <p:spPr>
          <a:xfrm rot="9900">
            <a:off x="1224905" y="4384358"/>
            <a:ext cx="6602759" cy="0"/>
          </a:xfrm>
          <a:prstGeom prst="line">
            <a:avLst/>
          </a:prstGeom>
          <a:ln cap="rnd" w="9525">
            <a:solidFill>
              <a:srgbClr val="2A323D"/>
            </a:solidFill>
            <a:prstDash val="solid"/>
            <a:headEnd type="none" len="sm" w="sm"/>
            <a:tailEnd type="none" len="sm" w="sm"/>
          </a:ln>
        </p:spPr>
      </p:sp>
      <p:grpSp>
        <p:nvGrpSpPr>
          <p:cNvPr name="Group 23" id="23"/>
          <p:cNvGrpSpPr/>
          <p:nvPr/>
        </p:nvGrpSpPr>
        <p:grpSpPr>
          <a:xfrm rot="0">
            <a:off x="1234440" y="4526280"/>
            <a:ext cx="2880360" cy="754380"/>
            <a:chOff x="0" y="0"/>
            <a:chExt cx="3840480" cy="1005840"/>
          </a:xfrm>
        </p:grpSpPr>
        <p:sp>
          <p:nvSpPr>
            <p:cNvPr name="Freeform 24" id="24"/>
            <p:cNvSpPr/>
            <p:nvPr/>
          </p:nvSpPr>
          <p:spPr>
            <a:xfrm flipH="false" flipV="false" rot="0">
              <a:off x="0" y="0"/>
              <a:ext cx="3840480" cy="1005840"/>
            </a:xfrm>
            <a:custGeom>
              <a:avLst/>
              <a:gdLst/>
              <a:ahLst/>
              <a:cxnLst/>
              <a:rect r="r" b="b" t="t" l="l"/>
              <a:pathLst>
                <a:path h="1005840" w="3840480">
                  <a:moveTo>
                    <a:pt x="0" y="0"/>
                  </a:moveTo>
                  <a:lnTo>
                    <a:pt x="3840480" y="0"/>
                  </a:lnTo>
                  <a:lnTo>
                    <a:pt x="3840480" y="1005840"/>
                  </a:lnTo>
                  <a:lnTo>
                    <a:pt x="0" y="1005840"/>
                  </a:lnTo>
                  <a:close/>
                </a:path>
              </a:pathLst>
            </a:custGeom>
            <a:blipFill>
              <a:blip r:embed="rId3">
                <a:alphaModFix amt="0"/>
              </a:blip>
              <a:stretch>
                <a:fillRect l="0" t="-24397" r="0" b="-24397"/>
              </a:stretch>
            </a:blipFill>
          </p:spPr>
        </p:sp>
        <p:sp>
          <p:nvSpPr>
            <p:cNvPr name="TextBox 25" id="25"/>
            <p:cNvSpPr txBox="true"/>
            <p:nvPr/>
          </p:nvSpPr>
          <p:spPr>
            <a:xfrm>
              <a:off x="0" y="-47625"/>
              <a:ext cx="3840480" cy="1053465"/>
            </a:xfrm>
            <a:prstGeom prst="rect">
              <a:avLst/>
            </a:prstGeom>
          </p:spPr>
          <p:txBody>
            <a:bodyPr anchor="ctr" rtlCol="false" tIns="0" lIns="0" bIns="0" rIns="0"/>
            <a:lstStyle/>
            <a:p>
              <a:pPr algn="l">
                <a:lnSpc>
                  <a:spcPts val="2340"/>
                </a:lnSpc>
              </a:pPr>
              <a:r>
                <a:rPr lang="en-US" sz="1950">
                  <a:solidFill>
                    <a:srgbClr val="9AA4B2"/>
                  </a:solidFill>
                  <a:latin typeface="Calibri (MS)"/>
                  <a:ea typeface="Calibri (MS)"/>
                  <a:cs typeface="Calibri (MS)"/>
                  <a:sym typeface="Calibri (MS)"/>
                </a:rPr>
                <a:t>Predicted Performance</a:t>
              </a:r>
            </a:p>
          </p:txBody>
        </p:sp>
      </p:grpSp>
      <p:grpSp>
        <p:nvGrpSpPr>
          <p:cNvPr name="Group 26" id="26"/>
          <p:cNvGrpSpPr/>
          <p:nvPr/>
        </p:nvGrpSpPr>
        <p:grpSpPr>
          <a:xfrm rot="0">
            <a:off x="4114800" y="4526280"/>
            <a:ext cx="3771900" cy="754380"/>
            <a:chOff x="0" y="0"/>
            <a:chExt cx="5029200" cy="1005840"/>
          </a:xfrm>
        </p:grpSpPr>
        <p:sp>
          <p:nvSpPr>
            <p:cNvPr name="Freeform 27" id="27"/>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28" id="28"/>
            <p:cNvSpPr txBox="true"/>
            <p:nvPr/>
          </p:nvSpPr>
          <p:spPr>
            <a:xfrm>
              <a:off x="0" y="-57150"/>
              <a:ext cx="5029200" cy="1062990"/>
            </a:xfrm>
            <a:prstGeom prst="rect">
              <a:avLst/>
            </a:prstGeom>
          </p:spPr>
          <p:txBody>
            <a:bodyPr anchor="ctr" rtlCol="false" tIns="0" lIns="0" bIns="0" rIns="0"/>
            <a:lstStyle/>
            <a:p>
              <a:pPr algn="l">
                <a:lnSpc>
                  <a:spcPts val="2700"/>
                </a:lnSpc>
              </a:pPr>
              <a:r>
                <a:rPr lang="en-US" sz="2250" b="true">
                  <a:solidFill>
                    <a:srgbClr val="22D3EE"/>
                  </a:solidFill>
                  <a:latin typeface="Calibri (MS) Bold"/>
                  <a:ea typeface="Calibri (MS) Bold"/>
                  <a:cs typeface="Calibri (MS) Bold"/>
                  <a:sym typeface="Calibri (MS) Bold"/>
                </a:rPr>
                <a:t>X.XX</a:t>
              </a:r>
            </a:p>
          </p:txBody>
        </p:sp>
      </p:grpSp>
      <p:sp>
        <p:nvSpPr>
          <p:cNvPr name="AutoShape 29" id="29"/>
          <p:cNvSpPr/>
          <p:nvPr/>
        </p:nvSpPr>
        <p:spPr>
          <a:xfrm rot="9900">
            <a:off x="1224905" y="5413058"/>
            <a:ext cx="6602759" cy="0"/>
          </a:xfrm>
          <a:prstGeom prst="line">
            <a:avLst/>
          </a:prstGeom>
          <a:ln cap="rnd" w="9525">
            <a:solidFill>
              <a:srgbClr val="2A323D"/>
            </a:solidFill>
            <a:prstDash val="solid"/>
            <a:headEnd type="none" len="sm" w="sm"/>
            <a:tailEnd type="none" len="sm" w="sm"/>
          </a:ln>
        </p:spPr>
      </p:sp>
      <p:grpSp>
        <p:nvGrpSpPr>
          <p:cNvPr name="Group 30" id="30"/>
          <p:cNvGrpSpPr/>
          <p:nvPr/>
        </p:nvGrpSpPr>
        <p:grpSpPr>
          <a:xfrm rot="0">
            <a:off x="1234440" y="5554980"/>
            <a:ext cx="2880360" cy="754380"/>
            <a:chOff x="0" y="0"/>
            <a:chExt cx="3840480" cy="1005840"/>
          </a:xfrm>
        </p:grpSpPr>
        <p:sp>
          <p:nvSpPr>
            <p:cNvPr name="Freeform 31" id="31"/>
            <p:cNvSpPr/>
            <p:nvPr/>
          </p:nvSpPr>
          <p:spPr>
            <a:xfrm flipH="false" flipV="false" rot="0">
              <a:off x="0" y="0"/>
              <a:ext cx="3840480" cy="1005840"/>
            </a:xfrm>
            <a:custGeom>
              <a:avLst/>
              <a:gdLst/>
              <a:ahLst/>
              <a:cxnLst/>
              <a:rect r="r" b="b" t="t" l="l"/>
              <a:pathLst>
                <a:path h="1005840" w="3840480">
                  <a:moveTo>
                    <a:pt x="0" y="0"/>
                  </a:moveTo>
                  <a:lnTo>
                    <a:pt x="3840480" y="0"/>
                  </a:lnTo>
                  <a:lnTo>
                    <a:pt x="3840480" y="1005840"/>
                  </a:lnTo>
                  <a:lnTo>
                    <a:pt x="0" y="1005840"/>
                  </a:lnTo>
                  <a:close/>
                </a:path>
              </a:pathLst>
            </a:custGeom>
            <a:blipFill>
              <a:blip r:embed="rId3">
                <a:alphaModFix amt="0"/>
              </a:blip>
              <a:stretch>
                <a:fillRect l="0" t="-24397" r="0" b="-24397"/>
              </a:stretch>
            </a:blipFill>
          </p:spPr>
        </p:sp>
        <p:sp>
          <p:nvSpPr>
            <p:cNvPr name="TextBox 32" id="32"/>
            <p:cNvSpPr txBox="true"/>
            <p:nvPr/>
          </p:nvSpPr>
          <p:spPr>
            <a:xfrm>
              <a:off x="0" y="-47625"/>
              <a:ext cx="3840480" cy="1053465"/>
            </a:xfrm>
            <a:prstGeom prst="rect">
              <a:avLst/>
            </a:prstGeom>
          </p:spPr>
          <p:txBody>
            <a:bodyPr anchor="ctr" rtlCol="false" tIns="0" lIns="0" bIns="0" rIns="0"/>
            <a:lstStyle/>
            <a:p>
              <a:pPr algn="l">
                <a:lnSpc>
                  <a:spcPts val="2340"/>
                </a:lnSpc>
              </a:pPr>
              <a:r>
                <a:rPr lang="en-US" sz="1950">
                  <a:solidFill>
                    <a:srgbClr val="9AA4B2"/>
                  </a:solidFill>
                  <a:latin typeface="Calibri (MS)"/>
                  <a:ea typeface="Calibri (MS)"/>
                  <a:cs typeface="Calibri (MS)"/>
                  <a:sym typeface="Calibri (MS)"/>
                </a:rPr>
                <a:t>Category</a:t>
              </a:r>
            </a:p>
          </p:txBody>
        </p:sp>
      </p:grpSp>
      <p:grpSp>
        <p:nvGrpSpPr>
          <p:cNvPr name="Group 33" id="33"/>
          <p:cNvGrpSpPr/>
          <p:nvPr/>
        </p:nvGrpSpPr>
        <p:grpSpPr>
          <a:xfrm rot="0">
            <a:off x="4114800" y="5554980"/>
            <a:ext cx="3771900" cy="754380"/>
            <a:chOff x="0" y="0"/>
            <a:chExt cx="5029200" cy="1005840"/>
          </a:xfrm>
        </p:grpSpPr>
        <p:sp>
          <p:nvSpPr>
            <p:cNvPr name="Freeform 34" id="34"/>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35" id="35"/>
            <p:cNvSpPr txBox="true"/>
            <p:nvPr/>
          </p:nvSpPr>
          <p:spPr>
            <a:xfrm>
              <a:off x="0" y="-57150"/>
              <a:ext cx="5029200" cy="1062990"/>
            </a:xfrm>
            <a:prstGeom prst="rect">
              <a:avLst/>
            </a:prstGeom>
          </p:spPr>
          <p:txBody>
            <a:bodyPr anchor="ctr" rtlCol="false" tIns="0" lIns="0" bIns="0" rIns="0"/>
            <a:lstStyle/>
            <a:p>
              <a:pPr algn="l">
                <a:lnSpc>
                  <a:spcPts val="2700"/>
                </a:lnSpc>
              </a:pPr>
              <a:r>
                <a:rPr lang="en-US" sz="2250" b="true">
                  <a:solidFill>
                    <a:srgbClr val="22D3EE"/>
                  </a:solidFill>
                  <a:latin typeface="Calibri (MS) Bold"/>
                  <a:ea typeface="Calibri (MS) Bold"/>
                  <a:cs typeface="Calibri (MS) Bold"/>
                  <a:sym typeface="Calibri (MS) Bold"/>
                </a:rPr>
                <a:t>High / Low</a:t>
              </a:r>
            </a:p>
          </p:txBody>
        </p:sp>
      </p:grpSp>
      <p:sp>
        <p:nvSpPr>
          <p:cNvPr name="AutoShape 36" id="36"/>
          <p:cNvSpPr/>
          <p:nvPr/>
        </p:nvSpPr>
        <p:spPr>
          <a:xfrm rot="9900">
            <a:off x="1224905" y="6441758"/>
            <a:ext cx="6602759" cy="0"/>
          </a:xfrm>
          <a:prstGeom prst="line">
            <a:avLst/>
          </a:prstGeom>
          <a:ln cap="rnd" w="9525">
            <a:solidFill>
              <a:srgbClr val="2A323D"/>
            </a:solidFill>
            <a:prstDash val="solid"/>
            <a:headEnd type="none" len="sm" w="sm"/>
            <a:tailEnd type="none" len="sm" w="sm"/>
          </a:ln>
        </p:spPr>
      </p:sp>
      <p:grpSp>
        <p:nvGrpSpPr>
          <p:cNvPr name="Group 37" id="37"/>
          <p:cNvGrpSpPr/>
          <p:nvPr/>
        </p:nvGrpSpPr>
        <p:grpSpPr>
          <a:xfrm rot="0">
            <a:off x="1234440" y="6583680"/>
            <a:ext cx="2880360" cy="754380"/>
            <a:chOff x="0" y="0"/>
            <a:chExt cx="3840480" cy="1005840"/>
          </a:xfrm>
        </p:grpSpPr>
        <p:sp>
          <p:nvSpPr>
            <p:cNvPr name="Freeform 38" id="38"/>
            <p:cNvSpPr/>
            <p:nvPr/>
          </p:nvSpPr>
          <p:spPr>
            <a:xfrm flipH="false" flipV="false" rot="0">
              <a:off x="0" y="0"/>
              <a:ext cx="3840480" cy="1005840"/>
            </a:xfrm>
            <a:custGeom>
              <a:avLst/>
              <a:gdLst/>
              <a:ahLst/>
              <a:cxnLst/>
              <a:rect r="r" b="b" t="t" l="l"/>
              <a:pathLst>
                <a:path h="1005840" w="3840480">
                  <a:moveTo>
                    <a:pt x="0" y="0"/>
                  </a:moveTo>
                  <a:lnTo>
                    <a:pt x="3840480" y="0"/>
                  </a:lnTo>
                  <a:lnTo>
                    <a:pt x="3840480" y="1005840"/>
                  </a:lnTo>
                  <a:lnTo>
                    <a:pt x="0" y="1005840"/>
                  </a:lnTo>
                  <a:close/>
                </a:path>
              </a:pathLst>
            </a:custGeom>
            <a:blipFill>
              <a:blip r:embed="rId3">
                <a:alphaModFix amt="0"/>
              </a:blip>
              <a:stretch>
                <a:fillRect l="0" t="-24397" r="0" b="-24397"/>
              </a:stretch>
            </a:blipFill>
          </p:spPr>
        </p:sp>
        <p:sp>
          <p:nvSpPr>
            <p:cNvPr name="TextBox 39" id="39"/>
            <p:cNvSpPr txBox="true"/>
            <p:nvPr/>
          </p:nvSpPr>
          <p:spPr>
            <a:xfrm>
              <a:off x="0" y="-47625"/>
              <a:ext cx="3840480" cy="1053465"/>
            </a:xfrm>
            <a:prstGeom prst="rect">
              <a:avLst/>
            </a:prstGeom>
          </p:spPr>
          <p:txBody>
            <a:bodyPr anchor="ctr" rtlCol="false" tIns="0" lIns="0" bIns="0" rIns="0"/>
            <a:lstStyle/>
            <a:p>
              <a:pPr algn="l">
                <a:lnSpc>
                  <a:spcPts val="2340"/>
                </a:lnSpc>
              </a:pPr>
              <a:r>
                <a:rPr lang="en-US" sz="1950">
                  <a:solidFill>
                    <a:srgbClr val="9AA4B2"/>
                  </a:solidFill>
                  <a:latin typeface="Calibri (MS)"/>
                  <a:ea typeface="Calibri (MS)"/>
                  <a:cs typeface="Calibri (MS)"/>
                  <a:sym typeface="Calibri (MS)"/>
                </a:rPr>
                <a:t>Cluster</a:t>
              </a:r>
            </a:p>
          </p:txBody>
        </p:sp>
      </p:grpSp>
      <p:grpSp>
        <p:nvGrpSpPr>
          <p:cNvPr name="Group 40" id="40"/>
          <p:cNvGrpSpPr/>
          <p:nvPr/>
        </p:nvGrpSpPr>
        <p:grpSpPr>
          <a:xfrm rot="0">
            <a:off x="4114800" y="6583680"/>
            <a:ext cx="3771900" cy="754380"/>
            <a:chOff x="0" y="0"/>
            <a:chExt cx="5029200" cy="1005840"/>
          </a:xfrm>
        </p:grpSpPr>
        <p:sp>
          <p:nvSpPr>
            <p:cNvPr name="Freeform 41" id="41"/>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2" id="42"/>
            <p:cNvSpPr txBox="true"/>
            <p:nvPr/>
          </p:nvSpPr>
          <p:spPr>
            <a:xfrm>
              <a:off x="0" y="-57150"/>
              <a:ext cx="5029200" cy="1062990"/>
            </a:xfrm>
            <a:prstGeom prst="rect">
              <a:avLst/>
            </a:prstGeom>
          </p:spPr>
          <p:txBody>
            <a:bodyPr anchor="ctr" rtlCol="false" tIns="0" lIns="0" bIns="0" rIns="0"/>
            <a:lstStyle/>
            <a:p>
              <a:pPr algn="l">
                <a:lnSpc>
                  <a:spcPts val="2700"/>
                </a:lnSpc>
              </a:pPr>
              <a:r>
                <a:rPr lang="en-US" sz="2250" b="true">
                  <a:solidFill>
                    <a:srgbClr val="22D3EE"/>
                  </a:solidFill>
                  <a:latin typeface="Calibri (MS) Bold"/>
                  <a:ea typeface="Calibri (MS) Bold"/>
                  <a:cs typeface="Calibri (MS) Bold"/>
                  <a:sym typeface="Calibri (MS) Bold"/>
                </a:rPr>
                <a:t>Cluster 2</a:t>
              </a:r>
            </a:p>
          </p:txBody>
        </p:sp>
      </p:grpSp>
      <p:sp>
        <p:nvSpPr>
          <p:cNvPr name="AutoShape 43" id="43"/>
          <p:cNvSpPr/>
          <p:nvPr/>
        </p:nvSpPr>
        <p:spPr>
          <a:xfrm rot="9900">
            <a:off x="1224905" y="7470457"/>
            <a:ext cx="6602759" cy="0"/>
          </a:xfrm>
          <a:prstGeom prst="line">
            <a:avLst/>
          </a:prstGeom>
          <a:ln cap="rnd" w="9525">
            <a:solidFill>
              <a:srgbClr val="2A323D"/>
            </a:solidFill>
            <a:prstDash val="solid"/>
            <a:headEnd type="none" len="sm" w="sm"/>
            <a:tailEnd type="none" len="sm" w="sm"/>
          </a:ln>
        </p:spPr>
      </p:sp>
      <p:grpSp>
        <p:nvGrpSpPr>
          <p:cNvPr name="Group 44" id="44"/>
          <p:cNvGrpSpPr/>
          <p:nvPr/>
        </p:nvGrpSpPr>
        <p:grpSpPr>
          <a:xfrm rot="0">
            <a:off x="1234440" y="7612380"/>
            <a:ext cx="2880360" cy="754380"/>
            <a:chOff x="0" y="0"/>
            <a:chExt cx="3840480" cy="1005840"/>
          </a:xfrm>
        </p:grpSpPr>
        <p:sp>
          <p:nvSpPr>
            <p:cNvPr name="Freeform 45" id="45"/>
            <p:cNvSpPr/>
            <p:nvPr/>
          </p:nvSpPr>
          <p:spPr>
            <a:xfrm flipH="false" flipV="false" rot="0">
              <a:off x="0" y="0"/>
              <a:ext cx="3840480" cy="1005840"/>
            </a:xfrm>
            <a:custGeom>
              <a:avLst/>
              <a:gdLst/>
              <a:ahLst/>
              <a:cxnLst/>
              <a:rect r="r" b="b" t="t" l="l"/>
              <a:pathLst>
                <a:path h="1005840" w="3840480">
                  <a:moveTo>
                    <a:pt x="0" y="0"/>
                  </a:moveTo>
                  <a:lnTo>
                    <a:pt x="3840480" y="0"/>
                  </a:lnTo>
                  <a:lnTo>
                    <a:pt x="3840480" y="1005840"/>
                  </a:lnTo>
                  <a:lnTo>
                    <a:pt x="0" y="1005840"/>
                  </a:lnTo>
                  <a:close/>
                </a:path>
              </a:pathLst>
            </a:custGeom>
            <a:blipFill>
              <a:blip r:embed="rId3">
                <a:alphaModFix amt="0"/>
              </a:blip>
              <a:stretch>
                <a:fillRect l="0" t="-24397" r="0" b="-24397"/>
              </a:stretch>
            </a:blipFill>
          </p:spPr>
        </p:sp>
        <p:sp>
          <p:nvSpPr>
            <p:cNvPr name="TextBox 46" id="46"/>
            <p:cNvSpPr txBox="true"/>
            <p:nvPr/>
          </p:nvSpPr>
          <p:spPr>
            <a:xfrm>
              <a:off x="0" y="-47625"/>
              <a:ext cx="3840480" cy="1053465"/>
            </a:xfrm>
            <a:prstGeom prst="rect">
              <a:avLst/>
            </a:prstGeom>
          </p:spPr>
          <p:txBody>
            <a:bodyPr anchor="ctr" rtlCol="false" tIns="0" lIns="0" bIns="0" rIns="0"/>
            <a:lstStyle/>
            <a:p>
              <a:pPr algn="l">
                <a:lnSpc>
                  <a:spcPts val="2340"/>
                </a:lnSpc>
              </a:pPr>
              <a:r>
                <a:rPr lang="en-US" sz="1950">
                  <a:solidFill>
                    <a:srgbClr val="9AA4B2"/>
                  </a:solidFill>
                  <a:latin typeface="Calibri (MS)"/>
                  <a:ea typeface="Calibri (MS)"/>
                  <a:cs typeface="Calibri (MS)"/>
                  <a:sym typeface="Calibri (MS)"/>
                </a:rPr>
                <a:t>Important features</a:t>
              </a:r>
            </a:p>
          </p:txBody>
        </p:sp>
      </p:grpSp>
      <p:grpSp>
        <p:nvGrpSpPr>
          <p:cNvPr name="Group 47" id="47"/>
          <p:cNvGrpSpPr/>
          <p:nvPr/>
        </p:nvGrpSpPr>
        <p:grpSpPr>
          <a:xfrm rot="0">
            <a:off x="4114800" y="7612380"/>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57150"/>
              <a:ext cx="5029200" cy="1062990"/>
            </a:xfrm>
            <a:prstGeom prst="rect">
              <a:avLst/>
            </a:prstGeom>
          </p:spPr>
          <p:txBody>
            <a:bodyPr anchor="ctr" rtlCol="false" tIns="0" lIns="0" bIns="0" rIns="0"/>
            <a:lstStyle/>
            <a:p>
              <a:pPr algn="l">
                <a:lnSpc>
                  <a:spcPts val="2700"/>
                </a:lnSpc>
              </a:pPr>
              <a:r>
                <a:rPr lang="en-US" sz="2250" b="true">
                  <a:solidFill>
                    <a:srgbClr val="22D3EE"/>
                  </a:solidFill>
                  <a:latin typeface="Calibri (MS) Bold"/>
                  <a:ea typeface="Calibri (MS) Bold"/>
                  <a:cs typeface="Calibri (MS) Bold"/>
                  <a:sym typeface="Calibri (MS) Bold"/>
                </a:rPr>
                <a:t>Shots · Passes · Pass accuracy</a:t>
              </a:r>
            </a:p>
          </p:txBody>
        </p:sp>
      </p:grpSp>
      <p:grpSp>
        <p:nvGrpSpPr>
          <p:cNvPr name="Group 50" id="50"/>
          <p:cNvGrpSpPr/>
          <p:nvPr/>
        </p:nvGrpSpPr>
        <p:grpSpPr>
          <a:xfrm rot="0">
            <a:off x="1234440" y="8503920"/>
            <a:ext cx="6720840" cy="480060"/>
            <a:chOff x="0" y="0"/>
            <a:chExt cx="8961120" cy="640080"/>
          </a:xfrm>
        </p:grpSpPr>
        <p:sp>
          <p:nvSpPr>
            <p:cNvPr name="Freeform 51" id="51"/>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52" id="52"/>
            <p:cNvSpPr txBox="true"/>
            <p:nvPr/>
          </p:nvSpPr>
          <p:spPr>
            <a:xfrm>
              <a:off x="0" y="-38100"/>
              <a:ext cx="8961120" cy="678180"/>
            </a:xfrm>
            <a:prstGeom prst="rect">
              <a:avLst/>
            </a:prstGeom>
          </p:spPr>
          <p:txBody>
            <a:bodyPr anchor="ctr" rtlCol="false" tIns="0" lIns="0" bIns="0" rIns="0"/>
            <a:lstStyle/>
            <a:p>
              <a:pPr algn="l">
                <a:lnSpc>
                  <a:spcPts val="2070"/>
                </a:lnSpc>
              </a:pPr>
              <a:r>
                <a:rPr lang="en-US" sz="1725" i="true">
                  <a:solidFill>
                    <a:srgbClr val="FBBF24"/>
                  </a:solidFill>
                  <a:latin typeface="Calibri (MS) Italics"/>
                  <a:ea typeface="Calibri (MS) Italics"/>
                  <a:cs typeface="Calibri (MS) Italics"/>
                  <a:sym typeface="Calibri (MS) Italics"/>
                </a:rPr>
                <a:t>Illustrative output: actual values will be generated after training.</a:t>
              </a:r>
            </a:p>
          </p:txBody>
        </p:sp>
      </p:grpSp>
      <p:grpSp>
        <p:nvGrpSpPr>
          <p:cNvPr name="Group 53" id="53"/>
          <p:cNvGrpSpPr/>
          <p:nvPr/>
        </p:nvGrpSpPr>
        <p:grpSpPr>
          <a:xfrm rot="0">
            <a:off x="8641080" y="2400300"/>
            <a:ext cx="8229600" cy="384048"/>
            <a:chOff x="0" y="0"/>
            <a:chExt cx="10972800" cy="512064"/>
          </a:xfrm>
        </p:grpSpPr>
        <p:sp>
          <p:nvSpPr>
            <p:cNvPr name="Freeform 54" id="54"/>
            <p:cNvSpPr/>
            <p:nvPr/>
          </p:nvSpPr>
          <p:spPr>
            <a:xfrm flipH="false" flipV="false" rot="0">
              <a:off x="0" y="0"/>
              <a:ext cx="10972800" cy="512064"/>
            </a:xfrm>
            <a:custGeom>
              <a:avLst/>
              <a:gdLst/>
              <a:ahLst/>
              <a:cxnLst/>
              <a:rect r="r" b="b" t="t" l="l"/>
              <a:pathLst>
                <a:path h="512064" w="10972800">
                  <a:moveTo>
                    <a:pt x="0" y="0"/>
                  </a:moveTo>
                  <a:lnTo>
                    <a:pt x="10972800" y="0"/>
                  </a:lnTo>
                  <a:lnTo>
                    <a:pt x="10972800" y="512064"/>
                  </a:lnTo>
                  <a:lnTo>
                    <a:pt x="0" y="512064"/>
                  </a:lnTo>
                  <a:close/>
                </a:path>
              </a:pathLst>
            </a:custGeom>
            <a:blipFill>
              <a:blip r:embed="rId3">
                <a:alphaModFix amt="0"/>
              </a:blip>
              <a:stretch>
                <a:fillRect l="0" t="-367536" r="0" b="-367536"/>
              </a:stretch>
            </a:blipFill>
          </p:spPr>
        </p:sp>
        <p:sp>
          <p:nvSpPr>
            <p:cNvPr name="TextBox 55" id="55"/>
            <p:cNvSpPr txBox="true"/>
            <p:nvPr/>
          </p:nvSpPr>
          <p:spPr>
            <a:xfrm>
              <a:off x="0" y="-28575"/>
              <a:ext cx="10972800" cy="540639"/>
            </a:xfrm>
            <a:prstGeom prst="rect">
              <a:avLst/>
            </a:prstGeom>
          </p:spPr>
          <p:txBody>
            <a:bodyPr anchor="ctr" rtlCol="false" tIns="0" lIns="0" bIns="0" rIns="0"/>
            <a:lstStyle/>
            <a:p>
              <a:pPr algn="l">
                <a:lnSpc>
                  <a:spcPts val="1980"/>
                </a:lnSpc>
              </a:pPr>
              <a:r>
                <a:rPr lang="en-US" b="true" sz="1650" spc="299">
                  <a:solidFill>
                    <a:srgbClr val="22D3EE"/>
                  </a:solidFill>
                  <a:latin typeface="Calibri (MS) Bold"/>
                  <a:ea typeface="Calibri (MS) Bold"/>
                  <a:cs typeface="Calibri (MS) Bold"/>
                  <a:sym typeface="Calibri (MS) Bold"/>
                </a:rPr>
                <a:t>WHAT THE NOTEBOOK WILL PRODUCE</a:t>
              </a:r>
            </a:p>
          </p:txBody>
        </p:sp>
      </p:grpSp>
      <p:sp>
        <p:nvSpPr>
          <p:cNvPr name="TextBox 56" id="56"/>
          <p:cNvSpPr txBox="true"/>
          <p:nvPr/>
        </p:nvSpPr>
        <p:spPr>
          <a:xfrm rot="0">
            <a:off x="8641080" y="2832735"/>
            <a:ext cx="8778240" cy="2379345"/>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E8ECF1"/>
                </a:solidFill>
                <a:latin typeface="Calibri (MS)"/>
                <a:ea typeface="Calibri (MS)"/>
                <a:cs typeface="Calibri (MS)"/>
                <a:sym typeface="Calibri (MS)"/>
              </a:rPr>
              <a:t>Predictions and High / Low labels for each player</a:t>
            </a:r>
          </a:p>
          <a:p>
            <a:pPr algn="l" marL="380048" indent="-190024" lvl="1">
              <a:lnSpc>
                <a:spcPts val="2520"/>
              </a:lnSpc>
              <a:buFont typeface="Arial"/>
              <a:buChar char="•"/>
            </a:pPr>
            <a:r>
              <a:rPr lang="en-US" sz="2100">
                <a:solidFill>
                  <a:srgbClr val="E8ECF1"/>
                </a:solidFill>
                <a:latin typeface="Calibri (MS)"/>
                <a:ea typeface="Calibri (MS)"/>
                <a:cs typeface="Calibri (MS)"/>
                <a:sym typeface="Calibri (MS)"/>
              </a:rPr>
              <a:t>Model comparison tables</a:t>
            </a:r>
          </a:p>
          <a:p>
            <a:pPr algn="l" marL="380048" indent="-190024" lvl="1">
              <a:lnSpc>
                <a:spcPts val="2520"/>
              </a:lnSpc>
              <a:buFont typeface="Arial"/>
              <a:buChar char="•"/>
            </a:pPr>
            <a:r>
              <a:rPr lang="en-US" sz="2100">
                <a:solidFill>
                  <a:srgbClr val="E8ECF1"/>
                </a:solidFill>
                <a:latin typeface="Calibri (MS)"/>
                <a:ea typeface="Calibri (MS)"/>
                <a:cs typeface="Calibri (MS)"/>
                <a:sym typeface="Calibri (MS)"/>
              </a:rPr>
              <a:t>Confusion matrix and feature-importance charts</a:t>
            </a:r>
          </a:p>
          <a:p>
            <a:pPr algn="l" marL="380048" indent="-190024" lvl="1">
              <a:lnSpc>
                <a:spcPts val="2520"/>
              </a:lnSpc>
              <a:buFont typeface="Arial"/>
              <a:buChar char="•"/>
            </a:pPr>
            <a:r>
              <a:rPr lang="en-US" sz="2100">
                <a:solidFill>
                  <a:srgbClr val="E8ECF1"/>
                </a:solidFill>
                <a:latin typeface="Calibri (MS)"/>
                <a:ea typeface="Calibri (MS)"/>
                <a:cs typeface="Calibri (MS)"/>
                <a:sym typeface="Calibri (MS)"/>
              </a:rPr>
              <a:t>Cluster scatter plot and elbow curve</a:t>
            </a:r>
          </a:p>
        </p:txBody>
      </p:sp>
      <p:graphicFrame>
        <p:nvGraphicFramePr>
          <p:cNvPr name="Table 57" id="57"/>
          <p:cNvGraphicFramePr>
            <a:graphicFrameLocks noGrp="true"/>
          </p:cNvGraphicFramePr>
          <p:nvPr/>
        </p:nvGraphicFramePr>
        <p:xfrm>
          <a:off x="8641080" y="5417820"/>
          <a:ext cx="8801100" cy="3429000"/>
        </p:xfrm>
        <a:graphic>
          <a:graphicData uri="http://schemas.openxmlformats.org/drawingml/2006/table">
            <a:tbl>
              <a:tblPr/>
              <a:tblGrid>
                <a:gridCol w="2744665"/>
                <a:gridCol w="6056435"/>
              </a:tblGrid>
              <a:tr h="571500">
                <a:tc>
                  <a:txBody>
                    <a:bodyPr anchor="t" rtlCol="false"/>
                    <a:lstStyle/>
                    <a:p>
                      <a:pPr algn="l">
                        <a:lnSpc>
                          <a:spcPts val="2160"/>
                        </a:lnSpc>
                        <a:defRPr/>
                      </a:pPr>
                      <a:r>
                        <a:rPr lang="en-US" sz="1800" b="true">
                          <a:solidFill>
                            <a:srgbClr val="0A0D12"/>
                          </a:solidFill>
                          <a:latin typeface="Calibri (MS) Bold"/>
                          <a:ea typeface="Calibri (MS) Bold"/>
                          <a:cs typeface="Calibri (MS) Bold"/>
                          <a:sym typeface="Calibri (MS) Bold"/>
                        </a:rPr>
                        <a:t>Model</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c>
                  <a:txBody>
                    <a:bodyPr anchor="t" rtlCol="false"/>
                    <a:lstStyle/>
                    <a:p>
                      <a:pPr algn="l">
                        <a:lnSpc>
                          <a:spcPts val="2160"/>
                        </a:lnSpc>
                        <a:defRPr/>
                      </a:pPr>
                      <a:r>
                        <a:rPr lang="en-US" sz="1800" b="true">
                          <a:solidFill>
                            <a:srgbClr val="0A0D12"/>
                          </a:solidFill>
                          <a:latin typeface="Calibri (MS) Bold"/>
                          <a:ea typeface="Calibri (MS) Bold"/>
                          <a:cs typeface="Calibri (MS) Bold"/>
                          <a:sym typeface="Calibri (MS) Bold"/>
                        </a:rPr>
                        <a:t>Metrics (Expected / To be evaluated)</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22D3EE"/>
                    </a:solidFill>
                  </a:tcPr>
                </a:tc>
              </a:tr>
              <a:tr h="571500">
                <a:tc>
                  <a:txBody>
                    <a:bodyPr anchor="t" rtlCol="false"/>
                    <a:lstStyle/>
                    <a:p>
                      <a:pPr algn="l">
                        <a:lnSpc>
                          <a:spcPts val="2160"/>
                        </a:lnSpc>
                        <a:defRPr/>
                      </a:pPr>
                      <a:r>
                        <a:rPr lang="en-US" sz="1800" b="true">
                          <a:solidFill>
                            <a:srgbClr val="E8ECF1"/>
                          </a:solidFill>
                          <a:latin typeface="Calibri (MS) Bold"/>
                          <a:ea typeface="Calibri (MS) Bold"/>
                          <a:cs typeface="Calibri (MS) Bold"/>
                          <a:sym typeface="Calibri (MS) Bold"/>
                        </a:rPr>
                        <a:t>Linear Regression</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2160"/>
                        </a:lnSpc>
                        <a:defRPr/>
                      </a:pPr>
                      <a:r>
                        <a:rPr lang="en-US" sz="1800">
                          <a:solidFill>
                            <a:srgbClr val="9AA4B2"/>
                          </a:solidFill>
                          <a:latin typeface="Calibri (MS)"/>
                          <a:ea typeface="Calibri (MS)"/>
                          <a:cs typeface="Calibri (MS)"/>
                          <a:sym typeface="Calibri (MS)"/>
                        </a:rPr>
                        <a:t>MAE · RMSE · R²: to be evaluated</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r h="571500">
                <a:tc>
                  <a:txBody>
                    <a:bodyPr anchor="t" rtlCol="false"/>
                    <a:lstStyle/>
                    <a:p>
                      <a:pPr algn="l">
                        <a:lnSpc>
                          <a:spcPts val="2160"/>
                        </a:lnSpc>
                        <a:defRPr/>
                      </a:pPr>
                      <a:r>
                        <a:rPr lang="en-US" sz="1800" b="true">
                          <a:solidFill>
                            <a:srgbClr val="E8ECF1"/>
                          </a:solidFill>
                          <a:latin typeface="Calibri (MS) Bold"/>
                          <a:ea typeface="Calibri (MS) Bold"/>
                          <a:cs typeface="Calibri (MS) Bold"/>
                          <a:sym typeface="Calibri (MS) Bold"/>
                        </a:rPr>
                        <a:t>Random Forest</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2160"/>
                        </a:lnSpc>
                        <a:defRPr/>
                      </a:pPr>
                      <a:r>
                        <a:rPr lang="en-US" sz="1800">
                          <a:solidFill>
                            <a:srgbClr val="9AA4B2"/>
                          </a:solidFill>
                          <a:latin typeface="Calibri (MS)"/>
                          <a:ea typeface="Calibri (MS)"/>
                          <a:cs typeface="Calibri (MS)"/>
                          <a:sym typeface="Calibri (MS)"/>
                        </a:rPr>
                        <a:t>MAE · RMSE · R²: to be evaluated</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r h="571500">
                <a:tc>
                  <a:txBody>
                    <a:bodyPr anchor="t" rtlCol="false"/>
                    <a:lstStyle/>
                    <a:p>
                      <a:pPr algn="l">
                        <a:lnSpc>
                          <a:spcPts val="2160"/>
                        </a:lnSpc>
                        <a:defRPr/>
                      </a:pPr>
                      <a:r>
                        <a:rPr lang="en-US" sz="1800" b="true">
                          <a:solidFill>
                            <a:srgbClr val="E8ECF1"/>
                          </a:solidFill>
                          <a:latin typeface="Calibri (MS) Bold"/>
                          <a:ea typeface="Calibri (MS) Bold"/>
                          <a:cs typeface="Calibri (MS) Bold"/>
                          <a:sym typeface="Calibri (MS) Bold"/>
                        </a:rPr>
                        <a:t>Logistic Regression</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2160"/>
                        </a:lnSpc>
                        <a:defRPr/>
                      </a:pPr>
                      <a:r>
                        <a:rPr lang="en-US" sz="1800">
                          <a:solidFill>
                            <a:srgbClr val="9AA4B2"/>
                          </a:solidFill>
                          <a:latin typeface="Calibri (MS)"/>
                          <a:ea typeface="Calibri (MS)"/>
                          <a:cs typeface="Calibri (MS)"/>
                          <a:sym typeface="Calibri (MS)"/>
                        </a:rPr>
                        <a:t>Accuracy · Precision · Recall · F1: to be evaluated</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r h="571500">
                <a:tc>
                  <a:txBody>
                    <a:bodyPr anchor="t" rtlCol="false"/>
                    <a:lstStyle/>
                    <a:p>
                      <a:pPr algn="l">
                        <a:lnSpc>
                          <a:spcPts val="2160"/>
                        </a:lnSpc>
                        <a:defRPr/>
                      </a:pPr>
                      <a:r>
                        <a:rPr lang="en-US" sz="1800" b="true">
                          <a:solidFill>
                            <a:srgbClr val="E8ECF1"/>
                          </a:solidFill>
                          <a:latin typeface="Calibri (MS) Bold"/>
                          <a:ea typeface="Calibri (MS) Bold"/>
                          <a:cs typeface="Calibri (MS) Bold"/>
                          <a:sym typeface="Calibri (MS) Bold"/>
                        </a:rPr>
                        <a:t>Decision Tree</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2160"/>
                        </a:lnSpc>
                        <a:defRPr/>
                      </a:pPr>
                      <a:r>
                        <a:rPr lang="en-US" sz="1800">
                          <a:solidFill>
                            <a:srgbClr val="9AA4B2"/>
                          </a:solidFill>
                          <a:latin typeface="Calibri (MS)"/>
                          <a:ea typeface="Calibri (MS)"/>
                          <a:cs typeface="Calibri (MS)"/>
                          <a:sym typeface="Calibri (MS)"/>
                        </a:rPr>
                        <a:t>Accuracy · Precision · Recall · F1: to be evaluated</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r h="571500">
                <a:tc>
                  <a:txBody>
                    <a:bodyPr anchor="t" rtlCol="false"/>
                    <a:lstStyle/>
                    <a:p>
                      <a:pPr algn="l">
                        <a:lnSpc>
                          <a:spcPts val="2160"/>
                        </a:lnSpc>
                        <a:defRPr/>
                      </a:pPr>
                      <a:r>
                        <a:rPr lang="en-US" sz="1800" b="true">
                          <a:solidFill>
                            <a:srgbClr val="E8ECF1"/>
                          </a:solidFill>
                          <a:latin typeface="Calibri (MS) Bold"/>
                          <a:ea typeface="Calibri (MS) Bold"/>
                          <a:cs typeface="Calibri (MS) Bold"/>
                          <a:sym typeface="Calibri (MS) Bold"/>
                        </a:rPr>
                        <a:t>K-Means</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c>
                  <a:txBody>
                    <a:bodyPr anchor="t" rtlCol="false"/>
                    <a:lstStyle/>
                    <a:p>
                      <a:pPr algn="l">
                        <a:lnSpc>
                          <a:spcPts val="2160"/>
                        </a:lnSpc>
                        <a:defRPr/>
                      </a:pPr>
                      <a:r>
                        <a:rPr lang="en-US" sz="1800">
                          <a:solidFill>
                            <a:srgbClr val="9AA4B2"/>
                          </a:solidFill>
                          <a:latin typeface="Calibri (MS)"/>
                          <a:ea typeface="Calibri (MS)"/>
                          <a:cs typeface="Calibri (MS)"/>
                          <a:sym typeface="Calibri (MS)"/>
                        </a:rPr>
                        <a:t>Elbow · Silhouette: to be evaluated</a:t>
                      </a:r>
                      <a:endParaRPr lang="en-US" sz="1100"/>
                    </a:p>
                  </a:txBody>
                  <a:tcPr marL="91440" marR="91440" marT="91440" marB="91440" anchor="t">
                    <a:lnL cmpd="sng" algn="ctr" cap="flat" w="6350">
                      <a:solidFill>
                        <a:srgbClr val="2A323D"/>
                      </a:solidFill>
                      <a:prstDash val="solid"/>
                      <a:round/>
                      <a:headEnd type="none" w="med" len="med"/>
                      <a:tailEnd type="none" w="med" len="med"/>
                    </a:lnL>
                    <a:lnR cmpd="sng" algn="ctr" cap="flat" w="6350">
                      <a:solidFill>
                        <a:srgbClr val="2A323D"/>
                      </a:solidFill>
                      <a:prstDash val="solid"/>
                      <a:round/>
                      <a:headEnd type="none" w="med" len="med"/>
                      <a:tailEnd type="none" w="med" len="med"/>
                    </a:lnR>
                    <a:lnT cmpd="sng" algn="ctr" cap="flat" w="6350">
                      <a:solidFill>
                        <a:srgbClr val="2A323D"/>
                      </a:solidFill>
                      <a:prstDash val="solid"/>
                      <a:round/>
                      <a:headEnd type="none" w="med" len="med"/>
                      <a:tailEnd type="none" w="med" len="med"/>
                    </a:lnT>
                    <a:lnB cmpd="sng" algn="ctr" cap="flat" w="6350">
                      <a:solidFill>
                        <a:srgbClr val="2A323D"/>
                      </a:solidFill>
                      <a:prstDash val="solid"/>
                      <a:round/>
                      <a:headEnd type="none" w="med" len="med"/>
                      <a:tailEnd type="none" w="med" len="med"/>
                    </a:lnB>
                    <a:solidFill>
                      <a:srgbClr val="1D242E"/>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E1116"/>
        </a:solidFill>
      </p:bgPr>
    </p:bg>
    <p:spTree>
      <p:nvGrpSpPr>
        <p:cNvPr id="1" name=""/>
        <p:cNvGrpSpPr/>
        <p:nvPr/>
      </p:nvGrpSpPr>
      <p:grpSpPr>
        <a:xfrm>
          <a:off x="0" y="0"/>
          <a:ext cx="0" cy="0"/>
          <a:chOff x="0" y="0"/>
          <a:chExt cx="0" cy="0"/>
        </a:xfrm>
      </p:grpSpPr>
      <p:grpSp>
        <p:nvGrpSpPr>
          <p:cNvPr name="Group 2" id="2"/>
          <p:cNvGrpSpPr/>
          <p:nvPr/>
        </p:nvGrpSpPr>
        <p:grpSpPr>
          <a:xfrm rot="0">
            <a:off x="813435" y="566547"/>
            <a:ext cx="773430" cy="101346"/>
            <a:chOff x="0" y="0"/>
            <a:chExt cx="1031240" cy="135128"/>
          </a:xfrm>
        </p:grpSpPr>
        <p:sp>
          <p:nvSpPr>
            <p:cNvPr name="Freeform 3" id="3"/>
            <p:cNvSpPr/>
            <p:nvPr/>
          </p:nvSpPr>
          <p:spPr>
            <a:xfrm flipH="false" flipV="false" rot="0">
              <a:off x="0" y="0"/>
              <a:ext cx="1031240" cy="135128"/>
            </a:xfrm>
            <a:custGeom>
              <a:avLst/>
              <a:gdLst/>
              <a:ahLst/>
              <a:cxnLst/>
              <a:rect r="r" b="b" t="t" l="l"/>
              <a:pathLst>
                <a:path h="135128" w="1031240">
                  <a:moveTo>
                    <a:pt x="0" y="0"/>
                  </a:moveTo>
                  <a:lnTo>
                    <a:pt x="1031240" y="0"/>
                  </a:lnTo>
                  <a:lnTo>
                    <a:pt x="1031240" y="135128"/>
                  </a:lnTo>
                  <a:lnTo>
                    <a:pt x="0" y="135128"/>
                  </a:lnTo>
                  <a:close/>
                </a:path>
              </a:pathLst>
            </a:custGeom>
            <a:solidFill>
              <a:srgbClr val="22D3EE"/>
            </a:solidFill>
            <a:ln w="19050" cap="sq">
              <a:solidFill>
                <a:srgbClr val="22D3EE"/>
              </a:solidFill>
              <a:prstDash val="solid"/>
              <a:miter/>
            </a:ln>
          </p:spPr>
        </p:sp>
      </p:grpSp>
      <p:sp>
        <p:nvSpPr>
          <p:cNvPr name="TextBox 4" id="4"/>
          <p:cNvSpPr txBox="true"/>
          <p:nvPr/>
        </p:nvSpPr>
        <p:spPr>
          <a:xfrm rot="0">
            <a:off x="822960" y="725805"/>
            <a:ext cx="16637508" cy="851535"/>
          </a:xfrm>
          <a:prstGeom prst="rect">
            <a:avLst/>
          </a:prstGeom>
        </p:spPr>
        <p:txBody>
          <a:bodyPr anchor="t" rtlCol="false" tIns="0" lIns="0" bIns="0" rIns="0">
            <a:spAutoFit/>
          </a:bodyPr>
          <a:lstStyle/>
          <a:p>
            <a:pPr algn="l">
              <a:lnSpc>
                <a:spcPts val="5400"/>
              </a:lnSpc>
            </a:pPr>
            <a:r>
              <a:rPr lang="en-US" sz="4500" b="true">
                <a:solidFill>
                  <a:srgbClr val="E8ECF1"/>
                </a:solidFill>
                <a:latin typeface="Arial Bold"/>
                <a:ea typeface="Arial Bold"/>
                <a:cs typeface="Arial Bold"/>
                <a:sym typeface="Arial Bold"/>
              </a:rPr>
              <a:t>Conclusion &amp; Future Scope</a:t>
            </a:r>
          </a:p>
        </p:txBody>
      </p:sp>
      <p:grpSp>
        <p:nvGrpSpPr>
          <p:cNvPr name="Group 5" id="5"/>
          <p:cNvGrpSpPr/>
          <p:nvPr/>
        </p:nvGrpSpPr>
        <p:grpSpPr>
          <a:xfrm rot="0">
            <a:off x="822960" y="9710928"/>
            <a:ext cx="10972800" cy="342900"/>
            <a:chOff x="0" y="0"/>
            <a:chExt cx="14630400" cy="457200"/>
          </a:xfrm>
        </p:grpSpPr>
        <p:sp>
          <p:nvSpPr>
            <p:cNvPr name="Freeform 6" id="6"/>
            <p:cNvSpPr/>
            <p:nvPr/>
          </p:nvSpPr>
          <p:spPr>
            <a:xfrm flipH="false" flipV="false" rot="0">
              <a:off x="0" y="0"/>
              <a:ext cx="14630400" cy="457200"/>
            </a:xfrm>
            <a:custGeom>
              <a:avLst/>
              <a:gdLst/>
              <a:ahLst/>
              <a:cxnLst/>
              <a:rect r="r" b="b" t="t" l="l"/>
              <a:pathLst>
                <a:path h="457200" w="14630400">
                  <a:moveTo>
                    <a:pt x="0" y="0"/>
                  </a:moveTo>
                  <a:lnTo>
                    <a:pt x="14630400" y="0"/>
                  </a:lnTo>
                  <a:lnTo>
                    <a:pt x="14630400" y="457200"/>
                  </a:lnTo>
                  <a:lnTo>
                    <a:pt x="0" y="457200"/>
                  </a:lnTo>
                  <a:close/>
                </a:path>
              </a:pathLst>
            </a:custGeom>
            <a:blipFill>
              <a:blip r:embed="rId3">
                <a:alphaModFix amt="0"/>
              </a:blip>
              <a:stretch>
                <a:fillRect l="0" t="-573521" r="0" b="-573521"/>
              </a:stretch>
            </a:blipFill>
          </p:spPr>
        </p:sp>
        <p:sp>
          <p:nvSpPr>
            <p:cNvPr name="TextBox 7" id="7"/>
            <p:cNvSpPr txBox="true"/>
            <p:nvPr/>
          </p:nvSpPr>
          <p:spPr>
            <a:xfrm>
              <a:off x="0" y="-28575"/>
              <a:ext cx="14630400" cy="485775"/>
            </a:xfrm>
            <a:prstGeom prst="rect">
              <a:avLst/>
            </a:prstGeom>
          </p:spPr>
          <p:txBody>
            <a:bodyPr anchor="ctr" rtlCol="false" tIns="0" lIns="0" bIns="0" rIns="0"/>
            <a:lstStyle/>
            <a:p>
              <a:pPr algn="l">
                <a:lnSpc>
                  <a:spcPts val="1620"/>
                </a:lnSpc>
              </a:pPr>
              <a:r>
                <a:rPr lang="en-US" sz="1350">
                  <a:solidFill>
                    <a:srgbClr val="9AA4B2"/>
                  </a:solidFill>
                  <a:latin typeface="Calibri (MS)"/>
                  <a:ea typeface="Calibri (MS)"/>
                  <a:cs typeface="Calibri (MS)"/>
                  <a:sym typeface="Calibri (MS)"/>
                </a:rPr>
                <a:t>Football Player Performance Analysis Using Machine Learning</a:t>
              </a:r>
            </a:p>
          </p:txBody>
        </p:sp>
      </p:grpSp>
      <p:grpSp>
        <p:nvGrpSpPr>
          <p:cNvPr name="Group 8" id="8"/>
          <p:cNvGrpSpPr/>
          <p:nvPr/>
        </p:nvGrpSpPr>
        <p:grpSpPr>
          <a:xfrm rot="0">
            <a:off x="16088868" y="9710928"/>
            <a:ext cx="1371600" cy="342900"/>
            <a:chOff x="0" y="0"/>
            <a:chExt cx="1828800" cy="457200"/>
          </a:xfrm>
        </p:grpSpPr>
        <p:sp>
          <p:nvSpPr>
            <p:cNvPr name="Freeform 9" id="9"/>
            <p:cNvSpPr/>
            <p:nvPr/>
          </p:nvSpPr>
          <p:spPr>
            <a:xfrm flipH="false" flipV="false" rot="0">
              <a:off x="0" y="0"/>
              <a:ext cx="1828800" cy="457200"/>
            </a:xfrm>
            <a:custGeom>
              <a:avLst/>
              <a:gdLst/>
              <a:ahLst/>
              <a:cxnLst/>
              <a:rect r="r" b="b" t="t" l="l"/>
              <a:pathLst>
                <a:path h="457200" w="1828800">
                  <a:moveTo>
                    <a:pt x="0" y="0"/>
                  </a:moveTo>
                  <a:lnTo>
                    <a:pt x="1828800" y="0"/>
                  </a:lnTo>
                  <a:lnTo>
                    <a:pt x="1828800" y="457200"/>
                  </a:lnTo>
                  <a:lnTo>
                    <a:pt x="0" y="457200"/>
                  </a:lnTo>
                  <a:close/>
                </a:path>
              </a:pathLst>
            </a:custGeom>
            <a:blipFill>
              <a:blip r:embed="rId3">
                <a:alphaModFix amt="0"/>
              </a:blip>
              <a:stretch>
                <a:fillRect l="0" t="-27940" r="0" b="-27940"/>
              </a:stretch>
            </a:blipFill>
          </p:spPr>
        </p:sp>
        <p:sp>
          <p:nvSpPr>
            <p:cNvPr name="TextBox 10" id="10"/>
            <p:cNvSpPr txBox="true"/>
            <p:nvPr/>
          </p:nvSpPr>
          <p:spPr>
            <a:xfrm>
              <a:off x="0" y="-28575"/>
              <a:ext cx="1828800" cy="485775"/>
            </a:xfrm>
            <a:prstGeom prst="rect">
              <a:avLst/>
            </a:prstGeom>
          </p:spPr>
          <p:txBody>
            <a:bodyPr anchor="ctr" rtlCol="false" tIns="0" lIns="0" bIns="0" rIns="0"/>
            <a:lstStyle/>
            <a:p>
              <a:pPr algn="r">
                <a:lnSpc>
                  <a:spcPts val="1620"/>
                </a:lnSpc>
              </a:pPr>
              <a:r>
                <a:rPr lang="en-US" sz="1350">
                  <a:solidFill>
                    <a:srgbClr val="9AA4B2"/>
                  </a:solidFill>
                  <a:latin typeface="Calibri (MS)"/>
                  <a:ea typeface="Calibri (MS)"/>
                  <a:cs typeface="Calibri (MS)"/>
                  <a:sym typeface="Calibri (MS)"/>
                </a:rPr>
                <a:t>10</a:t>
              </a:r>
            </a:p>
          </p:txBody>
        </p:sp>
      </p:grpSp>
      <p:grpSp>
        <p:nvGrpSpPr>
          <p:cNvPr name="Group 11" id="11"/>
          <p:cNvGrpSpPr/>
          <p:nvPr/>
        </p:nvGrpSpPr>
        <p:grpSpPr>
          <a:xfrm rot="0">
            <a:off x="815816" y="2050256"/>
            <a:ext cx="9478328" cy="5637847"/>
            <a:chOff x="0" y="0"/>
            <a:chExt cx="12637770" cy="7517130"/>
          </a:xfrm>
        </p:grpSpPr>
        <p:sp>
          <p:nvSpPr>
            <p:cNvPr name="Freeform 12" id="12"/>
            <p:cNvSpPr/>
            <p:nvPr/>
          </p:nvSpPr>
          <p:spPr>
            <a:xfrm flipH="false" flipV="false" rot="0">
              <a:off x="0" y="0"/>
              <a:ext cx="12637770" cy="7517130"/>
            </a:xfrm>
            <a:custGeom>
              <a:avLst/>
              <a:gdLst/>
              <a:ahLst/>
              <a:cxnLst/>
              <a:rect r="r" b="b" t="t" l="l"/>
              <a:pathLst>
                <a:path h="7517130" w="12637770">
                  <a:moveTo>
                    <a:pt x="0" y="146685"/>
                  </a:moveTo>
                  <a:cubicBezTo>
                    <a:pt x="0" y="65659"/>
                    <a:pt x="65659" y="0"/>
                    <a:pt x="146685" y="0"/>
                  </a:cubicBezTo>
                  <a:lnTo>
                    <a:pt x="12491085" y="0"/>
                  </a:lnTo>
                  <a:cubicBezTo>
                    <a:pt x="12572111" y="0"/>
                    <a:pt x="12637770" y="65659"/>
                    <a:pt x="12637770" y="146685"/>
                  </a:cubicBezTo>
                  <a:lnTo>
                    <a:pt x="12637770" y="7370445"/>
                  </a:lnTo>
                  <a:cubicBezTo>
                    <a:pt x="12637770" y="7451471"/>
                    <a:pt x="12572111" y="7517130"/>
                    <a:pt x="12491085" y="7517130"/>
                  </a:cubicBezTo>
                  <a:lnTo>
                    <a:pt x="146685" y="7517130"/>
                  </a:lnTo>
                  <a:cubicBezTo>
                    <a:pt x="65659" y="7517130"/>
                    <a:pt x="0" y="7451471"/>
                    <a:pt x="0" y="7370445"/>
                  </a:cubicBezTo>
                  <a:close/>
                </a:path>
              </a:pathLst>
            </a:custGeom>
            <a:solidFill>
              <a:srgbClr val="161B22"/>
            </a:solidFill>
            <a:ln w="14288" cap="sq">
              <a:solidFill>
                <a:srgbClr val="2A323D"/>
              </a:solidFill>
              <a:prstDash val="solid"/>
              <a:miter/>
            </a:ln>
          </p:spPr>
        </p:sp>
      </p:grpSp>
      <p:grpSp>
        <p:nvGrpSpPr>
          <p:cNvPr name="Group 13" id="13"/>
          <p:cNvGrpSpPr/>
          <p:nvPr/>
        </p:nvGrpSpPr>
        <p:grpSpPr>
          <a:xfrm rot="0">
            <a:off x="1234440" y="2263140"/>
            <a:ext cx="5486400" cy="384048"/>
            <a:chOff x="0" y="0"/>
            <a:chExt cx="7315200" cy="512064"/>
          </a:xfrm>
        </p:grpSpPr>
        <p:sp>
          <p:nvSpPr>
            <p:cNvPr name="Freeform 14" id="14"/>
            <p:cNvSpPr/>
            <p:nvPr/>
          </p:nvSpPr>
          <p:spPr>
            <a:xfrm flipH="false" flipV="false" rot="0">
              <a:off x="0" y="0"/>
              <a:ext cx="7315200" cy="512064"/>
            </a:xfrm>
            <a:custGeom>
              <a:avLst/>
              <a:gdLst/>
              <a:ahLst/>
              <a:cxnLst/>
              <a:rect r="r" b="b" t="t" l="l"/>
              <a:pathLst>
                <a:path h="512064" w="7315200">
                  <a:moveTo>
                    <a:pt x="0" y="0"/>
                  </a:moveTo>
                  <a:lnTo>
                    <a:pt x="7315200" y="0"/>
                  </a:lnTo>
                  <a:lnTo>
                    <a:pt x="7315200" y="512064"/>
                  </a:lnTo>
                  <a:lnTo>
                    <a:pt x="0" y="512064"/>
                  </a:lnTo>
                  <a:close/>
                </a:path>
              </a:pathLst>
            </a:custGeom>
            <a:blipFill>
              <a:blip r:embed="rId3">
                <a:alphaModFix amt="0"/>
              </a:blip>
              <a:stretch>
                <a:fillRect l="0" t="-228357" r="0" b="-228357"/>
              </a:stretch>
            </a:blipFill>
          </p:spPr>
        </p:sp>
        <p:sp>
          <p:nvSpPr>
            <p:cNvPr name="TextBox 15" id="15"/>
            <p:cNvSpPr txBox="true"/>
            <p:nvPr/>
          </p:nvSpPr>
          <p:spPr>
            <a:xfrm>
              <a:off x="0" y="-28575"/>
              <a:ext cx="7315200" cy="540639"/>
            </a:xfrm>
            <a:prstGeom prst="rect">
              <a:avLst/>
            </a:prstGeom>
          </p:spPr>
          <p:txBody>
            <a:bodyPr anchor="ctr" rtlCol="false" tIns="0" lIns="0" bIns="0" rIns="0"/>
            <a:lstStyle/>
            <a:p>
              <a:pPr algn="l">
                <a:lnSpc>
                  <a:spcPts val="1980"/>
                </a:lnSpc>
              </a:pPr>
              <a:r>
                <a:rPr lang="en-US" b="true" sz="1650" spc="299">
                  <a:solidFill>
                    <a:srgbClr val="22D3EE"/>
                  </a:solidFill>
                  <a:latin typeface="Calibri (MS) Bold"/>
                  <a:ea typeface="Calibri (MS) Bold"/>
                  <a:cs typeface="Calibri (MS) Bold"/>
                  <a:sym typeface="Calibri (MS) Bold"/>
                </a:rPr>
                <a:t>CONCLUSION</a:t>
              </a:r>
            </a:p>
          </p:txBody>
        </p:sp>
      </p:grpSp>
      <p:grpSp>
        <p:nvGrpSpPr>
          <p:cNvPr name="Group 16" id="16"/>
          <p:cNvGrpSpPr/>
          <p:nvPr/>
        </p:nvGrpSpPr>
        <p:grpSpPr>
          <a:xfrm rot="0">
            <a:off x="1234440" y="2948940"/>
            <a:ext cx="548640" cy="548640"/>
            <a:chOff x="0" y="0"/>
            <a:chExt cx="731520" cy="731520"/>
          </a:xfrm>
        </p:grpSpPr>
        <p:sp>
          <p:nvSpPr>
            <p:cNvPr name="Freeform 17" id="17"/>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2D3EE"/>
            </a:solidFill>
          </p:spPr>
        </p:sp>
        <p:sp>
          <p:nvSpPr>
            <p:cNvPr name="TextBox 18" id="18"/>
            <p:cNvSpPr txBox="true"/>
            <p:nvPr/>
          </p:nvSpPr>
          <p:spPr>
            <a:xfrm>
              <a:off x="0" y="-47625"/>
              <a:ext cx="731520" cy="779145"/>
            </a:xfrm>
            <a:prstGeom prst="rect">
              <a:avLst/>
            </a:prstGeom>
          </p:spPr>
          <p:txBody>
            <a:bodyPr anchor="ctr" rtlCol="false" tIns="50800" lIns="50800" bIns="50800" rIns="50800"/>
            <a:lstStyle/>
            <a:p>
              <a:pPr algn="ctr">
                <a:lnSpc>
                  <a:spcPts val="2340"/>
                </a:lnSpc>
              </a:pPr>
              <a:r>
                <a:rPr lang="en-US" sz="1950" b="true">
                  <a:solidFill>
                    <a:srgbClr val="0A0D12"/>
                  </a:solidFill>
                  <a:latin typeface="Calibri (MS) Bold"/>
                  <a:ea typeface="Calibri (MS) Bold"/>
                  <a:cs typeface="Calibri (MS) Bold"/>
                  <a:sym typeface="Calibri (MS) Bold"/>
                </a:rPr>
                <a:t>1</a:t>
              </a:r>
            </a:p>
          </p:txBody>
        </p:sp>
      </p:grpSp>
      <p:grpSp>
        <p:nvGrpSpPr>
          <p:cNvPr name="Group 19" id="19"/>
          <p:cNvGrpSpPr/>
          <p:nvPr/>
        </p:nvGrpSpPr>
        <p:grpSpPr>
          <a:xfrm rot="0">
            <a:off x="2125980" y="2880360"/>
            <a:ext cx="7749540" cy="960120"/>
            <a:chOff x="0" y="0"/>
            <a:chExt cx="10332720" cy="1280160"/>
          </a:xfrm>
        </p:grpSpPr>
        <p:sp>
          <p:nvSpPr>
            <p:cNvPr name="Freeform 20" id="20"/>
            <p:cNvSpPr/>
            <p:nvPr/>
          </p:nvSpPr>
          <p:spPr>
            <a:xfrm flipH="false" flipV="false" rot="0">
              <a:off x="0" y="0"/>
              <a:ext cx="10332720" cy="1280160"/>
            </a:xfrm>
            <a:custGeom>
              <a:avLst/>
              <a:gdLst/>
              <a:ahLst/>
              <a:cxnLst/>
              <a:rect r="r" b="b" t="t" l="l"/>
              <a:pathLst>
                <a:path h="1280160" w="10332720">
                  <a:moveTo>
                    <a:pt x="0" y="0"/>
                  </a:moveTo>
                  <a:lnTo>
                    <a:pt x="10332720" y="0"/>
                  </a:lnTo>
                  <a:lnTo>
                    <a:pt x="10332720" y="1280160"/>
                  </a:lnTo>
                  <a:lnTo>
                    <a:pt x="0" y="1280160"/>
                  </a:lnTo>
                  <a:close/>
                </a:path>
              </a:pathLst>
            </a:custGeom>
            <a:blipFill>
              <a:blip r:embed="rId3">
                <a:alphaModFix amt="0"/>
              </a:blip>
              <a:stretch>
                <a:fillRect l="0" t="-107272" r="0" b="-107272"/>
              </a:stretch>
            </a:blipFill>
          </p:spPr>
        </p:sp>
        <p:sp>
          <p:nvSpPr>
            <p:cNvPr name="TextBox 21" id="21"/>
            <p:cNvSpPr txBox="true"/>
            <p:nvPr/>
          </p:nvSpPr>
          <p:spPr>
            <a:xfrm>
              <a:off x="0" y="-47625"/>
              <a:ext cx="10332720" cy="1327785"/>
            </a:xfrm>
            <a:prstGeom prst="rect">
              <a:avLst/>
            </a:prstGeom>
          </p:spPr>
          <p:txBody>
            <a:bodyPr anchor="ctr" rtlCol="false" tIns="0" lIns="0" bIns="0" rIns="0"/>
            <a:lstStyle/>
            <a:p>
              <a:pPr algn="l">
                <a:lnSpc>
                  <a:spcPts val="2790"/>
                </a:lnSpc>
              </a:pPr>
              <a:r>
                <a:rPr lang="en-US" sz="2325">
                  <a:solidFill>
                    <a:srgbClr val="E8ECF1"/>
                  </a:solidFill>
                  <a:latin typeface="Calibri (MS)"/>
                  <a:ea typeface="Calibri (MS)"/>
                  <a:cs typeface="Calibri (MS)"/>
                  <a:sym typeface="Calibri (MS)"/>
                </a:rPr>
                <a:t>Demonstrates supervised and unsupervised ML on one dataset</a:t>
              </a:r>
            </a:p>
          </p:txBody>
        </p:sp>
      </p:grpSp>
      <p:grpSp>
        <p:nvGrpSpPr>
          <p:cNvPr name="Group 22" id="22"/>
          <p:cNvGrpSpPr/>
          <p:nvPr/>
        </p:nvGrpSpPr>
        <p:grpSpPr>
          <a:xfrm rot="0">
            <a:off x="1234440" y="4114800"/>
            <a:ext cx="548640" cy="54864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2D3EE"/>
            </a:solidFill>
          </p:spPr>
        </p:sp>
        <p:sp>
          <p:nvSpPr>
            <p:cNvPr name="TextBox 24" id="24"/>
            <p:cNvSpPr txBox="true"/>
            <p:nvPr/>
          </p:nvSpPr>
          <p:spPr>
            <a:xfrm>
              <a:off x="0" y="-47625"/>
              <a:ext cx="731520" cy="779145"/>
            </a:xfrm>
            <a:prstGeom prst="rect">
              <a:avLst/>
            </a:prstGeom>
          </p:spPr>
          <p:txBody>
            <a:bodyPr anchor="ctr" rtlCol="false" tIns="50800" lIns="50800" bIns="50800" rIns="50800"/>
            <a:lstStyle/>
            <a:p>
              <a:pPr algn="ctr">
                <a:lnSpc>
                  <a:spcPts val="2340"/>
                </a:lnSpc>
              </a:pPr>
              <a:r>
                <a:rPr lang="en-US" sz="1950" b="true">
                  <a:solidFill>
                    <a:srgbClr val="0A0D12"/>
                  </a:solidFill>
                  <a:latin typeface="Calibri (MS) Bold"/>
                  <a:ea typeface="Calibri (MS) Bold"/>
                  <a:cs typeface="Calibri (MS) Bold"/>
                  <a:sym typeface="Calibri (MS) Bold"/>
                </a:rPr>
                <a:t>2</a:t>
              </a:r>
            </a:p>
          </p:txBody>
        </p:sp>
      </p:grpSp>
      <p:grpSp>
        <p:nvGrpSpPr>
          <p:cNvPr name="Group 25" id="25"/>
          <p:cNvGrpSpPr/>
          <p:nvPr/>
        </p:nvGrpSpPr>
        <p:grpSpPr>
          <a:xfrm rot="0">
            <a:off x="2125980" y="4046220"/>
            <a:ext cx="7749540" cy="960120"/>
            <a:chOff x="0" y="0"/>
            <a:chExt cx="10332720" cy="1280160"/>
          </a:xfrm>
        </p:grpSpPr>
        <p:sp>
          <p:nvSpPr>
            <p:cNvPr name="Freeform 26" id="26"/>
            <p:cNvSpPr/>
            <p:nvPr/>
          </p:nvSpPr>
          <p:spPr>
            <a:xfrm flipH="false" flipV="false" rot="0">
              <a:off x="0" y="0"/>
              <a:ext cx="10332720" cy="1280160"/>
            </a:xfrm>
            <a:custGeom>
              <a:avLst/>
              <a:gdLst/>
              <a:ahLst/>
              <a:cxnLst/>
              <a:rect r="r" b="b" t="t" l="l"/>
              <a:pathLst>
                <a:path h="1280160" w="10332720">
                  <a:moveTo>
                    <a:pt x="0" y="0"/>
                  </a:moveTo>
                  <a:lnTo>
                    <a:pt x="10332720" y="0"/>
                  </a:lnTo>
                  <a:lnTo>
                    <a:pt x="10332720" y="1280160"/>
                  </a:lnTo>
                  <a:lnTo>
                    <a:pt x="0" y="1280160"/>
                  </a:lnTo>
                  <a:close/>
                </a:path>
              </a:pathLst>
            </a:custGeom>
            <a:blipFill>
              <a:blip r:embed="rId3">
                <a:alphaModFix amt="0"/>
              </a:blip>
              <a:stretch>
                <a:fillRect l="0" t="-107272" r="0" b="-107272"/>
              </a:stretch>
            </a:blipFill>
          </p:spPr>
        </p:sp>
        <p:sp>
          <p:nvSpPr>
            <p:cNvPr name="TextBox 27" id="27"/>
            <p:cNvSpPr txBox="true"/>
            <p:nvPr/>
          </p:nvSpPr>
          <p:spPr>
            <a:xfrm>
              <a:off x="0" y="-47625"/>
              <a:ext cx="10332720" cy="1327785"/>
            </a:xfrm>
            <a:prstGeom prst="rect">
              <a:avLst/>
            </a:prstGeom>
          </p:spPr>
          <p:txBody>
            <a:bodyPr anchor="ctr" rtlCol="false" tIns="0" lIns="0" bIns="0" rIns="0"/>
            <a:lstStyle/>
            <a:p>
              <a:pPr algn="l">
                <a:lnSpc>
                  <a:spcPts val="2790"/>
                </a:lnSpc>
              </a:pPr>
              <a:r>
                <a:rPr lang="en-US" sz="2325">
                  <a:solidFill>
                    <a:srgbClr val="E8ECF1"/>
                  </a:solidFill>
                  <a:latin typeface="Calibri (MS)"/>
                  <a:ea typeface="Calibri (MS)"/>
                  <a:cs typeface="Calibri (MS)"/>
                  <a:sym typeface="Calibri (MS)"/>
                </a:rPr>
                <a:t>Compares simple ML algorithms with appropriate metrics</a:t>
              </a:r>
            </a:p>
          </p:txBody>
        </p:sp>
      </p:grpSp>
      <p:grpSp>
        <p:nvGrpSpPr>
          <p:cNvPr name="Group 28" id="28"/>
          <p:cNvGrpSpPr/>
          <p:nvPr/>
        </p:nvGrpSpPr>
        <p:grpSpPr>
          <a:xfrm rot="0">
            <a:off x="1234440" y="5280660"/>
            <a:ext cx="548640" cy="548640"/>
            <a:chOff x="0" y="0"/>
            <a:chExt cx="731520" cy="731520"/>
          </a:xfrm>
        </p:grpSpPr>
        <p:sp>
          <p:nvSpPr>
            <p:cNvPr name="Freeform 29" id="29"/>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2D3EE"/>
            </a:solidFill>
          </p:spPr>
        </p:sp>
        <p:sp>
          <p:nvSpPr>
            <p:cNvPr name="TextBox 30" id="30"/>
            <p:cNvSpPr txBox="true"/>
            <p:nvPr/>
          </p:nvSpPr>
          <p:spPr>
            <a:xfrm>
              <a:off x="0" y="-47625"/>
              <a:ext cx="731520" cy="779145"/>
            </a:xfrm>
            <a:prstGeom prst="rect">
              <a:avLst/>
            </a:prstGeom>
          </p:spPr>
          <p:txBody>
            <a:bodyPr anchor="ctr" rtlCol="false" tIns="50800" lIns="50800" bIns="50800" rIns="50800"/>
            <a:lstStyle/>
            <a:p>
              <a:pPr algn="ctr">
                <a:lnSpc>
                  <a:spcPts val="2340"/>
                </a:lnSpc>
              </a:pPr>
              <a:r>
                <a:rPr lang="en-US" sz="1950" b="true">
                  <a:solidFill>
                    <a:srgbClr val="0A0D12"/>
                  </a:solidFill>
                  <a:latin typeface="Calibri (MS) Bold"/>
                  <a:ea typeface="Calibri (MS) Bold"/>
                  <a:cs typeface="Calibri (MS) Bold"/>
                  <a:sym typeface="Calibri (MS) Bold"/>
                </a:rPr>
                <a:t>3</a:t>
              </a:r>
            </a:p>
          </p:txBody>
        </p:sp>
      </p:grpSp>
      <p:grpSp>
        <p:nvGrpSpPr>
          <p:cNvPr name="Group 31" id="31"/>
          <p:cNvGrpSpPr/>
          <p:nvPr/>
        </p:nvGrpSpPr>
        <p:grpSpPr>
          <a:xfrm rot="0">
            <a:off x="2125980" y="5212080"/>
            <a:ext cx="7749540" cy="960120"/>
            <a:chOff x="0" y="0"/>
            <a:chExt cx="10332720" cy="1280160"/>
          </a:xfrm>
        </p:grpSpPr>
        <p:sp>
          <p:nvSpPr>
            <p:cNvPr name="Freeform 32" id="32"/>
            <p:cNvSpPr/>
            <p:nvPr/>
          </p:nvSpPr>
          <p:spPr>
            <a:xfrm flipH="false" flipV="false" rot="0">
              <a:off x="0" y="0"/>
              <a:ext cx="10332720" cy="1280160"/>
            </a:xfrm>
            <a:custGeom>
              <a:avLst/>
              <a:gdLst/>
              <a:ahLst/>
              <a:cxnLst/>
              <a:rect r="r" b="b" t="t" l="l"/>
              <a:pathLst>
                <a:path h="1280160" w="10332720">
                  <a:moveTo>
                    <a:pt x="0" y="0"/>
                  </a:moveTo>
                  <a:lnTo>
                    <a:pt x="10332720" y="0"/>
                  </a:lnTo>
                  <a:lnTo>
                    <a:pt x="10332720" y="1280160"/>
                  </a:lnTo>
                  <a:lnTo>
                    <a:pt x="0" y="1280160"/>
                  </a:lnTo>
                  <a:close/>
                </a:path>
              </a:pathLst>
            </a:custGeom>
            <a:blipFill>
              <a:blip r:embed="rId3">
                <a:alphaModFix amt="0"/>
              </a:blip>
              <a:stretch>
                <a:fillRect l="0" t="-107272" r="0" b="-107272"/>
              </a:stretch>
            </a:blipFill>
          </p:spPr>
        </p:sp>
        <p:sp>
          <p:nvSpPr>
            <p:cNvPr name="TextBox 33" id="33"/>
            <p:cNvSpPr txBox="true"/>
            <p:nvPr/>
          </p:nvSpPr>
          <p:spPr>
            <a:xfrm>
              <a:off x="0" y="-47625"/>
              <a:ext cx="10332720" cy="1327785"/>
            </a:xfrm>
            <a:prstGeom prst="rect">
              <a:avLst/>
            </a:prstGeom>
          </p:spPr>
          <p:txBody>
            <a:bodyPr anchor="ctr" rtlCol="false" tIns="0" lIns="0" bIns="0" rIns="0"/>
            <a:lstStyle/>
            <a:p>
              <a:pPr algn="l">
                <a:lnSpc>
                  <a:spcPts val="2790"/>
                </a:lnSpc>
              </a:pPr>
              <a:r>
                <a:rPr lang="en-US" sz="2325">
                  <a:solidFill>
                    <a:srgbClr val="E8ECF1"/>
                  </a:solidFill>
                  <a:latin typeface="Calibri (MS)"/>
                  <a:ea typeface="Calibri (MS)"/>
                  <a:cs typeface="Calibri (MS)"/>
                  <a:sym typeface="Calibri (MS)"/>
                </a:rPr>
                <a:t>Turns football statistics into predictions, labels and player groups</a:t>
              </a:r>
            </a:p>
          </p:txBody>
        </p:sp>
      </p:grpSp>
      <p:grpSp>
        <p:nvGrpSpPr>
          <p:cNvPr name="Group 34" id="34"/>
          <p:cNvGrpSpPr/>
          <p:nvPr/>
        </p:nvGrpSpPr>
        <p:grpSpPr>
          <a:xfrm rot="0">
            <a:off x="1234440" y="6446520"/>
            <a:ext cx="548640" cy="548640"/>
            <a:chOff x="0" y="0"/>
            <a:chExt cx="731520" cy="731520"/>
          </a:xfrm>
        </p:grpSpPr>
        <p:sp>
          <p:nvSpPr>
            <p:cNvPr name="Freeform 35" id="3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2D3EE"/>
            </a:solidFill>
          </p:spPr>
        </p:sp>
        <p:sp>
          <p:nvSpPr>
            <p:cNvPr name="TextBox 36" id="36"/>
            <p:cNvSpPr txBox="true"/>
            <p:nvPr/>
          </p:nvSpPr>
          <p:spPr>
            <a:xfrm>
              <a:off x="0" y="-47625"/>
              <a:ext cx="731520" cy="779145"/>
            </a:xfrm>
            <a:prstGeom prst="rect">
              <a:avLst/>
            </a:prstGeom>
          </p:spPr>
          <p:txBody>
            <a:bodyPr anchor="ctr" rtlCol="false" tIns="50800" lIns="50800" bIns="50800" rIns="50800"/>
            <a:lstStyle/>
            <a:p>
              <a:pPr algn="ctr">
                <a:lnSpc>
                  <a:spcPts val="2340"/>
                </a:lnSpc>
              </a:pPr>
              <a:r>
                <a:rPr lang="en-US" sz="1950" b="true">
                  <a:solidFill>
                    <a:srgbClr val="0A0D12"/>
                  </a:solidFill>
                  <a:latin typeface="Calibri (MS) Bold"/>
                  <a:ea typeface="Calibri (MS) Bold"/>
                  <a:cs typeface="Calibri (MS) Bold"/>
                  <a:sym typeface="Calibri (MS) Bold"/>
                </a:rPr>
                <a:t>4</a:t>
              </a:r>
            </a:p>
          </p:txBody>
        </p:sp>
      </p:grpSp>
      <p:grpSp>
        <p:nvGrpSpPr>
          <p:cNvPr name="Group 37" id="37"/>
          <p:cNvGrpSpPr/>
          <p:nvPr/>
        </p:nvGrpSpPr>
        <p:grpSpPr>
          <a:xfrm rot="0">
            <a:off x="2125980" y="6377940"/>
            <a:ext cx="7749540" cy="960120"/>
            <a:chOff x="0" y="0"/>
            <a:chExt cx="10332720" cy="1280160"/>
          </a:xfrm>
        </p:grpSpPr>
        <p:sp>
          <p:nvSpPr>
            <p:cNvPr name="Freeform 38" id="38"/>
            <p:cNvSpPr/>
            <p:nvPr/>
          </p:nvSpPr>
          <p:spPr>
            <a:xfrm flipH="false" flipV="false" rot="0">
              <a:off x="0" y="0"/>
              <a:ext cx="10332720" cy="1280160"/>
            </a:xfrm>
            <a:custGeom>
              <a:avLst/>
              <a:gdLst/>
              <a:ahLst/>
              <a:cxnLst/>
              <a:rect r="r" b="b" t="t" l="l"/>
              <a:pathLst>
                <a:path h="1280160" w="10332720">
                  <a:moveTo>
                    <a:pt x="0" y="0"/>
                  </a:moveTo>
                  <a:lnTo>
                    <a:pt x="10332720" y="0"/>
                  </a:lnTo>
                  <a:lnTo>
                    <a:pt x="10332720" y="1280160"/>
                  </a:lnTo>
                  <a:lnTo>
                    <a:pt x="0" y="1280160"/>
                  </a:lnTo>
                  <a:close/>
                </a:path>
              </a:pathLst>
            </a:custGeom>
            <a:blipFill>
              <a:blip r:embed="rId3">
                <a:alphaModFix amt="0"/>
              </a:blip>
              <a:stretch>
                <a:fillRect l="0" t="-107272" r="0" b="-107272"/>
              </a:stretch>
            </a:blipFill>
          </p:spPr>
        </p:sp>
        <p:sp>
          <p:nvSpPr>
            <p:cNvPr name="TextBox 39" id="39"/>
            <p:cNvSpPr txBox="true"/>
            <p:nvPr/>
          </p:nvSpPr>
          <p:spPr>
            <a:xfrm>
              <a:off x="0" y="-47625"/>
              <a:ext cx="10332720" cy="1327785"/>
            </a:xfrm>
            <a:prstGeom prst="rect">
              <a:avLst/>
            </a:prstGeom>
          </p:spPr>
          <p:txBody>
            <a:bodyPr anchor="ctr" rtlCol="false" tIns="0" lIns="0" bIns="0" rIns="0"/>
            <a:lstStyle/>
            <a:p>
              <a:pPr algn="l">
                <a:lnSpc>
                  <a:spcPts val="2790"/>
                </a:lnSpc>
              </a:pPr>
              <a:r>
                <a:rPr lang="en-US" sz="2325">
                  <a:solidFill>
                    <a:srgbClr val="E8ECF1"/>
                  </a:solidFill>
                  <a:latin typeface="Calibri (MS)"/>
                  <a:ea typeface="Calibri (MS)"/>
                  <a:cs typeface="Calibri (MS)"/>
                  <a:sym typeface="Calibri (MS)"/>
                </a:rPr>
                <a:t>Gives practical understanding of the full ML workflow</a:t>
              </a:r>
            </a:p>
          </p:txBody>
        </p:sp>
      </p:grpSp>
      <p:grpSp>
        <p:nvGrpSpPr>
          <p:cNvPr name="Group 40" id="40"/>
          <p:cNvGrpSpPr/>
          <p:nvPr/>
        </p:nvGrpSpPr>
        <p:grpSpPr>
          <a:xfrm rot="0">
            <a:off x="10554176" y="2050256"/>
            <a:ext cx="6913436" cy="5637847"/>
            <a:chOff x="0" y="0"/>
            <a:chExt cx="9217914" cy="7517130"/>
          </a:xfrm>
        </p:grpSpPr>
        <p:sp>
          <p:nvSpPr>
            <p:cNvPr name="Freeform 41" id="41"/>
            <p:cNvSpPr/>
            <p:nvPr/>
          </p:nvSpPr>
          <p:spPr>
            <a:xfrm flipH="false" flipV="false" rot="0">
              <a:off x="0" y="0"/>
              <a:ext cx="9217914" cy="7517130"/>
            </a:xfrm>
            <a:custGeom>
              <a:avLst/>
              <a:gdLst/>
              <a:ahLst/>
              <a:cxnLst/>
              <a:rect r="r" b="b" t="t" l="l"/>
              <a:pathLst>
                <a:path h="7517130" w="9217914">
                  <a:moveTo>
                    <a:pt x="0" y="146685"/>
                  </a:moveTo>
                  <a:cubicBezTo>
                    <a:pt x="0" y="65659"/>
                    <a:pt x="65659" y="0"/>
                    <a:pt x="146685" y="0"/>
                  </a:cubicBezTo>
                  <a:lnTo>
                    <a:pt x="9071229" y="0"/>
                  </a:lnTo>
                  <a:cubicBezTo>
                    <a:pt x="9152255" y="0"/>
                    <a:pt x="9217914" y="65659"/>
                    <a:pt x="9217914" y="146685"/>
                  </a:cubicBezTo>
                  <a:lnTo>
                    <a:pt x="9217914" y="7370445"/>
                  </a:lnTo>
                  <a:cubicBezTo>
                    <a:pt x="9217914" y="7451471"/>
                    <a:pt x="9152255" y="7517130"/>
                    <a:pt x="9071229" y="7517130"/>
                  </a:cubicBezTo>
                  <a:lnTo>
                    <a:pt x="146685" y="7517130"/>
                  </a:lnTo>
                  <a:cubicBezTo>
                    <a:pt x="65659" y="7517130"/>
                    <a:pt x="0" y="7451471"/>
                    <a:pt x="0" y="7370445"/>
                  </a:cubicBezTo>
                  <a:close/>
                </a:path>
              </a:pathLst>
            </a:custGeom>
            <a:solidFill>
              <a:srgbClr val="161B22"/>
            </a:solidFill>
            <a:ln w="14288" cap="sq">
              <a:solidFill>
                <a:srgbClr val="2A323D"/>
              </a:solidFill>
              <a:prstDash val="solid"/>
              <a:miter/>
            </a:ln>
          </p:spPr>
        </p:sp>
      </p:grpSp>
      <p:grpSp>
        <p:nvGrpSpPr>
          <p:cNvPr name="Group 42" id="42"/>
          <p:cNvGrpSpPr/>
          <p:nvPr/>
        </p:nvGrpSpPr>
        <p:grpSpPr>
          <a:xfrm rot="0">
            <a:off x="10904220" y="2263140"/>
            <a:ext cx="5486400" cy="384048"/>
            <a:chOff x="0" y="0"/>
            <a:chExt cx="7315200" cy="512064"/>
          </a:xfrm>
        </p:grpSpPr>
        <p:sp>
          <p:nvSpPr>
            <p:cNvPr name="Freeform 43" id="43"/>
            <p:cNvSpPr/>
            <p:nvPr/>
          </p:nvSpPr>
          <p:spPr>
            <a:xfrm flipH="false" flipV="false" rot="0">
              <a:off x="0" y="0"/>
              <a:ext cx="7315200" cy="512064"/>
            </a:xfrm>
            <a:custGeom>
              <a:avLst/>
              <a:gdLst/>
              <a:ahLst/>
              <a:cxnLst/>
              <a:rect r="r" b="b" t="t" l="l"/>
              <a:pathLst>
                <a:path h="512064" w="7315200">
                  <a:moveTo>
                    <a:pt x="0" y="0"/>
                  </a:moveTo>
                  <a:lnTo>
                    <a:pt x="7315200" y="0"/>
                  </a:lnTo>
                  <a:lnTo>
                    <a:pt x="7315200" y="512064"/>
                  </a:lnTo>
                  <a:lnTo>
                    <a:pt x="0" y="512064"/>
                  </a:lnTo>
                  <a:close/>
                </a:path>
              </a:pathLst>
            </a:custGeom>
            <a:blipFill>
              <a:blip r:embed="rId3">
                <a:alphaModFix amt="0"/>
              </a:blip>
              <a:stretch>
                <a:fillRect l="0" t="-228357" r="0" b="-228357"/>
              </a:stretch>
            </a:blipFill>
          </p:spPr>
        </p:sp>
        <p:sp>
          <p:nvSpPr>
            <p:cNvPr name="TextBox 44" id="44"/>
            <p:cNvSpPr txBox="true"/>
            <p:nvPr/>
          </p:nvSpPr>
          <p:spPr>
            <a:xfrm>
              <a:off x="0" y="-28575"/>
              <a:ext cx="7315200" cy="540639"/>
            </a:xfrm>
            <a:prstGeom prst="rect">
              <a:avLst/>
            </a:prstGeom>
          </p:spPr>
          <p:txBody>
            <a:bodyPr anchor="ctr" rtlCol="false" tIns="0" lIns="0" bIns="0" rIns="0"/>
            <a:lstStyle/>
            <a:p>
              <a:pPr algn="l">
                <a:lnSpc>
                  <a:spcPts val="1980"/>
                </a:lnSpc>
              </a:pPr>
              <a:r>
                <a:rPr lang="en-US" b="true" sz="1650" spc="299">
                  <a:solidFill>
                    <a:srgbClr val="22D3EE"/>
                  </a:solidFill>
                  <a:latin typeface="Calibri (MS) Bold"/>
                  <a:ea typeface="Calibri (MS) Bold"/>
                  <a:cs typeface="Calibri (MS) Bold"/>
                  <a:sym typeface="Calibri (MS) Bold"/>
                </a:rPr>
                <a:t>FUTURE SCOPE</a:t>
              </a:r>
            </a:p>
          </p:txBody>
        </p:sp>
      </p:grpSp>
      <p:grpSp>
        <p:nvGrpSpPr>
          <p:cNvPr name="Group 45" id="45"/>
          <p:cNvGrpSpPr/>
          <p:nvPr/>
        </p:nvGrpSpPr>
        <p:grpSpPr>
          <a:xfrm rot="0">
            <a:off x="10897076" y="2941796"/>
            <a:ext cx="3100388" cy="974407"/>
            <a:chOff x="0" y="0"/>
            <a:chExt cx="4133850" cy="1299210"/>
          </a:xfrm>
        </p:grpSpPr>
        <p:sp>
          <p:nvSpPr>
            <p:cNvPr name="Freeform 46" id="46"/>
            <p:cNvSpPr/>
            <p:nvPr/>
          </p:nvSpPr>
          <p:spPr>
            <a:xfrm flipH="false" flipV="false" rot="0">
              <a:off x="0" y="0"/>
              <a:ext cx="4133850" cy="1299210"/>
            </a:xfrm>
            <a:custGeom>
              <a:avLst/>
              <a:gdLst/>
              <a:ahLst/>
              <a:cxnLst/>
              <a:rect r="r" b="b" t="t" l="l"/>
              <a:pathLst>
                <a:path h="1299210" w="4133850">
                  <a:moveTo>
                    <a:pt x="0" y="185547"/>
                  </a:moveTo>
                  <a:cubicBezTo>
                    <a:pt x="0" y="83058"/>
                    <a:pt x="83058" y="0"/>
                    <a:pt x="185547" y="0"/>
                  </a:cubicBezTo>
                  <a:lnTo>
                    <a:pt x="3948303" y="0"/>
                  </a:lnTo>
                  <a:cubicBezTo>
                    <a:pt x="4050792" y="0"/>
                    <a:pt x="4133850" y="83058"/>
                    <a:pt x="4133850" y="185547"/>
                  </a:cubicBezTo>
                  <a:lnTo>
                    <a:pt x="4133850" y="1113663"/>
                  </a:lnTo>
                  <a:cubicBezTo>
                    <a:pt x="4133850" y="1216152"/>
                    <a:pt x="4050792" y="1299210"/>
                    <a:pt x="3948303" y="1299210"/>
                  </a:cubicBezTo>
                  <a:lnTo>
                    <a:pt x="185547" y="1299210"/>
                  </a:lnTo>
                  <a:cubicBezTo>
                    <a:pt x="83058" y="1299210"/>
                    <a:pt x="0" y="1216152"/>
                    <a:pt x="0" y="1113663"/>
                  </a:cubicBezTo>
                  <a:close/>
                </a:path>
              </a:pathLst>
            </a:custGeom>
            <a:solidFill>
              <a:srgbClr val="1D242E"/>
            </a:solidFill>
            <a:ln w="14288" cap="sq">
              <a:solidFill>
                <a:srgbClr val="2A323D"/>
              </a:solidFill>
              <a:prstDash val="solid"/>
              <a:miter/>
            </a:ln>
          </p:spPr>
        </p:sp>
        <p:sp>
          <p:nvSpPr>
            <p:cNvPr name="TextBox 47" id="47"/>
            <p:cNvSpPr txBox="true"/>
            <p:nvPr/>
          </p:nvSpPr>
          <p:spPr>
            <a:xfrm>
              <a:off x="0" y="-38100"/>
              <a:ext cx="4133850" cy="1337310"/>
            </a:xfrm>
            <a:prstGeom prst="rect">
              <a:avLst/>
            </a:prstGeom>
          </p:spPr>
          <p:txBody>
            <a:bodyPr anchor="ctr" rtlCol="false" tIns="50800" lIns="50800" bIns="50800" rIns="50800"/>
            <a:lstStyle/>
            <a:p>
              <a:pPr algn="ctr">
                <a:lnSpc>
                  <a:spcPts val="2430"/>
                </a:lnSpc>
              </a:pPr>
              <a:r>
                <a:rPr lang="en-US" sz="2025" b="true">
                  <a:solidFill>
                    <a:srgbClr val="E8ECF1"/>
                  </a:solidFill>
                  <a:latin typeface="Calibri (MS) Bold"/>
                  <a:ea typeface="Calibri (MS) Bold"/>
                  <a:cs typeface="Calibri (MS) Bold"/>
                  <a:sym typeface="Calibri (MS) Bold"/>
                </a:rPr>
                <a:t>XGBoost</a:t>
              </a:r>
            </a:p>
          </p:txBody>
        </p:sp>
      </p:grpSp>
      <p:grpSp>
        <p:nvGrpSpPr>
          <p:cNvPr name="Group 48" id="48"/>
          <p:cNvGrpSpPr/>
          <p:nvPr/>
        </p:nvGrpSpPr>
        <p:grpSpPr>
          <a:xfrm rot="0">
            <a:off x="14120336" y="2941796"/>
            <a:ext cx="3100388" cy="974407"/>
            <a:chOff x="0" y="0"/>
            <a:chExt cx="4133850" cy="1299210"/>
          </a:xfrm>
        </p:grpSpPr>
        <p:sp>
          <p:nvSpPr>
            <p:cNvPr name="Freeform 49" id="49"/>
            <p:cNvSpPr/>
            <p:nvPr/>
          </p:nvSpPr>
          <p:spPr>
            <a:xfrm flipH="false" flipV="false" rot="0">
              <a:off x="0" y="0"/>
              <a:ext cx="4133850" cy="1299210"/>
            </a:xfrm>
            <a:custGeom>
              <a:avLst/>
              <a:gdLst/>
              <a:ahLst/>
              <a:cxnLst/>
              <a:rect r="r" b="b" t="t" l="l"/>
              <a:pathLst>
                <a:path h="1299210" w="4133850">
                  <a:moveTo>
                    <a:pt x="0" y="185547"/>
                  </a:moveTo>
                  <a:cubicBezTo>
                    <a:pt x="0" y="83058"/>
                    <a:pt x="83058" y="0"/>
                    <a:pt x="185547" y="0"/>
                  </a:cubicBezTo>
                  <a:lnTo>
                    <a:pt x="3948303" y="0"/>
                  </a:lnTo>
                  <a:cubicBezTo>
                    <a:pt x="4050792" y="0"/>
                    <a:pt x="4133850" y="83058"/>
                    <a:pt x="4133850" y="185547"/>
                  </a:cubicBezTo>
                  <a:lnTo>
                    <a:pt x="4133850" y="1113663"/>
                  </a:lnTo>
                  <a:cubicBezTo>
                    <a:pt x="4133850" y="1216152"/>
                    <a:pt x="4050792" y="1299210"/>
                    <a:pt x="3948303" y="1299210"/>
                  </a:cubicBezTo>
                  <a:lnTo>
                    <a:pt x="185547" y="1299210"/>
                  </a:lnTo>
                  <a:cubicBezTo>
                    <a:pt x="83058" y="1299210"/>
                    <a:pt x="0" y="1216152"/>
                    <a:pt x="0" y="1113663"/>
                  </a:cubicBezTo>
                  <a:close/>
                </a:path>
              </a:pathLst>
            </a:custGeom>
            <a:solidFill>
              <a:srgbClr val="1D242E"/>
            </a:solidFill>
            <a:ln w="14288" cap="sq">
              <a:solidFill>
                <a:srgbClr val="2A323D"/>
              </a:solidFill>
              <a:prstDash val="solid"/>
              <a:miter/>
            </a:ln>
          </p:spPr>
        </p:sp>
        <p:sp>
          <p:nvSpPr>
            <p:cNvPr name="TextBox 50" id="50"/>
            <p:cNvSpPr txBox="true"/>
            <p:nvPr/>
          </p:nvSpPr>
          <p:spPr>
            <a:xfrm>
              <a:off x="0" y="-38100"/>
              <a:ext cx="4133850" cy="1337310"/>
            </a:xfrm>
            <a:prstGeom prst="rect">
              <a:avLst/>
            </a:prstGeom>
          </p:spPr>
          <p:txBody>
            <a:bodyPr anchor="ctr" rtlCol="false" tIns="50800" lIns="50800" bIns="50800" rIns="50800"/>
            <a:lstStyle/>
            <a:p>
              <a:pPr algn="ctr">
                <a:lnSpc>
                  <a:spcPts val="2430"/>
                </a:lnSpc>
              </a:pPr>
              <a:r>
                <a:rPr lang="en-US" sz="2025" b="true">
                  <a:solidFill>
                    <a:srgbClr val="E8ECF1"/>
                  </a:solidFill>
                  <a:latin typeface="Calibri (MS) Bold"/>
                  <a:ea typeface="Calibri (MS) Bold"/>
                  <a:cs typeface="Calibri (MS) Bold"/>
                  <a:sym typeface="Calibri (MS) Bold"/>
                </a:rPr>
                <a:t>SVM</a:t>
              </a:r>
            </a:p>
          </p:txBody>
        </p:sp>
      </p:grpSp>
      <p:grpSp>
        <p:nvGrpSpPr>
          <p:cNvPr name="Group 51" id="51"/>
          <p:cNvGrpSpPr/>
          <p:nvPr/>
        </p:nvGrpSpPr>
        <p:grpSpPr>
          <a:xfrm rot="0">
            <a:off x="10897076" y="4244816"/>
            <a:ext cx="3100388" cy="974407"/>
            <a:chOff x="0" y="0"/>
            <a:chExt cx="4133850" cy="1299210"/>
          </a:xfrm>
        </p:grpSpPr>
        <p:sp>
          <p:nvSpPr>
            <p:cNvPr name="Freeform 52" id="52"/>
            <p:cNvSpPr/>
            <p:nvPr/>
          </p:nvSpPr>
          <p:spPr>
            <a:xfrm flipH="false" flipV="false" rot="0">
              <a:off x="0" y="0"/>
              <a:ext cx="4133850" cy="1299210"/>
            </a:xfrm>
            <a:custGeom>
              <a:avLst/>
              <a:gdLst/>
              <a:ahLst/>
              <a:cxnLst/>
              <a:rect r="r" b="b" t="t" l="l"/>
              <a:pathLst>
                <a:path h="1299210" w="4133850">
                  <a:moveTo>
                    <a:pt x="0" y="185547"/>
                  </a:moveTo>
                  <a:cubicBezTo>
                    <a:pt x="0" y="83058"/>
                    <a:pt x="83058" y="0"/>
                    <a:pt x="185547" y="0"/>
                  </a:cubicBezTo>
                  <a:lnTo>
                    <a:pt x="3948303" y="0"/>
                  </a:lnTo>
                  <a:cubicBezTo>
                    <a:pt x="4050792" y="0"/>
                    <a:pt x="4133850" y="83058"/>
                    <a:pt x="4133850" y="185547"/>
                  </a:cubicBezTo>
                  <a:lnTo>
                    <a:pt x="4133850" y="1113663"/>
                  </a:lnTo>
                  <a:cubicBezTo>
                    <a:pt x="4133850" y="1216152"/>
                    <a:pt x="4050792" y="1299210"/>
                    <a:pt x="3948303" y="1299210"/>
                  </a:cubicBezTo>
                  <a:lnTo>
                    <a:pt x="185547" y="1299210"/>
                  </a:lnTo>
                  <a:cubicBezTo>
                    <a:pt x="83058" y="1299210"/>
                    <a:pt x="0" y="1216152"/>
                    <a:pt x="0" y="1113663"/>
                  </a:cubicBezTo>
                  <a:close/>
                </a:path>
              </a:pathLst>
            </a:custGeom>
            <a:solidFill>
              <a:srgbClr val="1D242E"/>
            </a:solidFill>
            <a:ln w="14288" cap="sq">
              <a:solidFill>
                <a:srgbClr val="2A323D"/>
              </a:solidFill>
              <a:prstDash val="solid"/>
              <a:miter/>
            </a:ln>
          </p:spPr>
        </p:sp>
        <p:sp>
          <p:nvSpPr>
            <p:cNvPr name="TextBox 53" id="53"/>
            <p:cNvSpPr txBox="true"/>
            <p:nvPr/>
          </p:nvSpPr>
          <p:spPr>
            <a:xfrm>
              <a:off x="0" y="-38100"/>
              <a:ext cx="4133850" cy="1337310"/>
            </a:xfrm>
            <a:prstGeom prst="rect">
              <a:avLst/>
            </a:prstGeom>
          </p:spPr>
          <p:txBody>
            <a:bodyPr anchor="ctr" rtlCol="false" tIns="50800" lIns="50800" bIns="50800" rIns="50800"/>
            <a:lstStyle/>
            <a:p>
              <a:pPr algn="ctr">
                <a:lnSpc>
                  <a:spcPts val="2430"/>
                </a:lnSpc>
              </a:pPr>
              <a:r>
                <a:rPr lang="en-US" sz="2025" b="true">
                  <a:solidFill>
                    <a:srgbClr val="E8ECF1"/>
                  </a:solidFill>
                  <a:latin typeface="Calibri (MS) Bold"/>
                  <a:ea typeface="Calibri (MS) Bold"/>
                  <a:cs typeface="Calibri (MS) Bold"/>
                  <a:sym typeface="Calibri (MS) Bold"/>
                </a:rPr>
                <a:t>PCA</a:t>
              </a:r>
            </a:p>
          </p:txBody>
        </p:sp>
      </p:grpSp>
      <p:grpSp>
        <p:nvGrpSpPr>
          <p:cNvPr name="Group 54" id="54"/>
          <p:cNvGrpSpPr/>
          <p:nvPr/>
        </p:nvGrpSpPr>
        <p:grpSpPr>
          <a:xfrm rot="0">
            <a:off x="14120336" y="4244816"/>
            <a:ext cx="3100388" cy="974407"/>
            <a:chOff x="0" y="0"/>
            <a:chExt cx="4133850" cy="1299210"/>
          </a:xfrm>
        </p:grpSpPr>
        <p:sp>
          <p:nvSpPr>
            <p:cNvPr name="Freeform 55" id="55"/>
            <p:cNvSpPr/>
            <p:nvPr/>
          </p:nvSpPr>
          <p:spPr>
            <a:xfrm flipH="false" flipV="false" rot="0">
              <a:off x="0" y="0"/>
              <a:ext cx="4133850" cy="1299210"/>
            </a:xfrm>
            <a:custGeom>
              <a:avLst/>
              <a:gdLst/>
              <a:ahLst/>
              <a:cxnLst/>
              <a:rect r="r" b="b" t="t" l="l"/>
              <a:pathLst>
                <a:path h="1299210" w="4133850">
                  <a:moveTo>
                    <a:pt x="0" y="185547"/>
                  </a:moveTo>
                  <a:cubicBezTo>
                    <a:pt x="0" y="83058"/>
                    <a:pt x="83058" y="0"/>
                    <a:pt x="185547" y="0"/>
                  </a:cubicBezTo>
                  <a:lnTo>
                    <a:pt x="3948303" y="0"/>
                  </a:lnTo>
                  <a:cubicBezTo>
                    <a:pt x="4050792" y="0"/>
                    <a:pt x="4133850" y="83058"/>
                    <a:pt x="4133850" y="185547"/>
                  </a:cubicBezTo>
                  <a:lnTo>
                    <a:pt x="4133850" y="1113663"/>
                  </a:lnTo>
                  <a:cubicBezTo>
                    <a:pt x="4133850" y="1216152"/>
                    <a:pt x="4050792" y="1299210"/>
                    <a:pt x="3948303" y="1299210"/>
                  </a:cubicBezTo>
                  <a:lnTo>
                    <a:pt x="185547" y="1299210"/>
                  </a:lnTo>
                  <a:cubicBezTo>
                    <a:pt x="83058" y="1299210"/>
                    <a:pt x="0" y="1216152"/>
                    <a:pt x="0" y="1113663"/>
                  </a:cubicBezTo>
                  <a:close/>
                </a:path>
              </a:pathLst>
            </a:custGeom>
            <a:solidFill>
              <a:srgbClr val="1D242E"/>
            </a:solidFill>
            <a:ln w="14288" cap="sq">
              <a:solidFill>
                <a:srgbClr val="2A323D"/>
              </a:solidFill>
              <a:prstDash val="solid"/>
              <a:miter/>
            </a:ln>
          </p:spPr>
        </p:sp>
        <p:sp>
          <p:nvSpPr>
            <p:cNvPr name="TextBox 56" id="56"/>
            <p:cNvSpPr txBox="true"/>
            <p:nvPr/>
          </p:nvSpPr>
          <p:spPr>
            <a:xfrm>
              <a:off x="0" y="-38100"/>
              <a:ext cx="4133850" cy="1337310"/>
            </a:xfrm>
            <a:prstGeom prst="rect">
              <a:avLst/>
            </a:prstGeom>
          </p:spPr>
          <p:txBody>
            <a:bodyPr anchor="ctr" rtlCol="false" tIns="50800" lIns="50800" bIns="50800" rIns="50800"/>
            <a:lstStyle/>
            <a:p>
              <a:pPr algn="ctr">
                <a:lnSpc>
                  <a:spcPts val="2430"/>
                </a:lnSpc>
              </a:pPr>
              <a:r>
                <a:rPr lang="en-US" sz="2025" b="true">
                  <a:solidFill>
                    <a:srgbClr val="E8ECF1"/>
                  </a:solidFill>
                  <a:latin typeface="Calibri (MS) Bold"/>
                  <a:ea typeface="Calibri (MS) Bold"/>
                  <a:cs typeface="Calibri (MS) Bold"/>
                  <a:sym typeface="Calibri (MS) Bold"/>
                </a:rPr>
                <a:t>Advanced scouting similarity</a:t>
              </a:r>
            </a:p>
          </p:txBody>
        </p:sp>
      </p:grpSp>
      <p:grpSp>
        <p:nvGrpSpPr>
          <p:cNvPr name="Group 57" id="57"/>
          <p:cNvGrpSpPr/>
          <p:nvPr/>
        </p:nvGrpSpPr>
        <p:grpSpPr>
          <a:xfrm rot="0">
            <a:off x="10897076" y="5547836"/>
            <a:ext cx="3100388" cy="974407"/>
            <a:chOff x="0" y="0"/>
            <a:chExt cx="4133850" cy="1299210"/>
          </a:xfrm>
        </p:grpSpPr>
        <p:sp>
          <p:nvSpPr>
            <p:cNvPr name="Freeform 58" id="58"/>
            <p:cNvSpPr/>
            <p:nvPr/>
          </p:nvSpPr>
          <p:spPr>
            <a:xfrm flipH="false" flipV="false" rot="0">
              <a:off x="0" y="0"/>
              <a:ext cx="4133850" cy="1299210"/>
            </a:xfrm>
            <a:custGeom>
              <a:avLst/>
              <a:gdLst/>
              <a:ahLst/>
              <a:cxnLst/>
              <a:rect r="r" b="b" t="t" l="l"/>
              <a:pathLst>
                <a:path h="1299210" w="4133850">
                  <a:moveTo>
                    <a:pt x="0" y="185547"/>
                  </a:moveTo>
                  <a:cubicBezTo>
                    <a:pt x="0" y="83058"/>
                    <a:pt x="83058" y="0"/>
                    <a:pt x="185547" y="0"/>
                  </a:cubicBezTo>
                  <a:lnTo>
                    <a:pt x="3948303" y="0"/>
                  </a:lnTo>
                  <a:cubicBezTo>
                    <a:pt x="4050792" y="0"/>
                    <a:pt x="4133850" y="83058"/>
                    <a:pt x="4133850" y="185547"/>
                  </a:cubicBezTo>
                  <a:lnTo>
                    <a:pt x="4133850" y="1113663"/>
                  </a:lnTo>
                  <a:cubicBezTo>
                    <a:pt x="4133850" y="1216152"/>
                    <a:pt x="4050792" y="1299210"/>
                    <a:pt x="3948303" y="1299210"/>
                  </a:cubicBezTo>
                  <a:lnTo>
                    <a:pt x="185547" y="1299210"/>
                  </a:lnTo>
                  <a:cubicBezTo>
                    <a:pt x="83058" y="1299210"/>
                    <a:pt x="0" y="1216152"/>
                    <a:pt x="0" y="1113663"/>
                  </a:cubicBezTo>
                  <a:close/>
                </a:path>
              </a:pathLst>
            </a:custGeom>
            <a:solidFill>
              <a:srgbClr val="1D242E"/>
            </a:solidFill>
            <a:ln w="14288" cap="sq">
              <a:solidFill>
                <a:srgbClr val="2A323D"/>
              </a:solidFill>
              <a:prstDash val="solid"/>
              <a:miter/>
            </a:ln>
          </p:spPr>
        </p:sp>
        <p:sp>
          <p:nvSpPr>
            <p:cNvPr name="TextBox 59" id="59"/>
            <p:cNvSpPr txBox="true"/>
            <p:nvPr/>
          </p:nvSpPr>
          <p:spPr>
            <a:xfrm>
              <a:off x="0" y="-38100"/>
              <a:ext cx="4133850" cy="1337310"/>
            </a:xfrm>
            <a:prstGeom prst="rect">
              <a:avLst/>
            </a:prstGeom>
          </p:spPr>
          <p:txBody>
            <a:bodyPr anchor="ctr" rtlCol="false" tIns="50800" lIns="50800" bIns="50800" rIns="50800"/>
            <a:lstStyle/>
            <a:p>
              <a:pPr algn="ctr">
                <a:lnSpc>
                  <a:spcPts val="2430"/>
                </a:lnSpc>
              </a:pPr>
              <a:r>
                <a:rPr lang="en-US" sz="2025" b="true">
                  <a:solidFill>
                    <a:srgbClr val="E8ECF1"/>
                  </a:solidFill>
                  <a:latin typeface="Calibri (MS) Bold"/>
                  <a:ea typeface="Calibri (MS) Bold"/>
                  <a:cs typeface="Calibri (MS) Bold"/>
                  <a:sym typeface="Calibri (MS) Bold"/>
                </a:rPr>
                <a:t>Larger datasets</a:t>
              </a:r>
            </a:p>
          </p:txBody>
        </p:sp>
      </p:grpSp>
      <p:grpSp>
        <p:nvGrpSpPr>
          <p:cNvPr name="Group 60" id="60"/>
          <p:cNvGrpSpPr/>
          <p:nvPr/>
        </p:nvGrpSpPr>
        <p:grpSpPr>
          <a:xfrm rot="0">
            <a:off x="14120336" y="5547836"/>
            <a:ext cx="3100388" cy="974407"/>
            <a:chOff x="0" y="0"/>
            <a:chExt cx="4133850" cy="1299210"/>
          </a:xfrm>
        </p:grpSpPr>
        <p:sp>
          <p:nvSpPr>
            <p:cNvPr name="Freeform 61" id="61"/>
            <p:cNvSpPr/>
            <p:nvPr/>
          </p:nvSpPr>
          <p:spPr>
            <a:xfrm flipH="false" flipV="false" rot="0">
              <a:off x="0" y="0"/>
              <a:ext cx="4133850" cy="1299210"/>
            </a:xfrm>
            <a:custGeom>
              <a:avLst/>
              <a:gdLst/>
              <a:ahLst/>
              <a:cxnLst/>
              <a:rect r="r" b="b" t="t" l="l"/>
              <a:pathLst>
                <a:path h="1299210" w="4133850">
                  <a:moveTo>
                    <a:pt x="0" y="185547"/>
                  </a:moveTo>
                  <a:cubicBezTo>
                    <a:pt x="0" y="83058"/>
                    <a:pt x="83058" y="0"/>
                    <a:pt x="185547" y="0"/>
                  </a:cubicBezTo>
                  <a:lnTo>
                    <a:pt x="3948303" y="0"/>
                  </a:lnTo>
                  <a:cubicBezTo>
                    <a:pt x="4050792" y="0"/>
                    <a:pt x="4133850" y="83058"/>
                    <a:pt x="4133850" y="185547"/>
                  </a:cubicBezTo>
                  <a:lnTo>
                    <a:pt x="4133850" y="1113663"/>
                  </a:lnTo>
                  <a:cubicBezTo>
                    <a:pt x="4133850" y="1216152"/>
                    <a:pt x="4050792" y="1299210"/>
                    <a:pt x="3948303" y="1299210"/>
                  </a:cubicBezTo>
                  <a:lnTo>
                    <a:pt x="185547" y="1299210"/>
                  </a:lnTo>
                  <a:cubicBezTo>
                    <a:pt x="83058" y="1299210"/>
                    <a:pt x="0" y="1216152"/>
                    <a:pt x="0" y="1113663"/>
                  </a:cubicBezTo>
                  <a:close/>
                </a:path>
              </a:pathLst>
            </a:custGeom>
            <a:solidFill>
              <a:srgbClr val="1D242E"/>
            </a:solidFill>
            <a:ln w="14288" cap="sq">
              <a:solidFill>
                <a:srgbClr val="2A323D"/>
              </a:solidFill>
              <a:prstDash val="solid"/>
              <a:miter/>
            </a:ln>
          </p:spPr>
        </p:sp>
        <p:sp>
          <p:nvSpPr>
            <p:cNvPr name="TextBox 62" id="62"/>
            <p:cNvSpPr txBox="true"/>
            <p:nvPr/>
          </p:nvSpPr>
          <p:spPr>
            <a:xfrm>
              <a:off x="0" y="-38100"/>
              <a:ext cx="4133850" cy="1337310"/>
            </a:xfrm>
            <a:prstGeom prst="rect">
              <a:avLst/>
            </a:prstGeom>
          </p:spPr>
          <p:txBody>
            <a:bodyPr anchor="ctr" rtlCol="false" tIns="50800" lIns="50800" bIns="50800" rIns="50800"/>
            <a:lstStyle/>
            <a:p>
              <a:pPr algn="ctr">
                <a:lnSpc>
                  <a:spcPts val="2430"/>
                </a:lnSpc>
              </a:pPr>
              <a:r>
                <a:rPr lang="en-US" sz="2025" b="true">
                  <a:solidFill>
                    <a:srgbClr val="E8ECF1"/>
                  </a:solidFill>
                  <a:latin typeface="Calibri (MS) Bold"/>
                  <a:ea typeface="Calibri (MS) Bold"/>
                  <a:cs typeface="Calibri (MS) Bold"/>
                  <a:sym typeface="Calibri (MS) Bold"/>
                </a:rPr>
                <a:t>Real-time analytics</a:t>
              </a:r>
            </a:p>
          </p:txBody>
        </p:sp>
      </p:grpSp>
      <p:grpSp>
        <p:nvGrpSpPr>
          <p:cNvPr name="Group 63" id="63"/>
          <p:cNvGrpSpPr/>
          <p:nvPr/>
        </p:nvGrpSpPr>
        <p:grpSpPr>
          <a:xfrm rot="0">
            <a:off x="10904220" y="6858000"/>
            <a:ext cx="6240780" cy="685800"/>
            <a:chOff x="0" y="0"/>
            <a:chExt cx="8321040" cy="914400"/>
          </a:xfrm>
        </p:grpSpPr>
        <p:sp>
          <p:nvSpPr>
            <p:cNvPr name="Freeform 64" id="64"/>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3">
                <a:alphaModFix amt="0"/>
              </a:blip>
              <a:stretch>
                <a:fillRect l="0" t="-127313" r="0" b="-127313"/>
              </a:stretch>
            </a:blipFill>
          </p:spPr>
        </p:sp>
        <p:sp>
          <p:nvSpPr>
            <p:cNvPr name="TextBox 65" id="65"/>
            <p:cNvSpPr txBox="true"/>
            <p:nvPr/>
          </p:nvSpPr>
          <p:spPr>
            <a:xfrm>
              <a:off x="0" y="-38100"/>
              <a:ext cx="8321040" cy="952500"/>
            </a:xfrm>
            <a:prstGeom prst="rect">
              <a:avLst/>
            </a:prstGeom>
          </p:spPr>
          <p:txBody>
            <a:bodyPr anchor="ctr" rtlCol="false" tIns="0" lIns="0" bIns="0" rIns="0"/>
            <a:lstStyle/>
            <a:p>
              <a:pPr algn="l">
                <a:lnSpc>
                  <a:spcPts val="2250"/>
                </a:lnSpc>
              </a:pPr>
              <a:r>
                <a:rPr lang="en-US" sz="1875" i="true">
                  <a:solidFill>
                    <a:srgbClr val="9AA4B2"/>
                  </a:solidFill>
                  <a:latin typeface="Calibri (MS) Italics"/>
                  <a:ea typeface="Calibri (MS) Italics"/>
                  <a:cs typeface="Calibri (MS) Italics"/>
                  <a:sym typeface="Calibri (MS) Italics"/>
                </a:rPr>
                <a:t>Depth over breadth: five algorithms, each properly understood.</a:t>
              </a:r>
            </a:p>
          </p:txBody>
        </p:sp>
      </p:grpSp>
      <p:grpSp>
        <p:nvGrpSpPr>
          <p:cNvPr name="Group 66" id="66"/>
          <p:cNvGrpSpPr/>
          <p:nvPr/>
        </p:nvGrpSpPr>
        <p:grpSpPr>
          <a:xfrm rot="0">
            <a:off x="815816" y="8016716"/>
            <a:ext cx="16651796" cy="1317308"/>
            <a:chOff x="0" y="0"/>
            <a:chExt cx="22202394" cy="1756410"/>
          </a:xfrm>
        </p:grpSpPr>
        <p:sp>
          <p:nvSpPr>
            <p:cNvPr name="Freeform 67" id="67"/>
            <p:cNvSpPr/>
            <p:nvPr/>
          </p:nvSpPr>
          <p:spPr>
            <a:xfrm flipH="false" flipV="false" rot="0">
              <a:off x="0" y="0"/>
              <a:ext cx="22202394" cy="1756410"/>
            </a:xfrm>
            <a:custGeom>
              <a:avLst/>
              <a:gdLst/>
              <a:ahLst/>
              <a:cxnLst/>
              <a:rect r="r" b="b" t="t" l="l"/>
              <a:pathLst>
                <a:path h="1756410" w="22202394">
                  <a:moveTo>
                    <a:pt x="0" y="147955"/>
                  </a:moveTo>
                  <a:cubicBezTo>
                    <a:pt x="0" y="66167"/>
                    <a:pt x="66167" y="0"/>
                    <a:pt x="147955" y="0"/>
                  </a:cubicBezTo>
                  <a:lnTo>
                    <a:pt x="22054438" y="0"/>
                  </a:lnTo>
                  <a:cubicBezTo>
                    <a:pt x="22136100" y="0"/>
                    <a:pt x="22202394" y="66167"/>
                    <a:pt x="22202394" y="147955"/>
                  </a:cubicBezTo>
                  <a:lnTo>
                    <a:pt x="22202394" y="1608455"/>
                  </a:lnTo>
                  <a:cubicBezTo>
                    <a:pt x="22202394" y="1690116"/>
                    <a:pt x="22136227" y="1756410"/>
                    <a:pt x="22054438" y="1756410"/>
                  </a:cubicBezTo>
                  <a:lnTo>
                    <a:pt x="147955" y="1756410"/>
                  </a:lnTo>
                  <a:cubicBezTo>
                    <a:pt x="66167" y="1756410"/>
                    <a:pt x="0" y="1690243"/>
                    <a:pt x="0" y="1608455"/>
                  </a:cubicBezTo>
                  <a:close/>
                </a:path>
              </a:pathLst>
            </a:custGeom>
            <a:solidFill>
              <a:srgbClr val="1D242E"/>
            </a:solidFill>
            <a:ln w="14288" cap="sq">
              <a:solidFill>
                <a:srgbClr val="22D3EE"/>
              </a:solidFill>
              <a:prstDash val="solid"/>
              <a:miter/>
            </a:ln>
          </p:spPr>
        </p:sp>
      </p:grpSp>
      <p:grpSp>
        <p:nvGrpSpPr>
          <p:cNvPr name="Group 68" id="68"/>
          <p:cNvGrpSpPr/>
          <p:nvPr/>
        </p:nvGrpSpPr>
        <p:grpSpPr>
          <a:xfrm rot="0">
            <a:off x="822960" y="8023860"/>
            <a:ext cx="16637508" cy="1303020"/>
            <a:chOff x="0" y="0"/>
            <a:chExt cx="22183344" cy="1737360"/>
          </a:xfrm>
        </p:grpSpPr>
        <p:sp>
          <p:nvSpPr>
            <p:cNvPr name="Freeform 69" id="69"/>
            <p:cNvSpPr/>
            <p:nvPr/>
          </p:nvSpPr>
          <p:spPr>
            <a:xfrm flipH="false" flipV="false" rot="0">
              <a:off x="0" y="0"/>
              <a:ext cx="22183344" cy="1737360"/>
            </a:xfrm>
            <a:custGeom>
              <a:avLst/>
              <a:gdLst/>
              <a:ahLst/>
              <a:cxnLst/>
              <a:rect r="r" b="b" t="t" l="l"/>
              <a:pathLst>
                <a:path h="1737360" w="22183344">
                  <a:moveTo>
                    <a:pt x="0" y="0"/>
                  </a:moveTo>
                  <a:lnTo>
                    <a:pt x="22183344" y="0"/>
                  </a:lnTo>
                  <a:lnTo>
                    <a:pt x="22183344" y="1737360"/>
                  </a:lnTo>
                  <a:lnTo>
                    <a:pt x="0" y="1737360"/>
                  </a:lnTo>
                  <a:close/>
                </a:path>
              </a:pathLst>
            </a:custGeom>
            <a:blipFill>
              <a:blip r:embed="rId3">
                <a:alphaModFix amt="0"/>
              </a:blip>
              <a:stretch>
                <a:fillRect l="0" t="-198793" r="0" b="-198793"/>
              </a:stretch>
            </a:blipFill>
          </p:spPr>
        </p:sp>
        <p:sp>
          <p:nvSpPr>
            <p:cNvPr name="TextBox 70" id="70"/>
            <p:cNvSpPr txBox="true"/>
            <p:nvPr/>
          </p:nvSpPr>
          <p:spPr>
            <a:xfrm>
              <a:off x="0" y="-19050"/>
              <a:ext cx="22183344" cy="1756410"/>
            </a:xfrm>
            <a:prstGeom prst="rect">
              <a:avLst/>
            </a:prstGeom>
          </p:spPr>
          <p:txBody>
            <a:bodyPr anchor="ctr" rtlCol="false" tIns="0" lIns="0" bIns="0" rIns="0"/>
            <a:lstStyle/>
            <a:p>
              <a:pPr algn="ctr">
                <a:lnSpc>
                  <a:spcPts val="5040"/>
                </a:lnSpc>
              </a:pPr>
              <a:r>
                <a:rPr lang="en-US" sz="4200" b="true">
                  <a:solidFill>
                    <a:srgbClr val="22D3EE"/>
                  </a:solidFill>
                  <a:latin typeface="Arial Bold"/>
                  <a:ea typeface="Arial Bold"/>
                  <a:cs typeface="Arial Bold"/>
                  <a:sym typeface="Arial Bold"/>
                </a:rPr>
                <a:t>Thank you.  Questions?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DAHWvCBOat4</dc:identifier>
  <dcterms:modified xsi:type="dcterms:W3CDTF">2011-08-01T06:04:30Z</dcterms:modified>
  <cp:revision>1</cp:revision>
  <dc:title>Football_Player_Analytics_Simplified_ML_Project.pptx</dc:title>
</cp:coreProperties>
</file>